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80" r:id="rId8"/>
    <p:sldId id="263" r:id="rId9"/>
    <p:sldId id="262" r:id="rId10"/>
    <p:sldId id="264" r:id="rId11"/>
    <p:sldId id="270" r:id="rId12"/>
    <p:sldId id="278" r:id="rId13"/>
    <p:sldId id="271" r:id="rId14"/>
    <p:sldId id="279" r:id="rId15"/>
    <p:sldId id="265" r:id="rId16"/>
    <p:sldId id="266" r:id="rId17"/>
    <p:sldId id="273" r:id="rId18"/>
    <p:sldId id="274" r:id="rId19"/>
    <p:sldId id="275" r:id="rId20"/>
    <p:sldId id="276" r:id="rId21"/>
    <p:sldId id="277" r:id="rId22"/>
    <p:sldId id="267" r:id="rId23"/>
    <p:sldId id="268" r:id="rId24"/>
    <p:sldId id="281" r:id="rId25"/>
    <p:sldId id="269" r:id="rId2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i7nK151YdIZSeRnm+3JZk4hwiQ0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BC6C1E-BED5-463D-9D9D-55BB47110D15}">
  <a:tblStyle styleId="{F9BC6C1E-BED5-463D-9D9D-55BB47110D15}"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17792F72-9F60-45A1-A759-DC8DF3A647CD}"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4625" autoAdjust="0"/>
  </p:normalViewPr>
  <p:slideViewPr>
    <p:cSldViewPr snapToGrid="0">
      <p:cViewPr varScale="1">
        <p:scale>
          <a:sx n="78" d="100"/>
          <a:sy n="78" d="100"/>
        </p:scale>
        <p:origin x="1158"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Random Forest</c:v>
                </c:pt>
              </c:strCache>
            </c:strRef>
          </c:tx>
          <c:invertIfNegative val="1"/>
          <c:cat>
            <c:strRef>
              <c:f>Sheet1!$A$2:$A$6</c:f>
              <c:strCache>
                <c:ptCount val="5"/>
                <c:pt idx="0">
                  <c:v>Accuracy</c:v>
                </c:pt>
                <c:pt idx="1">
                  <c:v>Precision</c:v>
                </c:pt>
                <c:pt idx="2">
                  <c:v>Recall</c:v>
                </c:pt>
                <c:pt idx="3">
                  <c:v>F1</c:v>
                </c:pt>
                <c:pt idx="4">
                  <c:v>ROC-AUC</c:v>
                </c:pt>
              </c:strCache>
            </c:strRef>
          </c:cat>
          <c:val>
            <c:numRef>
              <c:f>Sheet1!$B$2:$B$6</c:f>
              <c:numCache>
                <c:formatCode>General</c:formatCode>
                <c:ptCount val="5"/>
                <c:pt idx="0">
                  <c:v>95.58</c:v>
                </c:pt>
                <c:pt idx="1">
                  <c:v>94.92</c:v>
                </c:pt>
                <c:pt idx="2">
                  <c:v>98.68</c:v>
                </c:pt>
                <c:pt idx="3">
                  <c:v>96.76</c:v>
                </c:pt>
                <c:pt idx="4">
                  <c:v>98.35</c:v>
                </c:pt>
              </c:numCache>
            </c:numRef>
          </c:val>
          <c:extLst>
            <c:ext xmlns:c16="http://schemas.microsoft.com/office/drawing/2014/chart" uri="{C3380CC4-5D6E-409C-BE32-E72D297353CC}">
              <c16:uniqueId val="{00000000-E6A4-456C-86E8-6F7CDDCB758E}"/>
            </c:ext>
          </c:extLst>
        </c:ser>
        <c:ser>
          <c:idx val="1"/>
          <c:order val="1"/>
          <c:tx>
            <c:strRef>
              <c:f>Sheet1!$C$1</c:f>
              <c:strCache>
                <c:ptCount val="1"/>
                <c:pt idx="0">
                  <c:v>Extra Trees</c:v>
                </c:pt>
              </c:strCache>
            </c:strRef>
          </c:tx>
          <c:invertIfNegative val="1"/>
          <c:cat>
            <c:strRef>
              <c:f>Sheet1!$A$2:$A$6</c:f>
              <c:strCache>
                <c:ptCount val="5"/>
                <c:pt idx="0">
                  <c:v>Accuracy</c:v>
                </c:pt>
                <c:pt idx="1">
                  <c:v>Precision</c:v>
                </c:pt>
                <c:pt idx="2">
                  <c:v>Recall</c:v>
                </c:pt>
                <c:pt idx="3">
                  <c:v>F1</c:v>
                </c:pt>
                <c:pt idx="4">
                  <c:v>ROC-AUC</c:v>
                </c:pt>
              </c:strCache>
            </c:strRef>
          </c:cat>
          <c:val>
            <c:numRef>
              <c:f>Sheet1!$C$2:$C$6</c:f>
              <c:numCache>
                <c:formatCode>General</c:formatCode>
                <c:ptCount val="5"/>
                <c:pt idx="0">
                  <c:v>93.81</c:v>
                </c:pt>
                <c:pt idx="1">
                  <c:v>93.28</c:v>
                </c:pt>
                <c:pt idx="2">
                  <c:v>97.8</c:v>
                </c:pt>
                <c:pt idx="3">
                  <c:v>95.48</c:v>
                </c:pt>
                <c:pt idx="4">
                  <c:v>97.36</c:v>
                </c:pt>
              </c:numCache>
            </c:numRef>
          </c:val>
          <c:extLst>
            <c:ext xmlns:c16="http://schemas.microsoft.com/office/drawing/2014/chart" uri="{C3380CC4-5D6E-409C-BE32-E72D297353CC}">
              <c16:uniqueId val="{00000001-E6A4-456C-86E8-6F7CDDCB758E}"/>
            </c:ext>
          </c:extLst>
        </c:ser>
        <c:ser>
          <c:idx val="2"/>
          <c:order val="2"/>
          <c:tx>
            <c:strRef>
              <c:f>Sheet1!$D$1</c:f>
              <c:strCache>
                <c:ptCount val="1"/>
                <c:pt idx="0">
                  <c:v>Gradient Boosting</c:v>
                </c:pt>
              </c:strCache>
            </c:strRef>
          </c:tx>
          <c:invertIfNegative val="1"/>
          <c:cat>
            <c:strRef>
              <c:f>Sheet1!$A$2:$A$6</c:f>
              <c:strCache>
                <c:ptCount val="5"/>
                <c:pt idx="0">
                  <c:v>Accuracy</c:v>
                </c:pt>
                <c:pt idx="1">
                  <c:v>Precision</c:v>
                </c:pt>
                <c:pt idx="2">
                  <c:v>Recall</c:v>
                </c:pt>
                <c:pt idx="3">
                  <c:v>F1</c:v>
                </c:pt>
                <c:pt idx="4">
                  <c:v>ROC-AUC</c:v>
                </c:pt>
              </c:strCache>
            </c:strRef>
          </c:cat>
          <c:val>
            <c:numRef>
              <c:f>Sheet1!$D$2:$D$6</c:f>
              <c:numCache>
                <c:formatCode>General</c:formatCode>
                <c:ptCount val="5"/>
                <c:pt idx="0">
                  <c:v>94.69</c:v>
                </c:pt>
                <c:pt idx="1">
                  <c:v>95.24</c:v>
                </c:pt>
                <c:pt idx="2">
                  <c:v>96.92</c:v>
                </c:pt>
                <c:pt idx="3">
                  <c:v>96.07</c:v>
                </c:pt>
                <c:pt idx="4">
                  <c:v>97.94</c:v>
                </c:pt>
              </c:numCache>
            </c:numRef>
          </c:val>
          <c:extLst>
            <c:ext xmlns:c16="http://schemas.microsoft.com/office/drawing/2014/chart" uri="{C3380CC4-5D6E-409C-BE32-E72D297353CC}">
              <c16:uniqueId val="{00000002-E6A4-456C-86E8-6F7CDDCB758E}"/>
            </c:ext>
          </c:extLst>
        </c:ser>
        <c:ser>
          <c:idx val="3"/>
          <c:order val="3"/>
          <c:tx>
            <c:strRef>
              <c:f>Sheet1!$E$1</c:f>
              <c:strCache>
                <c:ptCount val="1"/>
                <c:pt idx="0">
                  <c:v>Ensemble (RF+ET+GB)</c:v>
                </c:pt>
              </c:strCache>
            </c:strRef>
          </c:tx>
          <c:invertIfNegative val="1"/>
          <c:cat>
            <c:strRef>
              <c:f>Sheet1!$A$2:$A$6</c:f>
              <c:strCache>
                <c:ptCount val="5"/>
                <c:pt idx="0">
                  <c:v>Accuracy</c:v>
                </c:pt>
                <c:pt idx="1">
                  <c:v>Precision</c:v>
                </c:pt>
                <c:pt idx="2">
                  <c:v>Recall</c:v>
                </c:pt>
                <c:pt idx="3">
                  <c:v>F1</c:v>
                </c:pt>
                <c:pt idx="4">
                  <c:v>ROC-AUC</c:v>
                </c:pt>
              </c:strCache>
            </c:strRef>
          </c:cat>
          <c:val>
            <c:numRef>
              <c:f>Sheet1!$E$2:$E$6</c:f>
              <c:numCache>
                <c:formatCode>General</c:formatCode>
                <c:ptCount val="5"/>
                <c:pt idx="0">
                  <c:v>95.28</c:v>
                </c:pt>
                <c:pt idx="1">
                  <c:v>95.28</c:v>
                </c:pt>
                <c:pt idx="2">
                  <c:v>97.8</c:v>
                </c:pt>
                <c:pt idx="3">
                  <c:v>96.52</c:v>
                </c:pt>
                <c:pt idx="4">
                  <c:v>98.14</c:v>
                </c:pt>
              </c:numCache>
            </c:numRef>
          </c:val>
          <c:extLst>
            <c:ext xmlns:c16="http://schemas.microsoft.com/office/drawing/2014/chart" uri="{C3380CC4-5D6E-409C-BE32-E72D297353CC}">
              <c16:uniqueId val="{00000003-E6A4-456C-86E8-6F7CDDCB758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max val="100"/>
          <c:min val="90"/>
        </c:scaling>
        <c:delete val="0"/>
        <c:axPos val="l"/>
        <c:majorGridlines/>
        <c:numFmt formatCode="General" sourceLinked="1"/>
        <c:majorTickMark val="out"/>
        <c:minorTickMark val="none"/>
        <c:tickLblPos val="nextTo"/>
        <c:txPr>
          <a:bodyPr/>
          <a:lstStyle/>
          <a:p>
            <a:pPr>
              <a:defRPr sz="1000"/>
            </a:pPr>
            <a:endParaRPr lang="en-US"/>
          </a:p>
        </c:txPr>
        <c:crossAx val="-2068027336"/>
        <c:crosses val="autoZero"/>
        <c:crossBetween val="between"/>
      </c:valAx>
    </c:plotArea>
    <c:legend>
      <c:legendPos val="b"/>
      <c:overlay val="0"/>
    </c:legend>
    <c:plotVisOnly val="1"/>
    <c:dispBlanksAs val="gap"/>
    <c:showDLblsOverMax val="1"/>
  </c:chart>
  <c:txPr>
    <a:bodyPr/>
    <a:lstStyle/>
    <a:p>
      <a:pPr>
        <a:defRPr sz="12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Before: average of RF, ET, GB</c:v>
                </c:pt>
              </c:strCache>
            </c:strRef>
          </c:tx>
          <c:invertIfNegative val="1"/>
          <c:dLbls>
            <c:numFmt formatCode="0.0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Accuracy</c:v>
                </c:pt>
                <c:pt idx="1">
                  <c:v>Precision</c:v>
                </c:pt>
                <c:pt idx="2">
                  <c:v>Recall</c:v>
                </c:pt>
                <c:pt idx="3">
                  <c:v>F1</c:v>
                </c:pt>
                <c:pt idx="4">
                  <c:v>ROC-AUC</c:v>
                </c:pt>
              </c:strCache>
            </c:strRef>
          </c:cat>
          <c:val>
            <c:numRef>
              <c:f>Sheet1!$B$2:$B$6</c:f>
              <c:numCache>
                <c:formatCode>General</c:formatCode>
                <c:ptCount val="5"/>
                <c:pt idx="0">
                  <c:v>94.69</c:v>
                </c:pt>
                <c:pt idx="1">
                  <c:v>94.48</c:v>
                </c:pt>
                <c:pt idx="2">
                  <c:v>97.8</c:v>
                </c:pt>
                <c:pt idx="3">
                  <c:v>96.1</c:v>
                </c:pt>
                <c:pt idx="4">
                  <c:v>97.88</c:v>
                </c:pt>
              </c:numCache>
            </c:numRef>
          </c:val>
          <c:extLst>
            <c:ext xmlns:c16="http://schemas.microsoft.com/office/drawing/2014/chart" uri="{C3380CC4-5D6E-409C-BE32-E72D297353CC}">
              <c16:uniqueId val="{00000000-988C-4855-9B3A-38E92F881162}"/>
            </c:ext>
          </c:extLst>
        </c:ser>
        <c:ser>
          <c:idx val="1"/>
          <c:order val="1"/>
          <c:tx>
            <c:strRef>
              <c:f>Sheet1!$C$1</c:f>
              <c:strCache>
                <c:ptCount val="1"/>
                <c:pt idx="0">
                  <c:v>Now: proposed ensemble</c:v>
                </c:pt>
              </c:strCache>
            </c:strRef>
          </c:tx>
          <c:invertIfNegative val="1"/>
          <c:dLbls>
            <c:numFmt formatCode="0.00" sourceLinked="0"/>
            <c:spPr>
              <a:noFill/>
              <a:ln>
                <a:noFill/>
              </a:ln>
              <a:effectLst/>
            </c:spPr>
            <c:txPr>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Accuracy</c:v>
                </c:pt>
                <c:pt idx="1">
                  <c:v>Precision</c:v>
                </c:pt>
                <c:pt idx="2">
                  <c:v>Recall</c:v>
                </c:pt>
                <c:pt idx="3">
                  <c:v>F1</c:v>
                </c:pt>
                <c:pt idx="4">
                  <c:v>ROC-AUC</c:v>
                </c:pt>
              </c:strCache>
            </c:strRef>
          </c:cat>
          <c:val>
            <c:numRef>
              <c:f>Sheet1!$C$2:$C$6</c:f>
              <c:numCache>
                <c:formatCode>General</c:formatCode>
                <c:ptCount val="5"/>
                <c:pt idx="0">
                  <c:v>95.28</c:v>
                </c:pt>
                <c:pt idx="1">
                  <c:v>95.28</c:v>
                </c:pt>
                <c:pt idx="2">
                  <c:v>97.8</c:v>
                </c:pt>
                <c:pt idx="3">
                  <c:v>96.52</c:v>
                </c:pt>
                <c:pt idx="4">
                  <c:v>98.14</c:v>
                </c:pt>
              </c:numCache>
            </c:numRef>
          </c:val>
          <c:extLst>
            <c:ext xmlns:c16="http://schemas.microsoft.com/office/drawing/2014/chart" uri="{C3380CC4-5D6E-409C-BE32-E72D297353CC}">
              <c16:uniqueId val="{00000001-988C-4855-9B3A-38E92F881162}"/>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max val="100"/>
          <c:min val="92"/>
        </c:scaling>
        <c:delete val="0"/>
        <c:axPos val="l"/>
        <c:majorGridlines/>
        <c:numFmt formatCode="General" sourceLinked="1"/>
        <c:majorTickMark val="out"/>
        <c:minorTickMark val="none"/>
        <c:tickLblPos val="nextTo"/>
        <c:txPr>
          <a:bodyPr/>
          <a:lstStyle/>
          <a:p>
            <a:pPr>
              <a:defRPr sz="1000"/>
            </a:pPr>
            <a:endParaRPr lang="en-US"/>
          </a:p>
        </c:txPr>
        <c:crossAx val="-2068027336"/>
        <c:crosses val="autoZero"/>
        <c:crossBetween val="between"/>
      </c:valAx>
    </c:plotArea>
    <c:legend>
      <c:legendPos val="b"/>
      <c:overlay val="0"/>
    </c:legend>
    <c:plotVisOnly val="1"/>
    <c:dispBlanksAs val="gap"/>
    <c:showDLblsOverMax val="1"/>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2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6"/>
          <p:cNvSpPr>
            <a:spLocks noGrp="1"/>
          </p:cNvSpPr>
          <p:nvPr>
            <p:ph type="pic" idx="2"/>
          </p:nvPr>
        </p:nvSpPr>
        <p:spPr>
          <a:xfrm>
            <a:off x="1792288" y="612775"/>
            <a:ext cx="5486400" cy="4114800"/>
          </a:xfrm>
          <a:prstGeom prst="rect">
            <a:avLst/>
          </a:prstGeom>
          <a:noFill/>
          <a:ln>
            <a:noFill/>
          </a:ln>
        </p:spPr>
      </p:sp>
      <p:sp>
        <p:nvSpPr>
          <p:cNvPr id="68" name="Google Shape;68;p2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developers.google.com/machine-learning/crash-course" TargetMode="External"/><Relationship Id="rId3" Type="http://schemas.openxmlformats.org/officeDocument/2006/relationships/hyperlink" Target="https://scikit-learn.org/" TargetMode="External"/><Relationship Id="rId7" Type="http://schemas.openxmlformats.org/officeDocument/2006/relationships/hyperlink" Target="https://docs.python.org/3/"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www.rbi.org.in/" TargetMode="External"/><Relationship Id="rId5" Type="http://schemas.openxmlformats.org/officeDocument/2006/relationships/hyperlink" Target="https://www.ibm.com/topics/machine-learning" TargetMode="External"/><Relationship Id="rId4" Type="http://schemas.openxmlformats.org/officeDocument/2006/relationships/hyperlink" Target="https://www.kaggl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2047600" y="469900"/>
            <a:ext cx="6563100" cy="1330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1800"/>
              <a:buFont typeface="Times New Roman"/>
              <a:buNone/>
            </a:pPr>
            <a:r>
              <a:rPr lang="en-US" sz="1800" b="1">
                <a:latin typeface="Times New Roman"/>
                <a:ea typeface="Times New Roman"/>
                <a:cs typeface="Times New Roman"/>
                <a:sym typeface="Times New Roman"/>
              </a:rPr>
              <a:t>SRM INSTITUTE OF SCIENCE AND TECHNOLOGY</a:t>
            </a:r>
            <a:br>
              <a:rPr lang="en-US" sz="1800" b="1">
                <a:latin typeface="Times New Roman"/>
                <a:ea typeface="Times New Roman"/>
                <a:cs typeface="Times New Roman"/>
                <a:sym typeface="Times New Roman"/>
              </a:rPr>
            </a:br>
            <a:r>
              <a:rPr lang="en-US" sz="1800" b="1">
                <a:latin typeface="Times New Roman"/>
                <a:ea typeface="Times New Roman"/>
                <a:cs typeface="Times New Roman"/>
                <a:sym typeface="Times New Roman"/>
              </a:rPr>
              <a:t>Ramapuram , Chennai – 600 089</a:t>
            </a:r>
            <a:br>
              <a:rPr lang="en-US" sz="1800" b="1">
                <a:latin typeface="Times New Roman"/>
                <a:ea typeface="Times New Roman"/>
                <a:cs typeface="Times New Roman"/>
                <a:sym typeface="Times New Roman"/>
              </a:rPr>
            </a:br>
            <a:r>
              <a:rPr lang="en-US" sz="1600" b="1">
                <a:latin typeface="Times New Roman"/>
                <a:ea typeface="Times New Roman"/>
                <a:cs typeface="Times New Roman"/>
                <a:sym typeface="Times New Roman"/>
              </a:rPr>
              <a:t>DEPARTMENT OF COMPUTER SCIENCE AND ENGINEERING</a:t>
            </a:r>
            <a:endParaRPr sz="1800"/>
          </a:p>
        </p:txBody>
      </p:sp>
      <p:sp>
        <p:nvSpPr>
          <p:cNvPr id="89" name="Google Shape;89;p1"/>
          <p:cNvSpPr txBox="1">
            <a:spLocks noGrp="1"/>
          </p:cNvSpPr>
          <p:nvPr>
            <p:ph type="subTitle" idx="1"/>
          </p:nvPr>
        </p:nvSpPr>
        <p:spPr>
          <a:xfrm>
            <a:off x="533400" y="2017564"/>
            <a:ext cx="8077200" cy="12477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2400"/>
              <a:buNone/>
            </a:pPr>
            <a:r>
              <a:rPr lang="en-US" sz="2400" dirty="0">
                <a:solidFill>
                  <a:schemeClr val="dk1"/>
                </a:solidFill>
                <a:latin typeface="Times New Roman"/>
                <a:ea typeface="Times New Roman"/>
                <a:cs typeface="Times New Roman"/>
                <a:sym typeface="Times New Roman"/>
              </a:rPr>
              <a:t>21CSC305P/ MACHINE LEARNING</a:t>
            </a:r>
            <a:endParaRPr sz="2400" dirty="0">
              <a:solidFill>
                <a:schemeClr val="dk1"/>
              </a:solidFill>
              <a:latin typeface="Times New Roman"/>
              <a:ea typeface="Times New Roman"/>
              <a:cs typeface="Times New Roman"/>
              <a:sym typeface="Times New Roman"/>
            </a:endParaRPr>
          </a:p>
          <a:p>
            <a:pPr marL="0" lvl="0" indent="0" algn="ctr" rtl="0">
              <a:spcBef>
                <a:spcPts val="640"/>
              </a:spcBef>
              <a:spcAft>
                <a:spcPts val="0"/>
              </a:spcAft>
              <a:buClr>
                <a:schemeClr val="dk1"/>
              </a:buClr>
              <a:buSzPts val="3200"/>
              <a:buNone/>
            </a:pPr>
            <a:r>
              <a:rPr lang="en-US" dirty="0">
                <a:solidFill>
                  <a:schemeClr val="dk1"/>
                </a:solidFill>
                <a:latin typeface="Times New Roman"/>
                <a:ea typeface="Times New Roman"/>
                <a:cs typeface="Times New Roman"/>
                <a:sym typeface="Times New Roman"/>
              </a:rPr>
              <a:t>LO</a:t>
            </a:r>
            <a:r>
              <a:rPr lang="en-US" sz="2800" dirty="0">
                <a:solidFill>
                  <a:schemeClr val="dk1"/>
                </a:solidFill>
                <a:latin typeface="Times New Roman"/>
                <a:ea typeface="Times New Roman"/>
                <a:cs typeface="Times New Roman"/>
                <a:sym typeface="Times New Roman"/>
              </a:rPr>
              <a:t>AN PROCESSING AND RISK ASSESSMENT</a:t>
            </a:r>
            <a:endParaRPr sz="2800" dirty="0">
              <a:latin typeface="Times New Roman"/>
              <a:ea typeface="Times New Roman"/>
              <a:cs typeface="Times New Roman"/>
              <a:sym typeface="Times New Roman"/>
            </a:endParaRPr>
          </a:p>
          <a:p>
            <a:pPr marL="0" lvl="0" indent="0" algn="ctr" rtl="0">
              <a:spcBef>
                <a:spcPts val="640"/>
              </a:spcBef>
              <a:spcAft>
                <a:spcPts val="0"/>
              </a:spcAft>
              <a:buClr>
                <a:srgbClr val="888888"/>
              </a:buClr>
              <a:buSzPts val="3200"/>
              <a:buNone/>
            </a:pPr>
            <a:endParaRPr dirty="0">
              <a:solidFill>
                <a:schemeClr val="dk1"/>
              </a:solidFill>
            </a:endParaRPr>
          </a:p>
        </p:txBody>
      </p:sp>
      <p:sp>
        <p:nvSpPr>
          <p:cNvPr id="90" name="Google Shape;90;p1"/>
          <p:cNvSpPr txBox="1"/>
          <p:nvPr/>
        </p:nvSpPr>
        <p:spPr>
          <a:xfrm>
            <a:off x="1447800" y="2971876"/>
            <a:ext cx="6400800" cy="83820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chemeClr val="dk1"/>
              </a:buClr>
              <a:buSzPts val="3200"/>
              <a:buFont typeface="Arial"/>
              <a:buNone/>
            </a:pPr>
            <a:r>
              <a:rPr lang="en-US" sz="2800" i="0" u="none" strike="noStrike" cap="none" dirty="0">
                <a:solidFill>
                  <a:schemeClr val="dk1"/>
                </a:solidFill>
                <a:latin typeface="Times New Roman"/>
                <a:ea typeface="Times New Roman"/>
                <a:cs typeface="Times New Roman"/>
                <a:sym typeface="Times New Roman"/>
              </a:rPr>
              <a:t>BATCH NUMBER :2</a:t>
            </a:r>
            <a:endParaRPr sz="1200" dirty="0">
              <a:latin typeface="Times New Roman"/>
              <a:ea typeface="Times New Roman"/>
              <a:cs typeface="Times New Roman"/>
              <a:sym typeface="Times New Roman"/>
            </a:endParaRPr>
          </a:p>
        </p:txBody>
      </p:sp>
      <p:graphicFrame>
        <p:nvGraphicFramePr>
          <p:cNvPr id="91" name="Google Shape;91;p1"/>
          <p:cNvGraphicFramePr/>
          <p:nvPr>
            <p:extLst>
              <p:ext uri="{D42A27DB-BD31-4B8C-83A1-F6EECF244321}">
                <p14:modId xmlns:p14="http://schemas.microsoft.com/office/powerpoint/2010/main" val="2215143415"/>
              </p:ext>
            </p:extLst>
          </p:nvPr>
        </p:nvGraphicFramePr>
        <p:xfrm>
          <a:off x="381000" y="4041726"/>
          <a:ext cx="8305800" cy="2133600"/>
        </p:xfrm>
        <a:graphic>
          <a:graphicData uri="http://schemas.openxmlformats.org/drawingml/2006/table">
            <a:tbl>
              <a:tblPr firstRow="1" bandRow="1">
                <a:noFill/>
                <a:tableStyleId>{F9BC6C1E-BED5-463D-9D9D-55BB47110D15}</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383750">
                <a:tc>
                  <a:txBody>
                    <a:bodyPr/>
                    <a:lstStyle/>
                    <a:p>
                      <a:pPr marL="0" marR="0" lvl="0" indent="0" algn="l" rtl="0">
                        <a:spcBef>
                          <a:spcPts val="0"/>
                        </a:spcBef>
                        <a:spcAft>
                          <a:spcPts val="0"/>
                        </a:spcAft>
                        <a:buNone/>
                      </a:pPr>
                      <a:r>
                        <a:rPr lang="en-US" sz="1800" u="none" strike="noStrike" cap="none" dirty="0"/>
                        <a:t>Team Members </a:t>
                      </a:r>
                      <a:endParaRPr dirty="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dirty="0"/>
                        <a:t>Supervisor</a:t>
                      </a:r>
                      <a:endParaRPr dirty="0"/>
                    </a:p>
                  </a:txBody>
                  <a:tcPr marL="91450" marR="91450" marT="45725" marB="45725"/>
                </a:tc>
                <a:extLst>
                  <a:ext uri="{0D108BD9-81ED-4DB2-BD59-A6C34878D82A}">
                    <a16:rowId xmlns:a16="http://schemas.microsoft.com/office/drawing/2014/main" val="10000"/>
                  </a:ext>
                </a:extLst>
              </a:tr>
              <a:tr h="1749850">
                <a:tc>
                  <a:txBody>
                    <a:bodyPr/>
                    <a:lstStyle/>
                    <a:p>
                      <a:pPr marL="0" marR="0" lvl="0" indent="0" algn="just" rtl="0">
                        <a:spcBef>
                          <a:spcPts val="0"/>
                        </a:spcBef>
                        <a:spcAft>
                          <a:spcPts val="0"/>
                        </a:spcAft>
                        <a:buNone/>
                      </a:pPr>
                      <a:r>
                        <a:rPr lang="en-IN" sz="1800" dirty="0" err="1"/>
                        <a:t>Mutheeshwari</a:t>
                      </a:r>
                      <a:r>
                        <a:rPr lang="en-IN" sz="1800" dirty="0"/>
                        <a:t> J(RA2411003020194) </a:t>
                      </a:r>
                    </a:p>
                    <a:p>
                      <a:pPr marL="0" marR="0" lvl="0" indent="0" algn="just" rtl="0">
                        <a:spcBef>
                          <a:spcPts val="0"/>
                        </a:spcBef>
                        <a:spcAft>
                          <a:spcPts val="0"/>
                        </a:spcAft>
                        <a:buNone/>
                      </a:pPr>
                      <a:endParaRPr lang="en-IN" sz="1800" dirty="0"/>
                    </a:p>
                    <a:p>
                      <a:pPr marL="0" marR="0" lvl="0" indent="0" algn="just" rtl="0">
                        <a:spcBef>
                          <a:spcPts val="0"/>
                        </a:spcBef>
                        <a:spcAft>
                          <a:spcPts val="0"/>
                        </a:spcAft>
                        <a:buNone/>
                      </a:pPr>
                      <a:r>
                        <a:rPr lang="en-IN" sz="1800" dirty="0"/>
                        <a:t>Nikitha S(RA2411003020202)</a:t>
                      </a:r>
                    </a:p>
                    <a:p>
                      <a:pPr marL="0" marR="0" lvl="0" indent="0" algn="just" rtl="0">
                        <a:spcBef>
                          <a:spcPts val="0"/>
                        </a:spcBef>
                        <a:spcAft>
                          <a:spcPts val="0"/>
                        </a:spcAft>
                        <a:buNone/>
                      </a:pPr>
                      <a:r>
                        <a:rPr lang="en-IN" sz="1800" dirty="0"/>
                        <a:t> </a:t>
                      </a:r>
                    </a:p>
                    <a:p>
                      <a:pPr marL="0" marR="0" lvl="0" indent="0" algn="just" rtl="0">
                        <a:spcBef>
                          <a:spcPts val="0"/>
                        </a:spcBef>
                        <a:spcAft>
                          <a:spcPts val="0"/>
                        </a:spcAft>
                        <a:buNone/>
                      </a:pPr>
                      <a:r>
                        <a:rPr lang="en-IN" sz="1800" dirty="0"/>
                        <a:t>Sandra PV(RA2411003020223)</a:t>
                      </a: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dirty="0"/>
                        <a:t>NAME: Dr R Sujeetha</a:t>
                      </a:r>
                      <a:br>
                        <a:rPr lang="en-US" sz="1800" dirty="0"/>
                      </a:br>
                      <a:br>
                        <a:rPr lang="en-US" sz="1800" dirty="0"/>
                      </a:br>
                      <a:r>
                        <a:rPr lang="en-US" sz="1800" dirty="0"/>
                        <a:t>AP/CSE</a:t>
                      </a:r>
                      <a:endParaRPr dirty="0"/>
                    </a:p>
                  </a:txBody>
                  <a:tcPr marL="91450" marR="91450" marT="45725" marB="45725"/>
                </a:tc>
                <a:extLst>
                  <a:ext uri="{0D108BD9-81ED-4DB2-BD59-A6C34878D82A}">
                    <a16:rowId xmlns:a16="http://schemas.microsoft.com/office/drawing/2014/main" val="10001"/>
                  </a:ext>
                </a:extLst>
              </a:tr>
            </a:tbl>
          </a:graphicData>
        </a:graphic>
      </p:graphicFrame>
      <p:sp>
        <p:nvSpPr>
          <p:cNvPr id="92" name="Google Shape;92;p1"/>
          <p:cNvSpPr txBox="1">
            <a:spLocks noGrp="1"/>
          </p:cNvSpPr>
          <p:nvPr>
            <p:ph type="ftr" idx="11"/>
          </p:nvPr>
        </p:nvSpPr>
        <p:spPr>
          <a:xfrm>
            <a:off x="533400" y="6356351"/>
            <a:ext cx="8077200" cy="27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Date							Slide Number</a:t>
            </a:r>
            <a:endParaRPr/>
          </a:p>
          <a:p>
            <a:pPr marL="0" lvl="0" indent="0" algn="ctr" rtl="0">
              <a:spcBef>
                <a:spcPts val="0"/>
              </a:spcBef>
              <a:spcAft>
                <a:spcPts val="0"/>
              </a:spcAft>
              <a:buNone/>
            </a:pPr>
            <a:endParaRPr/>
          </a:p>
        </p:txBody>
      </p:sp>
      <p:pic>
        <p:nvPicPr>
          <p:cNvPr id="93" name="Google Shape;93;p1"/>
          <p:cNvPicPr preferRelativeResize="0"/>
          <p:nvPr/>
        </p:nvPicPr>
        <p:blipFill>
          <a:blip r:embed="rId3">
            <a:alphaModFix/>
          </a:blip>
          <a:stretch>
            <a:fillRect/>
          </a:stretch>
        </p:blipFill>
        <p:spPr>
          <a:xfrm>
            <a:off x="304800" y="177250"/>
            <a:ext cx="1742800" cy="1622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en-US"/>
              <a:t>Agenda</a:t>
            </a:r>
            <a:endParaRPr/>
          </a:p>
        </p:txBody>
      </p:sp>
      <p:sp>
        <p:nvSpPr>
          <p:cNvPr id="99" name="Google Shape;99;p2"/>
          <p:cNvSpPr txBox="1">
            <a:spLocks noGrp="1"/>
          </p:cNvSpPr>
          <p:nvPr>
            <p:ph type="body" idx="1"/>
          </p:nvPr>
        </p:nvSpPr>
        <p:spPr>
          <a:xfrm>
            <a:off x="457200" y="1524000"/>
            <a:ext cx="8229600" cy="4602163"/>
          </a:xfrm>
          <a:prstGeom prst="rect">
            <a:avLst/>
          </a:prstGeom>
          <a:noFill/>
          <a:ln>
            <a:noFill/>
          </a:ln>
        </p:spPr>
        <p:txBody>
          <a:bodyPr spcFirstLastPara="1" wrap="square" lIns="91425" tIns="45700" rIns="91425" bIns="45700" anchor="t" anchorCtr="0">
            <a:normAutofit/>
          </a:bodyPr>
          <a:lstStyle/>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Abstract</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Scope and Motivation</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Introduction</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Literature Survey</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Problem Statement</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Objective</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Proposed Work</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Architecture Diagram</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Dataset and Feature Engineering</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Modules</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Algorithm</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Implementation and Demo</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Results and Discussion – Comparison with Existing Work</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Conclusion</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Future Work</a:t>
            </a:r>
            <a:endParaRPr sz="1800" dirty="0">
              <a:latin typeface="Calibri" panose="020F0502020204030204" pitchFamily="34" charset="0"/>
              <a:ea typeface="Calibri" panose="020F0502020204030204" pitchFamily="34" charset="0"/>
              <a:cs typeface="Calibri" panose="020F0502020204030204" pitchFamily="34" charset="0"/>
            </a:endParaRPr>
          </a:p>
          <a:p>
            <a:pPr marL="342900" lvl="0" indent="-355282" algn="l" rtl="0">
              <a:spcBef>
                <a:spcPts val="0"/>
              </a:spcBef>
              <a:spcAft>
                <a:spcPts val="0"/>
              </a:spcAft>
              <a:buClr>
                <a:srgbClr val="000000"/>
              </a:buClr>
              <a:buSzPct val="100000"/>
              <a:buFont typeface="Arial"/>
              <a:buChar char="•"/>
            </a:pPr>
            <a:r>
              <a:rPr lang="en-US" sz="18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Times New Roman"/>
              </a:rPr>
              <a:t>References</a:t>
            </a:r>
            <a:endParaRPr sz="1800" dirty="0">
              <a:latin typeface="Calibri" panose="020F0502020204030204" pitchFamily="34" charset="0"/>
              <a:ea typeface="Calibri" panose="020F0502020204030204" pitchFamily="34" charset="0"/>
              <a:cs typeface="Calibri" panose="020F0502020204030204" pitchFamily="34" charset="0"/>
            </a:endParaRPr>
          </a:p>
        </p:txBody>
      </p:sp>
      <p:sp>
        <p:nvSpPr>
          <p:cNvPr id="100" name="Google Shape;100;p2"/>
          <p:cNvSpPr txBox="1">
            <a:spLocks noGrp="1"/>
          </p:cNvSpPr>
          <p:nvPr>
            <p:ph type="ftr" idx="11"/>
          </p:nvPr>
        </p:nvSpPr>
        <p:spPr>
          <a:xfrm>
            <a:off x="457200" y="6356350"/>
            <a:ext cx="8229600" cy="42545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ABSTRACT</a:t>
            </a:r>
            <a:endParaRPr/>
          </a:p>
        </p:txBody>
      </p:sp>
      <p:sp>
        <p:nvSpPr>
          <p:cNvPr id="107" name="Google Shape;107;p3"/>
          <p:cNvSpPr txBox="1">
            <a:spLocks noGrp="1"/>
          </p:cNvSpPr>
          <p:nvPr>
            <p:ph type="ftr" idx="11"/>
          </p:nvPr>
        </p:nvSpPr>
        <p:spPr>
          <a:xfrm>
            <a:off x="457200" y="6356351"/>
            <a:ext cx="8229600" cy="34924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a:p>
            <a:pPr marL="0" lvl="0" indent="0" algn="ctr" rtl="0">
              <a:spcBef>
                <a:spcPts val="0"/>
              </a:spcBef>
              <a:spcAft>
                <a:spcPts val="0"/>
              </a:spcAft>
              <a:buNone/>
            </a:pPr>
            <a:endParaRPr/>
          </a:p>
        </p:txBody>
      </p:sp>
      <p:sp>
        <p:nvSpPr>
          <p:cNvPr id="2" name="TextBox 1">
            <a:extLst>
              <a:ext uri="{FF2B5EF4-FFF2-40B4-BE49-F238E27FC236}">
                <a16:creationId xmlns:a16="http://schemas.microsoft.com/office/drawing/2014/main" id="{A4686BDE-DC5F-C7D2-FA00-3186EBD73B9D}"/>
              </a:ext>
            </a:extLst>
          </p:cNvPr>
          <p:cNvSpPr txBox="1"/>
          <p:nvPr/>
        </p:nvSpPr>
        <p:spPr>
          <a:xfrm>
            <a:off x="638629" y="1392113"/>
            <a:ext cx="7823200" cy="4618059"/>
          </a:xfrm>
          <a:prstGeom prst="rect">
            <a:avLst/>
          </a:prstGeom>
          <a:noFill/>
        </p:spPr>
        <p:txBody>
          <a:bodyPr wrap="square" rtlCol="0">
            <a:spAutoFit/>
          </a:bodyPr>
          <a:lstStyle/>
          <a:p>
            <a:pPr algn="just">
              <a:lnSpc>
                <a:spcPct val="150000"/>
              </a:lnSpc>
            </a:pPr>
            <a:r>
              <a:rPr lang="en-IN" sz="1800" dirty="0"/>
              <a:t>Loan approval is a risk-sensitive decision that is slow and inconsistent when done manually. This project builds an automated Loan Approval and Risk Assessment system using machine learning. A synthetic dataset of 5,000 applications with 11 input features is used to benchmark Logistic Regression and Random Forest, and the Random Forest (500 trees) is deployed as the production model. It achieves 95.50% accuracy, 96.16% recall and 98.32% ROC-AUC on 1,000 held-out records, and credit history and applicant income are the strongest predictors. The model is combined with a 45% FOIR underwriting rule and served through a </a:t>
            </a:r>
            <a:r>
              <a:rPr lang="en-IN" sz="1800" dirty="0" err="1"/>
              <a:t>FastAPI</a:t>
            </a:r>
            <a:r>
              <a:rPr lang="en-IN" sz="1800" dirty="0"/>
              <a:t> backend and a web portal (“</a:t>
            </a:r>
            <a:r>
              <a:rPr lang="en-IN" sz="1800" dirty="0" err="1"/>
              <a:t>lendr</a:t>
            </a:r>
            <a:r>
              <a:rPr lang="en-IN" sz="1800" dirty="0"/>
              <a:t>”) that returns an instant approval decision, risk score and explanation.</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457200" y="92076"/>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Scope and Motivation</a:t>
            </a:r>
            <a:endParaRPr dirty="0"/>
          </a:p>
        </p:txBody>
      </p:sp>
      <p:sp>
        <p:nvSpPr>
          <p:cNvPr id="114" name="Google Shape;114;p4"/>
          <p:cNvSpPr txBox="1">
            <a:spLocks noGrp="1"/>
          </p:cNvSpPr>
          <p:nvPr>
            <p:ph type="ftr" idx="11"/>
          </p:nvPr>
        </p:nvSpPr>
        <p:spPr>
          <a:xfrm>
            <a:off x="2536371" y="6400799"/>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
        <p:nvSpPr>
          <p:cNvPr id="3" name="TextBox 2">
            <a:extLst>
              <a:ext uri="{FF2B5EF4-FFF2-40B4-BE49-F238E27FC236}">
                <a16:creationId xmlns:a16="http://schemas.microsoft.com/office/drawing/2014/main" id="{B6DEDC4F-284B-7442-7C8C-D8120A0BF4F5}"/>
              </a:ext>
            </a:extLst>
          </p:cNvPr>
          <p:cNvSpPr txBox="1"/>
          <p:nvPr/>
        </p:nvSpPr>
        <p:spPr>
          <a:xfrm>
            <a:off x="863600" y="846138"/>
            <a:ext cx="7143578" cy="5224764"/>
          </a:xfrm>
          <a:prstGeom prst="rect">
            <a:avLst/>
          </a:prstGeom>
          <a:noFill/>
        </p:spPr>
        <p:txBody>
          <a:bodyPr wrap="square" rtlCol="0">
            <a:spAutoFit/>
          </a:bodyPr>
          <a:lstStyle/>
          <a:p>
            <a:pPr marL="285750" lvl="0" indent="-285750">
              <a:lnSpc>
                <a:spcPct val="150000"/>
              </a:lnSpc>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Banks receive a large number of loan applications. Manual review is slow, inconsistent and costly.</a:t>
            </a:r>
          </a:p>
          <a:p>
            <a:pPr marL="285750" lvl="0" indent="-285750">
              <a:lnSpc>
                <a:spcPct val="150000"/>
              </a:lnSpc>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A wrongly approved loan increases non-performing assets (NPAs).</a:t>
            </a:r>
          </a:p>
          <a:p>
            <a:pPr marL="285750" lvl="0" indent="-285750">
              <a:lnSpc>
                <a:spcPct val="150000"/>
              </a:lnSpc>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A wrongly rejected loan loses a good customer.</a:t>
            </a:r>
          </a:p>
          <a:p>
            <a:pPr marL="285750" lvl="0" indent="-285750">
              <a:lnSpc>
                <a:spcPct val="150000"/>
              </a:lnSpc>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The project predicts eligibility automatically from applicant details.</a:t>
            </a:r>
          </a:p>
          <a:p>
            <a:pPr marL="285750" lvl="0" indent="-285750">
              <a:lnSpc>
                <a:spcPct val="150000"/>
              </a:lnSpc>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It assesses risk with a FOIR-based underwriting check.</a:t>
            </a:r>
          </a:p>
          <a:p>
            <a:pPr marL="285750" lvl="0" indent="-285750">
              <a:lnSpc>
                <a:spcPct val="150000"/>
              </a:lnSpc>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It provides a web portal where applicants assess loans and track their applications.</a:t>
            </a:r>
          </a:p>
          <a:p>
            <a:pPr>
              <a:lnSpc>
                <a:spcPct val="150000"/>
              </a:lnSpc>
            </a:pPr>
            <a:r>
              <a:rPr lang="en-IN" sz="1600" b="1" dirty="0">
                <a:latin typeface="Calibri" panose="020F0502020204030204" pitchFamily="34" charset="0"/>
                <a:ea typeface="Calibri" panose="020F0502020204030204" pitchFamily="34" charset="0"/>
                <a:cs typeface="Calibri" panose="020F0502020204030204" pitchFamily="34" charset="0"/>
              </a:rPr>
              <a:t>Limits</a:t>
            </a:r>
            <a:endParaRPr lang="en-IN" sz="1600" dirty="0">
              <a:latin typeface="Calibri" panose="020F0502020204030204" pitchFamily="34" charset="0"/>
              <a:ea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The system supports decisions and does not replace them.</a:t>
            </a:r>
          </a:p>
          <a:p>
            <a:pPr marL="285750" lvl="0" indent="-285750">
              <a:lnSpc>
                <a:spcPct val="150000"/>
              </a:lnSpc>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Final approval still depends on document verification and the institution’s lending policy.</a:t>
            </a:r>
          </a:p>
          <a:p>
            <a:pPr marL="285750" lvl="0" indent="-285750">
              <a:lnSpc>
                <a:spcPct val="150000"/>
              </a:lnSpc>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The model is trained on a synthetic dataset.</a:t>
            </a:r>
          </a:p>
          <a:p>
            <a:pPr marL="285750" lvl="0" indent="-285750">
              <a:lnSpc>
                <a:spcPct val="150000"/>
              </a:lnSpc>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Results should be validated on real data before any real-world use.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Introduction</a:t>
            </a:r>
            <a:endParaRPr/>
          </a:p>
        </p:txBody>
      </p:sp>
      <p:sp>
        <p:nvSpPr>
          <p:cNvPr id="121" name="Google Shape;121;p5"/>
          <p:cNvSpPr txBox="1">
            <a:spLocks noGrp="1"/>
          </p:cNvSpPr>
          <p:nvPr>
            <p:ph type="ftr" idx="11"/>
          </p:nvPr>
        </p:nvSpPr>
        <p:spPr>
          <a:xfrm>
            <a:off x="2556328" y="6342699"/>
            <a:ext cx="403134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AND ENGINEERING</a:t>
            </a:r>
            <a:endParaRPr dirty="0"/>
          </a:p>
        </p:txBody>
      </p:sp>
      <p:pic>
        <p:nvPicPr>
          <p:cNvPr id="9" name="Picture 8">
            <a:extLst>
              <a:ext uri="{FF2B5EF4-FFF2-40B4-BE49-F238E27FC236}">
                <a16:creationId xmlns:a16="http://schemas.microsoft.com/office/drawing/2014/main" id="{4D6C9EE8-891C-E1E7-917E-E37DB181EF1F}"/>
              </a:ext>
            </a:extLst>
          </p:cNvPr>
          <p:cNvPicPr>
            <a:picLocks noChangeAspect="1"/>
          </p:cNvPicPr>
          <p:nvPr/>
        </p:nvPicPr>
        <p:blipFill>
          <a:blip r:embed="rId3"/>
          <a:stretch>
            <a:fillRect/>
          </a:stretch>
        </p:blipFill>
        <p:spPr>
          <a:xfrm>
            <a:off x="885825" y="2088293"/>
            <a:ext cx="7372350" cy="1497870"/>
          </a:xfrm>
          <a:prstGeom prst="rect">
            <a:avLst/>
          </a:prstGeom>
        </p:spPr>
      </p:pic>
      <p:sp>
        <p:nvSpPr>
          <p:cNvPr id="11" name="TextBox 10">
            <a:extLst>
              <a:ext uri="{FF2B5EF4-FFF2-40B4-BE49-F238E27FC236}">
                <a16:creationId xmlns:a16="http://schemas.microsoft.com/office/drawing/2014/main" id="{B56E62AF-D6AD-1205-7607-B15002E777D9}"/>
              </a:ext>
            </a:extLst>
          </p:cNvPr>
          <p:cNvSpPr txBox="1"/>
          <p:nvPr/>
        </p:nvSpPr>
        <p:spPr>
          <a:xfrm>
            <a:off x="682171" y="1417638"/>
            <a:ext cx="7707085" cy="3787062"/>
          </a:xfrm>
          <a:prstGeom prst="rect">
            <a:avLst/>
          </a:prstGeom>
          <a:noFill/>
        </p:spPr>
        <p:txBody>
          <a:bodyPr wrap="square">
            <a:spAutoFit/>
          </a:bodyPr>
          <a:lstStyle/>
          <a:p>
            <a:pPr indent="-137160" algn="just">
              <a:lnSpc>
                <a:spcPct val="150000"/>
              </a:lnSpc>
            </a:pPr>
            <a:r>
              <a:rPr lang="en-IN" sz="1800" dirty="0"/>
              <a:t>Lending is the main revenue source of banks, so separating creditworthy applicants from risky ones is critical. Machine learning learns patterns from past applications and predicts approval for new ones, capturing links between income, loan amount and credit history that fixed rules miss. This project trains two models, Logistic Regression as a baseline and Random Forest, and deploys the better one. It is built as a full-stack application: a </a:t>
            </a:r>
            <a:r>
              <a:rPr lang="en-IN" sz="1800" dirty="0" err="1"/>
              <a:t>FastAPI</a:t>
            </a:r>
            <a:r>
              <a:rPr lang="en-IN" sz="1800" dirty="0"/>
              <a:t> backend serves the model, and a single-page web portal (HTML, CSS and JavaScript) lets users assess a loan, view EMI and eligibility, track applications and see model performance.</a:t>
            </a:r>
            <a:endParaRPr lang="en-IN" sz="1800" dirty="0">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a:xfrm>
            <a:off x="457187" y="366714"/>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Literature Survey (1/2)</a:t>
            </a:r>
            <a:endParaRPr dirty="0"/>
          </a:p>
        </p:txBody>
      </p:sp>
      <p:graphicFrame>
        <p:nvGraphicFramePr>
          <p:cNvPr id="127" name="Google Shape;127;p6"/>
          <p:cNvGraphicFramePr/>
          <p:nvPr>
            <p:extLst>
              <p:ext uri="{D42A27DB-BD31-4B8C-83A1-F6EECF244321}">
                <p14:modId xmlns:p14="http://schemas.microsoft.com/office/powerpoint/2010/main" val="1270090287"/>
              </p:ext>
            </p:extLst>
          </p:nvPr>
        </p:nvGraphicFramePr>
        <p:xfrm>
          <a:off x="457187" y="1509714"/>
          <a:ext cx="8229625" cy="4450140"/>
        </p:xfrm>
        <a:graphic>
          <a:graphicData uri="http://schemas.openxmlformats.org/drawingml/2006/table">
            <a:tbl>
              <a:tblPr firstRow="1" bandRow="1">
                <a:noFill/>
                <a:tableStyleId>{17792F72-9F60-45A1-A759-DC8DF3A647CD}</a:tableStyleId>
              </a:tblPr>
              <a:tblGrid>
                <a:gridCol w="164592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gridCol w="1645925">
                  <a:extLst>
                    <a:ext uri="{9D8B030D-6E8A-4147-A177-3AD203B41FA5}">
                      <a16:colId xmlns:a16="http://schemas.microsoft.com/office/drawing/2014/main" val="20004"/>
                    </a:ext>
                  </a:extLst>
                </a:gridCol>
              </a:tblGrid>
              <a:tr h="370850">
                <a:tc>
                  <a:txBody>
                    <a:bodyPr/>
                    <a:lstStyle/>
                    <a:p>
                      <a:pPr marL="0" marR="0" lvl="0" indent="0" algn="l" rtl="0">
                        <a:spcBef>
                          <a:spcPts val="0"/>
                        </a:spcBef>
                        <a:spcAft>
                          <a:spcPts val="0"/>
                        </a:spcAft>
                        <a:buNone/>
                      </a:pPr>
                      <a:r>
                        <a:rPr lang="en-US" sz="1800"/>
                        <a:t>S.No.</a:t>
                      </a:r>
                      <a:endParaRPr/>
                    </a:p>
                  </a:txBody>
                  <a:tcPr marL="91450" marR="91450" marT="45725" marB="45725"/>
                </a:tc>
                <a:tc>
                  <a:txBody>
                    <a:bodyPr/>
                    <a:lstStyle/>
                    <a:p>
                      <a:pPr marL="0" marR="0" lvl="0" indent="0" algn="l" rtl="0">
                        <a:spcBef>
                          <a:spcPts val="0"/>
                        </a:spcBef>
                        <a:spcAft>
                          <a:spcPts val="0"/>
                        </a:spcAft>
                        <a:buNone/>
                      </a:pPr>
                      <a:r>
                        <a:rPr lang="en-US" sz="1800"/>
                        <a:t>Title of the Paper</a:t>
                      </a:r>
                      <a:endParaRPr/>
                    </a:p>
                  </a:txBody>
                  <a:tcPr marL="91450" marR="91450" marT="45725" marB="45725"/>
                </a:tc>
                <a:tc>
                  <a:txBody>
                    <a:bodyPr/>
                    <a:lstStyle/>
                    <a:p>
                      <a:pPr marL="0" marR="0" lvl="0" indent="0" algn="l" rtl="0">
                        <a:spcBef>
                          <a:spcPts val="0"/>
                        </a:spcBef>
                        <a:spcAft>
                          <a:spcPts val="0"/>
                        </a:spcAft>
                        <a:buNone/>
                      </a:pPr>
                      <a:r>
                        <a:rPr lang="en-US" sz="1800"/>
                        <a:t>Year</a:t>
                      </a:r>
                      <a:endParaRPr/>
                    </a:p>
                  </a:txBody>
                  <a:tcPr marL="91450" marR="91450" marT="45725" marB="45725"/>
                </a:tc>
                <a:tc>
                  <a:txBody>
                    <a:bodyPr/>
                    <a:lstStyle/>
                    <a:p>
                      <a:pPr marL="0" marR="0" lvl="0" indent="0" algn="l" rtl="0">
                        <a:spcBef>
                          <a:spcPts val="0"/>
                        </a:spcBef>
                        <a:spcAft>
                          <a:spcPts val="0"/>
                        </a:spcAft>
                        <a:buNone/>
                      </a:pPr>
                      <a:r>
                        <a:rPr lang="en-US" sz="1800"/>
                        <a:t>Methodology Used</a:t>
                      </a:r>
                      <a:endParaRPr/>
                    </a:p>
                  </a:txBody>
                  <a:tcPr marL="91450" marR="91450" marT="45725" marB="45725"/>
                </a:tc>
                <a:tc>
                  <a:txBody>
                    <a:bodyPr/>
                    <a:lstStyle/>
                    <a:p>
                      <a:pPr marL="0" marR="0" lvl="0" indent="0" algn="l" rtl="0">
                        <a:spcBef>
                          <a:spcPts val="0"/>
                        </a:spcBef>
                        <a:spcAft>
                          <a:spcPts val="0"/>
                        </a:spcAft>
                        <a:buNone/>
                      </a:pPr>
                      <a:r>
                        <a:rPr lang="en-US" sz="1800"/>
                        <a:t>Inferences</a:t>
                      </a:r>
                      <a:endParaRPr/>
                    </a:p>
                  </a:txBody>
                  <a:tcPr marL="91450" marR="91450" marT="45725" marB="45725"/>
                </a:tc>
                <a:extLst>
                  <a:ext uri="{0D108BD9-81ED-4DB2-BD59-A6C34878D82A}">
                    <a16:rowId xmlns:a16="http://schemas.microsoft.com/office/drawing/2014/main" val="10000"/>
                  </a:ext>
                </a:extLst>
              </a:tr>
              <a:tr h="713232">
                <a:tc>
                  <a:txBody>
                    <a:bodyPr/>
                    <a:lstStyle/>
                    <a:p>
                      <a:r>
                        <a:rPr sz="1100"/>
                        <a:t>1</a:t>
                      </a:r>
                    </a:p>
                  </a:txBody>
                  <a:tcPr marL="91450" marR="91450" marT="45725" marB="45725"/>
                </a:tc>
                <a:tc>
                  <a:txBody>
                    <a:bodyPr/>
                    <a:lstStyle/>
                    <a:p>
                      <a:r>
                        <a:rPr sz="1100"/>
                        <a:t>Random Forests (Breiman)</a:t>
                      </a:r>
                    </a:p>
                  </a:txBody>
                  <a:tcPr marL="91450" marR="91450" marT="45725" marB="45725"/>
                </a:tc>
                <a:tc>
                  <a:txBody>
                    <a:bodyPr/>
                    <a:lstStyle/>
                    <a:p>
                      <a:r>
                        <a:rPr sz="1100"/>
                        <a:t>2001</a:t>
                      </a:r>
                    </a:p>
                  </a:txBody>
                  <a:tcPr marL="91450" marR="91450" marT="45725" marB="45725"/>
                </a:tc>
                <a:tc>
                  <a:txBody>
                    <a:bodyPr/>
                    <a:lstStyle/>
                    <a:p>
                      <a:r>
                        <a:rPr sz="1100"/>
                        <a:t>Ensemble of decision trees on bootstrap samples with random feature selection</a:t>
                      </a:r>
                    </a:p>
                  </a:txBody>
                  <a:tcPr marL="91450" marR="91450" marT="45725" marB="45725"/>
                </a:tc>
                <a:tc>
                  <a:txBody>
                    <a:bodyPr/>
                    <a:lstStyle/>
                    <a:p>
                      <a:r>
                        <a:rPr sz="1100" dirty="0"/>
                        <a:t>Reduces variance and over-fitting; gives feature importance</a:t>
                      </a:r>
                    </a:p>
                  </a:txBody>
                  <a:tcPr marL="91450" marR="91450" marT="45725" marB="45725"/>
                </a:tc>
                <a:extLst>
                  <a:ext uri="{0D108BD9-81ED-4DB2-BD59-A6C34878D82A}">
                    <a16:rowId xmlns:a16="http://schemas.microsoft.com/office/drawing/2014/main" val="10001"/>
                  </a:ext>
                </a:extLst>
              </a:tr>
              <a:tr h="713232">
                <a:tc>
                  <a:txBody>
                    <a:bodyPr/>
                    <a:lstStyle/>
                    <a:p>
                      <a:r>
                        <a:rPr sz="1100"/>
                        <a:t>2</a:t>
                      </a:r>
                    </a:p>
                  </a:txBody>
                  <a:tcPr marL="91450" marR="91450" marT="45725" marB="45725"/>
                </a:tc>
                <a:tc>
                  <a:txBody>
                    <a:bodyPr/>
                    <a:lstStyle/>
                    <a:p>
                      <a:r>
                        <a:rPr sz="1100"/>
                        <a:t>Scikit-learn: Machine Learning in Python (Pedregosa et al.)</a:t>
                      </a:r>
                    </a:p>
                  </a:txBody>
                  <a:tcPr marL="91450" marR="91450" marT="45725" marB="45725"/>
                </a:tc>
                <a:tc>
                  <a:txBody>
                    <a:bodyPr/>
                    <a:lstStyle/>
                    <a:p>
                      <a:r>
                        <a:rPr sz="1100"/>
                        <a:t>2011</a:t>
                      </a:r>
                    </a:p>
                  </a:txBody>
                  <a:tcPr marL="91450" marR="91450" marT="45725" marB="45725"/>
                </a:tc>
                <a:tc>
                  <a:txBody>
                    <a:bodyPr/>
                    <a:lstStyle/>
                    <a:p>
                      <a:r>
                        <a:rPr sz="1100"/>
                        <a:t>Python library for classifiers, pipelines, cross-validation and tuning</a:t>
                      </a:r>
                    </a:p>
                  </a:txBody>
                  <a:tcPr marL="91450" marR="91450" marT="45725" marB="45725"/>
                </a:tc>
                <a:tc>
                  <a:txBody>
                    <a:bodyPr/>
                    <a:lstStyle/>
                    <a:p>
                      <a:r>
                        <a:rPr sz="1100"/>
                        <a:t>Standard toolkit used to build and evaluate the models</a:t>
                      </a:r>
                    </a:p>
                  </a:txBody>
                  <a:tcPr marL="91450" marR="91450" marT="45725" marB="45725"/>
                </a:tc>
                <a:extLst>
                  <a:ext uri="{0D108BD9-81ED-4DB2-BD59-A6C34878D82A}">
                    <a16:rowId xmlns:a16="http://schemas.microsoft.com/office/drawing/2014/main" val="3944137439"/>
                  </a:ext>
                </a:extLst>
              </a:tr>
              <a:tr h="713232">
                <a:tc>
                  <a:txBody>
                    <a:bodyPr/>
                    <a:lstStyle/>
                    <a:p>
                      <a:r>
                        <a:rPr sz="1100"/>
                        <a:t>3</a:t>
                      </a:r>
                    </a:p>
                  </a:txBody>
                  <a:tcPr marL="91450" marR="91450" marT="45725" marB="45725"/>
                </a:tc>
                <a:tc>
                  <a:txBody>
                    <a:bodyPr/>
                    <a:lstStyle/>
                    <a:p>
                      <a:r>
                        <a:rPr sz="1100"/>
                        <a:t>Statistical Classification Methods in Consumer Credit Scoring: A Review (Hand &amp; Henley)</a:t>
                      </a:r>
                    </a:p>
                  </a:txBody>
                  <a:tcPr marL="91450" marR="91450" marT="45725" marB="45725"/>
                </a:tc>
                <a:tc>
                  <a:txBody>
                    <a:bodyPr/>
                    <a:lstStyle/>
                    <a:p>
                      <a:r>
                        <a:rPr sz="1100"/>
                        <a:t>1997</a:t>
                      </a:r>
                    </a:p>
                  </a:txBody>
                  <a:tcPr marL="91450" marR="91450" marT="45725" marB="45725"/>
                </a:tc>
                <a:tc>
                  <a:txBody>
                    <a:bodyPr/>
                    <a:lstStyle/>
                    <a:p>
                      <a:r>
                        <a:rPr sz="1100"/>
                        <a:t>Review of discriminant analysis, logistic regression and decision trees</a:t>
                      </a:r>
                    </a:p>
                  </a:txBody>
                  <a:tcPr marL="91450" marR="91450" marT="45725" marB="45725"/>
                </a:tc>
                <a:tc>
                  <a:txBody>
                    <a:bodyPr/>
                    <a:lstStyle/>
                    <a:p>
                      <a:r>
                        <a:rPr sz="1100"/>
                        <a:t>Ranking applicants by risk and misclassification cost matter</a:t>
                      </a:r>
                    </a:p>
                  </a:txBody>
                  <a:tcPr marL="91450" marR="91450" marT="45725" marB="45725"/>
                </a:tc>
                <a:extLst>
                  <a:ext uri="{0D108BD9-81ED-4DB2-BD59-A6C34878D82A}">
                    <a16:rowId xmlns:a16="http://schemas.microsoft.com/office/drawing/2014/main" val="1778842219"/>
                  </a:ext>
                </a:extLst>
              </a:tr>
              <a:tr h="713232">
                <a:tc>
                  <a:txBody>
                    <a:bodyPr/>
                    <a:lstStyle/>
                    <a:p>
                      <a:r>
                        <a:rPr sz="1100"/>
                        <a:t>4</a:t>
                      </a:r>
                    </a:p>
                  </a:txBody>
                  <a:tcPr marL="91450" marR="91450" marT="45725" marB="45725"/>
                </a:tc>
                <a:tc>
                  <a:txBody>
                    <a:bodyPr/>
                    <a:lstStyle/>
                    <a:p>
                      <a:r>
                        <a:rPr sz="1100"/>
                        <a:t>Consumer credit-risk models via machine-learning algorithms (Khandani, Kim &amp; Lo)</a:t>
                      </a:r>
                    </a:p>
                  </a:txBody>
                  <a:tcPr marL="91450" marR="91450" marT="45725" marB="45725"/>
                </a:tc>
                <a:tc>
                  <a:txBody>
                    <a:bodyPr/>
                    <a:lstStyle/>
                    <a:p>
                      <a:r>
                        <a:rPr sz="1100"/>
                        <a:t>2010</a:t>
                      </a:r>
                    </a:p>
                  </a:txBody>
                  <a:tcPr marL="91450" marR="91450" marT="45725" marB="45725"/>
                </a:tc>
                <a:tc>
                  <a:txBody>
                    <a:bodyPr/>
                    <a:lstStyle/>
                    <a:p>
                      <a:r>
                        <a:rPr sz="1100"/>
                        <a:t>Tree-based machine learning on large bank data</a:t>
                      </a:r>
                    </a:p>
                  </a:txBody>
                  <a:tcPr marL="91450" marR="91450" marT="45725" marB="45725"/>
                </a:tc>
                <a:tc>
                  <a:txBody>
                    <a:bodyPr/>
                    <a:lstStyle/>
                    <a:p>
                      <a:r>
                        <a:rPr sz="1100"/>
                        <a:t>ML forecasts delinquency better than conventional scoring</a:t>
                      </a:r>
                    </a:p>
                  </a:txBody>
                  <a:tcPr marL="91450" marR="91450" marT="45725" marB="45725"/>
                </a:tc>
                <a:extLst>
                  <a:ext uri="{0D108BD9-81ED-4DB2-BD59-A6C34878D82A}">
                    <a16:rowId xmlns:a16="http://schemas.microsoft.com/office/drawing/2014/main" val="3299148647"/>
                  </a:ext>
                </a:extLst>
              </a:tr>
              <a:tr h="713232">
                <a:tc>
                  <a:txBody>
                    <a:bodyPr/>
                    <a:lstStyle/>
                    <a:p>
                      <a:r>
                        <a:rPr sz="1100"/>
                        <a:t>5</a:t>
                      </a:r>
                    </a:p>
                  </a:txBody>
                  <a:tcPr marL="91450" marR="91450" marT="45725" marB="45725"/>
                </a:tc>
                <a:tc>
                  <a:txBody>
                    <a:bodyPr/>
                    <a:lstStyle/>
                    <a:p>
                      <a:r>
                        <a:rPr sz="1100"/>
                        <a:t>Benchmarking classification algorithms for credit scoring (Lessmann et al.)</a:t>
                      </a:r>
                    </a:p>
                  </a:txBody>
                  <a:tcPr marL="91450" marR="91450" marT="45725" marB="45725"/>
                </a:tc>
                <a:tc>
                  <a:txBody>
                    <a:bodyPr/>
                    <a:lstStyle/>
                    <a:p>
                      <a:r>
                        <a:rPr sz="1100"/>
                        <a:t>2015</a:t>
                      </a:r>
                    </a:p>
                  </a:txBody>
                  <a:tcPr marL="91450" marR="91450" marT="45725" marB="45725"/>
                </a:tc>
                <a:tc>
                  <a:txBody>
                    <a:bodyPr/>
                    <a:lstStyle/>
                    <a:p>
                      <a:r>
                        <a:rPr sz="1100"/>
                        <a:t>Compared many classifiers on several credit datasets</a:t>
                      </a:r>
                    </a:p>
                  </a:txBody>
                  <a:tcPr marL="91450" marR="91450" marT="45725" marB="45725"/>
                </a:tc>
                <a:tc>
                  <a:txBody>
                    <a:bodyPr/>
                    <a:lstStyle/>
                    <a:p>
                      <a:r>
                        <a:rPr sz="1100" dirty="0"/>
                        <a:t>Ensemble methods rank among the best</a:t>
                      </a:r>
                    </a:p>
                  </a:txBody>
                  <a:tcPr marL="91450" marR="91450" marT="45725" marB="45725"/>
                </a:tc>
                <a:extLst>
                  <a:ext uri="{0D108BD9-81ED-4DB2-BD59-A6C34878D82A}">
                    <a16:rowId xmlns:a16="http://schemas.microsoft.com/office/drawing/2014/main" val="700297967"/>
                  </a:ext>
                </a:extLst>
              </a:tr>
            </a:tbl>
          </a:graphicData>
        </a:graphic>
      </p:graphicFrame>
      <p:sp>
        <p:nvSpPr>
          <p:cNvPr id="128" name="Google Shape;128;p6"/>
          <p:cNvSpPr txBox="1">
            <a:spLocks noGrp="1"/>
          </p:cNvSpPr>
          <p:nvPr>
            <p:ph type="ftr" idx="11"/>
          </p:nvPr>
        </p:nvSpPr>
        <p:spPr>
          <a:xfrm>
            <a:off x="2590787" y="6308723"/>
            <a:ext cx="3962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AND ENGINEERING </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Literature Survey (2/2)</a:t>
            </a:r>
            <a:endParaRPr dirty="0"/>
          </a:p>
        </p:txBody>
      </p:sp>
      <p:graphicFrame>
        <p:nvGraphicFramePr>
          <p:cNvPr id="127" name="Google Shape;127;p6"/>
          <p:cNvGraphicFramePr/>
          <p:nvPr>
            <p:extLst>
              <p:ext uri="{D42A27DB-BD31-4B8C-83A1-F6EECF244321}">
                <p14:modId xmlns:p14="http://schemas.microsoft.com/office/powerpoint/2010/main" val="2236504863"/>
              </p:ext>
            </p:extLst>
          </p:nvPr>
        </p:nvGraphicFramePr>
        <p:xfrm>
          <a:off x="457200" y="1417638"/>
          <a:ext cx="8229625" cy="4255028"/>
        </p:xfrm>
        <a:graphic>
          <a:graphicData uri="http://schemas.openxmlformats.org/drawingml/2006/table">
            <a:tbl>
              <a:tblPr firstRow="1" bandRow="1">
                <a:noFill/>
                <a:tableStyleId>{17792F72-9F60-45A1-A759-DC8DF3A647CD}</a:tableStyleId>
              </a:tblPr>
              <a:tblGrid>
                <a:gridCol w="1645925">
                  <a:extLst>
                    <a:ext uri="{9D8B030D-6E8A-4147-A177-3AD203B41FA5}">
                      <a16:colId xmlns:a16="http://schemas.microsoft.com/office/drawing/2014/main" val="20000"/>
                    </a:ext>
                  </a:extLst>
                </a:gridCol>
                <a:gridCol w="1645925">
                  <a:extLst>
                    <a:ext uri="{9D8B030D-6E8A-4147-A177-3AD203B41FA5}">
                      <a16:colId xmlns:a16="http://schemas.microsoft.com/office/drawing/2014/main" val="20001"/>
                    </a:ext>
                  </a:extLst>
                </a:gridCol>
                <a:gridCol w="1645925">
                  <a:extLst>
                    <a:ext uri="{9D8B030D-6E8A-4147-A177-3AD203B41FA5}">
                      <a16:colId xmlns:a16="http://schemas.microsoft.com/office/drawing/2014/main" val="20002"/>
                    </a:ext>
                  </a:extLst>
                </a:gridCol>
                <a:gridCol w="1645925">
                  <a:extLst>
                    <a:ext uri="{9D8B030D-6E8A-4147-A177-3AD203B41FA5}">
                      <a16:colId xmlns:a16="http://schemas.microsoft.com/office/drawing/2014/main" val="20003"/>
                    </a:ext>
                  </a:extLst>
                </a:gridCol>
                <a:gridCol w="1645925">
                  <a:extLst>
                    <a:ext uri="{9D8B030D-6E8A-4147-A177-3AD203B41FA5}">
                      <a16:colId xmlns:a16="http://schemas.microsoft.com/office/drawing/2014/main" val="20004"/>
                    </a:ext>
                  </a:extLst>
                </a:gridCol>
              </a:tblGrid>
              <a:tr h="370850">
                <a:tc>
                  <a:txBody>
                    <a:bodyPr/>
                    <a:lstStyle/>
                    <a:p>
                      <a:pPr marL="0" marR="0" lvl="0" indent="0" algn="l" rtl="0">
                        <a:spcBef>
                          <a:spcPts val="0"/>
                        </a:spcBef>
                        <a:spcAft>
                          <a:spcPts val="0"/>
                        </a:spcAft>
                        <a:buNone/>
                      </a:pPr>
                      <a:r>
                        <a:rPr lang="en-US" sz="1800"/>
                        <a:t>S.No.</a:t>
                      </a:r>
                      <a:endParaRPr/>
                    </a:p>
                  </a:txBody>
                  <a:tcPr marL="91450" marR="91450" marT="45725" marB="45725"/>
                </a:tc>
                <a:tc>
                  <a:txBody>
                    <a:bodyPr/>
                    <a:lstStyle/>
                    <a:p>
                      <a:pPr marL="0" marR="0" lvl="0" indent="0" algn="l" rtl="0">
                        <a:spcBef>
                          <a:spcPts val="0"/>
                        </a:spcBef>
                        <a:spcAft>
                          <a:spcPts val="0"/>
                        </a:spcAft>
                        <a:buNone/>
                      </a:pPr>
                      <a:r>
                        <a:rPr lang="en-US" sz="1800"/>
                        <a:t>Title of the Paper</a:t>
                      </a:r>
                      <a:endParaRPr/>
                    </a:p>
                  </a:txBody>
                  <a:tcPr marL="91450" marR="91450" marT="45725" marB="45725"/>
                </a:tc>
                <a:tc>
                  <a:txBody>
                    <a:bodyPr/>
                    <a:lstStyle/>
                    <a:p>
                      <a:pPr marL="0" marR="0" lvl="0" indent="0" algn="l" rtl="0">
                        <a:spcBef>
                          <a:spcPts val="0"/>
                        </a:spcBef>
                        <a:spcAft>
                          <a:spcPts val="0"/>
                        </a:spcAft>
                        <a:buNone/>
                      </a:pPr>
                      <a:r>
                        <a:rPr lang="en-US" sz="1800"/>
                        <a:t>Year</a:t>
                      </a:r>
                      <a:endParaRPr/>
                    </a:p>
                  </a:txBody>
                  <a:tcPr marL="91450" marR="91450" marT="45725" marB="45725"/>
                </a:tc>
                <a:tc>
                  <a:txBody>
                    <a:bodyPr/>
                    <a:lstStyle/>
                    <a:p>
                      <a:pPr marL="0" marR="0" lvl="0" indent="0" algn="l" rtl="0">
                        <a:spcBef>
                          <a:spcPts val="0"/>
                        </a:spcBef>
                        <a:spcAft>
                          <a:spcPts val="0"/>
                        </a:spcAft>
                        <a:buNone/>
                      </a:pPr>
                      <a:r>
                        <a:rPr lang="en-US" sz="1800"/>
                        <a:t>Methodology Used</a:t>
                      </a:r>
                      <a:endParaRPr/>
                    </a:p>
                  </a:txBody>
                  <a:tcPr marL="91450" marR="91450" marT="45725" marB="45725"/>
                </a:tc>
                <a:tc>
                  <a:txBody>
                    <a:bodyPr/>
                    <a:lstStyle/>
                    <a:p>
                      <a:pPr marL="0" marR="0" lvl="0" indent="0" algn="l" rtl="0">
                        <a:spcBef>
                          <a:spcPts val="0"/>
                        </a:spcBef>
                        <a:spcAft>
                          <a:spcPts val="0"/>
                        </a:spcAft>
                        <a:buNone/>
                      </a:pPr>
                      <a:r>
                        <a:rPr lang="en-US" sz="1800"/>
                        <a:t>Inferences</a:t>
                      </a:r>
                      <a:endParaRPr/>
                    </a:p>
                  </a:txBody>
                  <a:tcPr marL="91450" marR="91450" marT="45725" marB="45725"/>
                </a:tc>
                <a:extLst>
                  <a:ext uri="{0D108BD9-81ED-4DB2-BD59-A6C34878D82A}">
                    <a16:rowId xmlns:a16="http://schemas.microsoft.com/office/drawing/2014/main" val="10000"/>
                  </a:ext>
                </a:extLst>
              </a:tr>
              <a:tr h="713232">
                <a:tc>
                  <a:txBody>
                    <a:bodyPr/>
                    <a:lstStyle/>
                    <a:p>
                      <a:r>
                        <a:rPr sz="1100"/>
                        <a:t>6</a:t>
                      </a:r>
                    </a:p>
                  </a:txBody>
                  <a:tcPr marL="91450" marR="91450" marT="45725" marB="45725"/>
                </a:tc>
                <a:tc>
                  <a:txBody>
                    <a:bodyPr/>
                    <a:lstStyle/>
                    <a:p>
                      <a:r>
                        <a:rPr sz="1100"/>
                        <a:t>XGBoost: A Scalable Tree Boosting System (Chen &amp; Guestrin)</a:t>
                      </a:r>
                    </a:p>
                  </a:txBody>
                  <a:tcPr marL="91450" marR="91450" marT="45725" marB="45725"/>
                </a:tc>
                <a:tc>
                  <a:txBody>
                    <a:bodyPr/>
                    <a:lstStyle/>
                    <a:p>
                      <a:r>
                        <a:rPr sz="1100" dirty="0"/>
                        <a:t>2016</a:t>
                      </a:r>
                    </a:p>
                  </a:txBody>
                  <a:tcPr marL="91450" marR="91450" marT="45725" marB="45725"/>
                </a:tc>
                <a:tc>
                  <a:txBody>
                    <a:bodyPr/>
                    <a:lstStyle/>
                    <a:p>
                      <a:r>
                        <a:rPr sz="1100"/>
                        <a:t>Scalable gradient-boosted tree system</a:t>
                      </a:r>
                    </a:p>
                  </a:txBody>
                  <a:tcPr marL="91450" marR="91450" marT="45725" marB="45725"/>
                </a:tc>
                <a:tc>
                  <a:txBody>
                    <a:bodyPr/>
                    <a:lstStyle/>
                    <a:p>
                      <a:r>
                        <a:rPr sz="1100"/>
                        <a:t>Strong baseline for tabular data such as loan records</a:t>
                      </a:r>
                    </a:p>
                  </a:txBody>
                  <a:tcPr marL="91450" marR="91450" marT="45725" marB="45725"/>
                </a:tc>
                <a:extLst>
                  <a:ext uri="{0D108BD9-81ED-4DB2-BD59-A6C34878D82A}">
                    <a16:rowId xmlns:a16="http://schemas.microsoft.com/office/drawing/2014/main" val="10001"/>
                  </a:ext>
                </a:extLst>
              </a:tr>
              <a:tr h="713232">
                <a:tc>
                  <a:txBody>
                    <a:bodyPr/>
                    <a:lstStyle/>
                    <a:p>
                      <a:r>
                        <a:rPr sz="1100"/>
                        <a:t>7</a:t>
                      </a:r>
                    </a:p>
                  </a:txBody>
                  <a:tcPr marL="91450" marR="91450" marT="45725" marB="45725"/>
                </a:tc>
                <a:tc>
                  <a:txBody>
                    <a:bodyPr/>
                    <a:lstStyle/>
                    <a:p>
                      <a:r>
                        <a:rPr sz="1100"/>
                        <a:t>SMOTE: Synthetic Minority Over-sampling Technique (Chawla et al.)</a:t>
                      </a:r>
                    </a:p>
                  </a:txBody>
                  <a:tcPr marL="91450" marR="91450" marT="45725" marB="45725"/>
                </a:tc>
                <a:tc>
                  <a:txBody>
                    <a:bodyPr/>
                    <a:lstStyle/>
                    <a:p>
                      <a:r>
                        <a:rPr sz="1100"/>
                        <a:t>2002</a:t>
                      </a:r>
                    </a:p>
                  </a:txBody>
                  <a:tcPr marL="91450" marR="91450" marT="45725" marB="45725"/>
                </a:tc>
                <a:tc>
                  <a:txBody>
                    <a:bodyPr/>
                    <a:lstStyle/>
                    <a:p>
                      <a:r>
                        <a:rPr sz="1100"/>
                        <a:t>Creates synthetic samples of the minority class</a:t>
                      </a:r>
                    </a:p>
                  </a:txBody>
                  <a:tcPr marL="91450" marR="91450" marT="45725" marB="45725"/>
                </a:tc>
                <a:tc>
                  <a:txBody>
                    <a:bodyPr/>
                    <a:lstStyle/>
                    <a:p>
                      <a:r>
                        <a:rPr sz="1100"/>
                        <a:t>Helps with imbalanced approve / reject data</a:t>
                      </a:r>
                    </a:p>
                  </a:txBody>
                  <a:tcPr marL="91450" marR="91450" marT="45725" marB="45725"/>
                </a:tc>
                <a:extLst>
                  <a:ext uri="{0D108BD9-81ED-4DB2-BD59-A6C34878D82A}">
                    <a16:rowId xmlns:a16="http://schemas.microsoft.com/office/drawing/2014/main" val="1874762810"/>
                  </a:ext>
                </a:extLst>
              </a:tr>
              <a:tr h="713232">
                <a:tc>
                  <a:txBody>
                    <a:bodyPr/>
                    <a:lstStyle/>
                    <a:p>
                      <a:r>
                        <a:rPr sz="1100"/>
                        <a:t>8</a:t>
                      </a:r>
                    </a:p>
                  </a:txBody>
                  <a:tcPr marL="91450" marR="91450" marT="45725" marB="45725"/>
                </a:tc>
                <a:tc>
                  <a:txBody>
                    <a:bodyPr/>
                    <a:lstStyle/>
                    <a:p>
                      <a:r>
                        <a:rPr sz="1100"/>
                        <a:t>An introduction to ROC analysis (Fawcett)</a:t>
                      </a:r>
                    </a:p>
                  </a:txBody>
                  <a:tcPr marL="91450" marR="91450" marT="45725" marB="45725"/>
                </a:tc>
                <a:tc>
                  <a:txBody>
                    <a:bodyPr/>
                    <a:lstStyle/>
                    <a:p>
                      <a:r>
                        <a:rPr sz="1100"/>
                        <a:t>2006</a:t>
                      </a:r>
                    </a:p>
                  </a:txBody>
                  <a:tcPr marL="91450" marR="91450" marT="45725" marB="45725"/>
                </a:tc>
                <a:tc>
                  <a:txBody>
                    <a:bodyPr/>
                    <a:lstStyle/>
                    <a:p>
                      <a:r>
                        <a:rPr sz="1100"/>
                        <a:t>ROC curves and AUC for classifier evaluation</a:t>
                      </a:r>
                    </a:p>
                  </a:txBody>
                  <a:tcPr marL="91450" marR="91450" marT="45725" marB="45725"/>
                </a:tc>
                <a:tc>
                  <a:txBody>
                    <a:bodyPr/>
                    <a:lstStyle/>
                    <a:p>
                      <a:r>
                        <a:rPr sz="1100"/>
                        <a:t>Threshold-independent measure of model quality</a:t>
                      </a:r>
                    </a:p>
                  </a:txBody>
                  <a:tcPr marL="91450" marR="91450" marT="45725" marB="45725"/>
                </a:tc>
                <a:extLst>
                  <a:ext uri="{0D108BD9-81ED-4DB2-BD59-A6C34878D82A}">
                    <a16:rowId xmlns:a16="http://schemas.microsoft.com/office/drawing/2014/main" val="1643060997"/>
                  </a:ext>
                </a:extLst>
              </a:tr>
              <a:tr h="713232">
                <a:tc>
                  <a:txBody>
                    <a:bodyPr/>
                    <a:lstStyle/>
                    <a:p>
                      <a:r>
                        <a:rPr sz="1100"/>
                        <a:t>9</a:t>
                      </a:r>
                    </a:p>
                  </a:txBody>
                  <a:tcPr marL="91450" marR="91450" marT="45725" marB="45725"/>
                </a:tc>
                <a:tc>
                  <a:txBody>
                    <a:bodyPr/>
                    <a:lstStyle/>
                    <a:p>
                      <a:r>
                        <a:rPr sz="1100"/>
                        <a:t>A survey of credit and behavioural scoring (Thomas)</a:t>
                      </a:r>
                    </a:p>
                  </a:txBody>
                  <a:tcPr marL="91450" marR="91450" marT="45725" marB="45725"/>
                </a:tc>
                <a:tc>
                  <a:txBody>
                    <a:bodyPr/>
                    <a:lstStyle/>
                    <a:p>
                      <a:r>
                        <a:rPr sz="1100"/>
                        <a:t>2000</a:t>
                      </a:r>
                    </a:p>
                  </a:txBody>
                  <a:tcPr marL="91450" marR="91450" marT="45725" marB="45725"/>
                </a:tc>
                <a:tc>
                  <a:txBody>
                    <a:bodyPr/>
                    <a:lstStyle/>
                    <a:p>
                      <a:r>
                        <a:rPr sz="1100"/>
                        <a:t>Survey of scoring techniques and issues</a:t>
                      </a:r>
                    </a:p>
                  </a:txBody>
                  <a:tcPr marL="91450" marR="91450" marT="45725" marB="45725"/>
                </a:tc>
                <a:tc>
                  <a:txBody>
                    <a:bodyPr/>
                    <a:lstStyle/>
                    <a:p>
                      <a:r>
                        <a:rPr sz="1100"/>
                        <a:t>Motivates monitoring and periodic retraining</a:t>
                      </a:r>
                    </a:p>
                  </a:txBody>
                  <a:tcPr marL="91450" marR="91450" marT="45725" marB="45725"/>
                </a:tc>
                <a:extLst>
                  <a:ext uri="{0D108BD9-81ED-4DB2-BD59-A6C34878D82A}">
                    <a16:rowId xmlns:a16="http://schemas.microsoft.com/office/drawing/2014/main" val="3538480059"/>
                  </a:ext>
                </a:extLst>
              </a:tr>
              <a:tr h="713232">
                <a:tc>
                  <a:txBody>
                    <a:bodyPr/>
                    <a:lstStyle/>
                    <a:p>
                      <a:r>
                        <a:rPr sz="1100"/>
                        <a:t>10</a:t>
                      </a:r>
                    </a:p>
                  </a:txBody>
                  <a:tcPr marL="91450" marR="91450" marT="45725" marB="45725"/>
                </a:tc>
                <a:tc>
                  <a:txBody>
                    <a:bodyPr/>
                    <a:lstStyle/>
                    <a:p>
                      <a:r>
                        <a:rPr sz="1100"/>
                        <a:t>The Elements of Statistical Learning (Hastie, Tibshirani &amp; Friedman)</a:t>
                      </a:r>
                    </a:p>
                  </a:txBody>
                  <a:tcPr marL="91450" marR="91450" marT="45725" marB="45725"/>
                </a:tc>
                <a:tc>
                  <a:txBody>
                    <a:bodyPr/>
                    <a:lstStyle/>
                    <a:p>
                      <a:r>
                        <a:rPr sz="1100"/>
                        <a:t>2009</a:t>
                      </a:r>
                    </a:p>
                  </a:txBody>
                  <a:tcPr marL="91450" marR="91450" marT="45725" marB="45725"/>
                </a:tc>
                <a:tc>
                  <a:txBody>
                    <a:bodyPr/>
                    <a:lstStyle/>
                    <a:p>
                      <a:r>
                        <a:rPr sz="1100"/>
                        <a:t>Cross-validation, bias-variance trade-off, ensembles</a:t>
                      </a:r>
                    </a:p>
                  </a:txBody>
                  <a:tcPr marL="91450" marR="91450" marT="45725" marB="45725"/>
                </a:tc>
                <a:tc>
                  <a:txBody>
                    <a:bodyPr/>
                    <a:lstStyle/>
                    <a:p>
                      <a:r>
                        <a:rPr sz="1100" dirty="0"/>
                        <a:t>Foundation for evaluation and tuning</a:t>
                      </a:r>
                    </a:p>
                  </a:txBody>
                  <a:tcPr marL="91450" marR="91450" marT="45725" marB="45725"/>
                </a:tc>
                <a:extLst>
                  <a:ext uri="{0D108BD9-81ED-4DB2-BD59-A6C34878D82A}">
                    <a16:rowId xmlns:a16="http://schemas.microsoft.com/office/drawing/2014/main" val="68144285"/>
                  </a:ext>
                </a:extLst>
              </a:tr>
            </a:tbl>
          </a:graphicData>
        </a:graphic>
      </p:graphicFrame>
      <p:sp>
        <p:nvSpPr>
          <p:cNvPr id="128" name="Google Shape;128;p6"/>
          <p:cNvSpPr txBox="1">
            <a:spLocks noGrp="1"/>
          </p:cNvSpPr>
          <p:nvPr>
            <p:ph type="ftr" idx="11"/>
          </p:nvPr>
        </p:nvSpPr>
        <p:spPr>
          <a:xfrm>
            <a:off x="2590800" y="6400799"/>
            <a:ext cx="3962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Problem Statement</a:t>
            </a:r>
            <a:endParaRPr/>
          </a:p>
        </p:txBody>
      </p:sp>
      <p:sp>
        <p:nvSpPr>
          <p:cNvPr id="141" name="Google Shape;141;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indent="-139700" algn="just">
              <a:lnSpc>
                <a:spcPct val="150000"/>
              </a:lnSpc>
              <a:spcBef>
                <a:spcPts val="0"/>
              </a:spcBef>
              <a:buSzPts val="3200"/>
              <a:buNone/>
            </a:pPr>
            <a:r>
              <a:rPr lang="en-IN" sz="1800" dirty="0">
                <a:latin typeface="Calibri" panose="020F0502020204030204" pitchFamily="34" charset="0"/>
                <a:ea typeface="Calibri" panose="020F0502020204030204" pitchFamily="34" charset="0"/>
                <a:cs typeface="Calibri" panose="020F0502020204030204" pitchFamily="34" charset="0"/>
              </a:rPr>
              <a:t>Traditional loan processing relies on manual verification of applicant details, income and credit history. It is time-consuming, depends on the experience of individual officers and can lead to inconsistent or biased decisions. Banks also struggle to identify high-risk applicants early, and every wrongly approved loan increases their exposure to default. An automated, data-driven system is needed that predicts whether a loan should be approved, quantifies the risk, responds in real time and stays transparent enough for loan officers to trust.</a:t>
            </a:r>
          </a:p>
        </p:txBody>
      </p:sp>
      <p:sp>
        <p:nvSpPr>
          <p:cNvPr id="142" name="Google Shape;142;p8"/>
          <p:cNvSpPr txBox="1">
            <a:spLocks noGrp="1"/>
          </p:cNvSpPr>
          <p:nvPr>
            <p:ph type="ftr" idx="11"/>
          </p:nvPr>
        </p:nvSpPr>
        <p:spPr>
          <a:xfrm>
            <a:off x="2527300" y="6308725"/>
            <a:ext cx="4089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AND ENGINEERING</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Objective</a:t>
            </a:r>
            <a:endParaRPr/>
          </a:p>
        </p:txBody>
      </p:sp>
      <p:sp>
        <p:nvSpPr>
          <p:cNvPr id="134" name="Google Shape;134;p7"/>
          <p:cNvSpPr txBox="1">
            <a:spLocks noGrp="1"/>
          </p:cNvSpPr>
          <p:nvPr>
            <p:ph type="body" idx="1"/>
          </p:nvPr>
        </p:nvSpPr>
        <p:spPr>
          <a:xfrm>
            <a:off x="419100" y="914400"/>
            <a:ext cx="8229600" cy="5029200"/>
          </a:xfrm>
          <a:prstGeom prst="rect">
            <a:avLst/>
          </a:prstGeom>
          <a:noFill/>
          <a:ln>
            <a:noFill/>
          </a:ln>
        </p:spPr>
        <p:txBody>
          <a:bodyPr spcFirstLastPara="1" wrap="square" lIns="91425" tIns="45700" rIns="91425" bIns="45700" anchor="t" anchorCtr="0">
            <a:noAutofit/>
          </a:bodyPr>
          <a:lstStyle/>
          <a:p>
            <a:pPr algn="just">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To build an automated loan approval and risk assessment system using machine learning.</a:t>
            </a:r>
          </a:p>
          <a:p>
            <a:pPr algn="just">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To automate eligibility prediction from applicant data.</a:t>
            </a:r>
          </a:p>
          <a:p>
            <a:pPr algn="just">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To </a:t>
            </a:r>
            <a:r>
              <a:rPr lang="en-IN" sz="1800" dirty="0"/>
              <a:t>compute risk measures (EMI, DTI/FOIR, Loan-to-Income) and apply a 45% FOIR underwriting rule</a:t>
            </a:r>
            <a:r>
              <a:rPr lang="en-IN" sz="1800" dirty="0">
                <a:latin typeface="Calibri" panose="020F0502020204030204" pitchFamily="34" charset="0"/>
                <a:ea typeface="Calibri" panose="020F0502020204030204" pitchFamily="34" charset="0"/>
                <a:cs typeface="Calibri" panose="020F0502020204030204" pitchFamily="34" charset="0"/>
              </a:rPr>
              <a:t>.</a:t>
            </a:r>
          </a:p>
          <a:p>
            <a:pPr algn="just">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To benchmark </a:t>
            </a:r>
            <a:r>
              <a:rPr lang="en-IN" sz="1800" dirty="0"/>
              <a:t>Logistic Regression and Random Forest and deploy the best model</a:t>
            </a:r>
            <a:r>
              <a:rPr lang="en-IN" sz="1800" dirty="0">
                <a:latin typeface="Calibri" panose="020F0502020204030204" pitchFamily="34" charset="0"/>
                <a:ea typeface="Calibri" panose="020F0502020204030204" pitchFamily="34" charset="0"/>
                <a:cs typeface="Calibri" panose="020F0502020204030204" pitchFamily="34" charset="0"/>
              </a:rPr>
              <a:t>.</a:t>
            </a:r>
          </a:p>
          <a:p>
            <a:pPr algn="just">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To evaluate with accuracy, precision, recall, F1, ROC-AUC, confusion matrix and feature importance.</a:t>
            </a:r>
          </a:p>
          <a:p>
            <a:pPr algn="just">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To expose the model through a FastAPI service (</a:t>
            </a:r>
            <a:r>
              <a:rPr lang="en-IN" sz="1800" dirty="0"/>
              <a:t>/predict, /model-performance</a:t>
            </a:r>
            <a:r>
              <a:rPr lang="en-IN" sz="1800" dirty="0">
                <a:latin typeface="Calibri" panose="020F0502020204030204" pitchFamily="34" charset="0"/>
                <a:ea typeface="Calibri" panose="020F0502020204030204" pitchFamily="34" charset="0"/>
                <a:cs typeface="Calibri" panose="020F0502020204030204" pitchFamily="34" charset="0"/>
              </a:rPr>
              <a:t>).</a:t>
            </a:r>
          </a:p>
          <a:p>
            <a:pPr algn="just">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To provide a web portal for applicant assessment and model performance.</a:t>
            </a:r>
          </a:p>
          <a:p>
            <a:pPr algn="just">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To reduce processing time and make decisions consistent.</a:t>
            </a:r>
          </a:p>
        </p:txBody>
      </p:sp>
      <p:sp>
        <p:nvSpPr>
          <p:cNvPr id="135" name="Google Shape;135;p7"/>
          <p:cNvSpPr txBox="1">
            <a:spLocks noGrp="1"/>
          </p:cNvSpPr>
          <p:nvPr>
            <p:ph type="ftr" idx="11"/>
          </p:nvPr>
        </p:nvSpPr>
        <p:spPr>
          <a:xfrm>
            <a:off x="419100" y="6356350"/>
            <a:ext cx="8305800" cy="27304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AND ENGINEERING </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Proposed Work</a:t>
            </a:r>
            <a:endParaRPr/>
          </a:p>
        </p:txBody>
      </p:sp>
      <p:sp>
        <p:nvSpPr>
          <p:cNvPr id="148" name="Google Shape;148;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indent="-139700" algn="just">
              <a:lnSpc>
                <a:spcPct val="150000"/>
              </a:lnSpc>
              <a:spcBef>
                <a:spcPts val="0"/>
              </a:spcBef>
              <a:buSzPts val="3200"/>
              <a:buNone/>
            </a:pPr>
            <a:r>
              <a:rPr lang="en-IN" sz="1800" dirty="0">
                <a:latin typeface="Calibri" panose="020F0502020204030204" pitchFamily="34" charset="0"/>
                <a:ea typeface="Calibri" panose="020F0502020204030204" pitchFamily="34" charset="0"/>
                <a:cs typeface="Calibri" panose="020F0502020204030204" pitchFamily="34" charset="0"/>
              </a:rPr>
              <a:t>The proposed system takes applicant details such as income, co-applicant income, loan amount, loan term, credit history, education, marital status, dependents and property area. </a:t>
            </a:r>
            <a:r>
              <a:rPr lang="en-IN" sz="1800" dirty="0"/>
              <a:t>The data is cleaned and encoded (11 input features). Logistic Regression and Random Forest are trained and compared, and the best model is saved with </a:t>
            </a:r>
            <a:r>
              <a:rPr lang="en-IN" sz="1800" dirty="0" err="1"/>
              <a:t>joblib</a:t>
            </a:r>
            <a:r>
              <a:rPr lang="en-IN" sz="1800" dirty="0"/>
              <a:t>. At prediction time the backend also computes EMI (8.5% reducing balance), DTI and loan-to-income ratio, and applies a 45% FOIR rule, so the final decision combines the ML probability with underwriting rules. A web portal shows the decision, risk score, key factors and </a:t>
            </a:r>
            <a:r>
              <a:rPr lang="en-IN" sz="1800" dirty="0" err="1"/>
              <a:t>explanation.</a:t>
            </a:r>
            <a:r>
              <a:rPr lang="en-IN" sz="1800" dirty="0" err="1">
                <a:latin typeface="Calibri" panose="020F0502020204030204" pitchFamily="34" charset="0"/>
                <a:ea typeface="Calibri" panose="020F0502020204030204" pitchFamily="34" charset="0"/>
                <a:cs typeface="Calibri" panose="020F0502020204030204" pitchFamily="34" charset="0"/>
              </a:rPr>
              <a:t>The</a:t>
            </a:r>
            <a:r>
              <a:rPr lang="en-IN" sz="1800" dirty="0">
                <a:latin typeface="Calibri" panose="020F0502020204030204" pitchFamily="34" charset="0"/>
                <a:ea typeface="Calibri" panose="020F0502020204030204" pitchFamily="34" charset="0"/>
                <a:cs typeface="Calibri" panose="020F0502020204030204" pitchFamily="34" charset="0"/>
              </a:rPr>
              <a:t> system helps loan officers make faster, consistent decisions.</a:t>
            </a:r>
          </a:p>
        </p:txBody>
      </p:sp>
      <p:sp>
        <p:nvSpPr>
          <p:cNvPr id="149" name="Google Shape;149;p9"/>
          <p:cNvSpPr txBox="1">
            <a:spLocks noGrp="1"/>
          </p:cNvSpPr>
          <p:nvPr>
            <p:ph type="ftr" idx="11"/>
          </p:nvPr>
        </p:nvSpPr>
        <p:spPr>
          <a:xfrm>
            <a:off x="2491014" y="6308725"/>
            <a:ext cx="4161971"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AND ENGINEERING </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Architecture Diagram</a:t>
            </a:r>
            <a:endParaRPr dirty="0"/>
          </a:p>
        </p:txBody>
      </p:sp>
      <p:sp>
        <p:nvSpPr>
          <p:cNvPr id="162" name="Google Shape;162;p12"/>
          <p:cNvSpPr txBox="1">
            <a:spLocks noGrp="1"/>
          </p:cNvSpPr>
          <p:nvPr>
            <p:ph type="body" idx="1"/>
          </p:nvPr>
        </p:nvSpPr>
        <p:spPr>
          <a:xfrm>
            <a:off x="457200" y="4738367"/>
            <a:ext cx="8229600" cy="1097280"/>
          </a:xfrm>
          <a:prstGeom prst="rect">
            <a:avLst/>
          </a:prstGeom>
          <a:noFill/>
          <a:ln>
            <a:noFill/>
          </a:ln>
        </p:spPr>
        <p:txBody>
          <a:bodyPr spcFirstLastPara="1" wrap="square" lIns="91425" tIns="45700" rIns="91425" bIns="45700" anchor="t" anchorCtr="0">
            <a:noAutofit/>
          </a:bodyPr>
          <a:lstStyle/>
          <a:p>
            <a:pPr marL="0" lvl="0" indent="0" algn="just">
              <a:lnSpc>
                <a:spcPct val="150000"/>
              </a:lnSpc>
              <a:spcBef>
                <a:spcPts val="0"/>
              </a:spcBef>
              <a:buSzPts val="3200"/>
              <a:buNone/>
            </a:pPr>
            <a:r>
              <a:rPr lang="en-IN" sz="1800" dirty="0"/>
              <a:t>The web portal sends applicant details to the </a:t>
            </a:r>
            <a:r>
              <a:rPr lang="en-IN" sz="1800" dirty="0" err="1"/>
              <a:t>FastAPI</a:t>
            </a:r>
            <a:r>
              <a:rPr lang="en-IN" sz="1800" dirty="0"/>
              <a:t> backend, which loads the saved Random Forest model and feature columns, computes EMI and DTI, applies the 45% FOIR rule and returns the decision, risk score and explanation. Applications and users are stored in JSON files. The training pipeline runs offline on the synthetic dataset.</a:t>
            </a:r>
            <a:endParaRPr sz="1800" dirty="0">
              <a:latin typeface="Calibri" panose="020F0502020204030204" pitchFamily="34" charset="0"/>
              <a:ea typeface="Calibri" panose="020F0502020204030204" pitchFamily="34" charset="0"/>
              <a:cs typeface="Calibri" panose="020F0502020204030204" pitchFamily="34" charset="0"/>
            </a:endParaRPr>
          </a:p>
        </p:txBody>
      </p:sp>
      <p:sp>
        <p:nvSpPr>
          <p:cNvPr id="163" name="Google Shape;163;p12"/>
          <p:cNvSpPr txBox="1">
            <a:spLocks noGrp="1"/>
          </p:cNvSpPr>
          <p:nvPr>
            <p:ph type="ftr" idx="11"/>
          </p:nvPr>
        </p:nvSpPr>
        <p:spPr>
          <a:xfrm>
            <a:off x="2590800" y="6397081"/>
            <a:ext cx="3962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AND ENGINEERING </a:t>
            </a:r>
            <a:endParaRPr dirty="0"/>
          </a:p>
        </p:txBody>
      </p:sp>
      <p:pic>
        <p:nvPicPr>
          <p:cNvPr id="3" name="Picture 2">
            <a:extLst>
              <a:ext uri="{FF2B5EF4-FFF2-40B4-BE49-F238E27FC236}">
                <a16:creationId xmlns:a16="http://schemas.microsoft.com/office/drawing/2014/main" id="{03DF48A4-6143-D2E3-3D45-695F8BF48CF2}"/>
              </a:ext>
            </a:extLst>
          </p:cNvPr>
          <p:cNvPicPr>
            <a:picLocks noChangeAspect="1"/>
          </p:cNvPicPr>
          <p:nvPr/>
        </p:nvPicPr>
        <p:blipFill>
          <a:blip r:embed="rId2"/>
          <a:stretch>
            <a:fillRect/>
          </a:stretch>
        </p:blipFill>
        <p:spPr>
          <a:xfrm>
            <a:off x="580571" y="1032040"/>
            <a:ext cx="7982857" cy="370632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Dataset and Feature Engineering</a:t>
            </a:r>
            <a:endParaRPr/>
          </a:p>
        </p:txBody>
      </p:sp>
      <p:sp>
        <p:nvSpPr>
          <p:cNvPr id="134" name="Google Shape;134;p7"/>
          <p:cNvSpPr txBox="1">
            <a:spLocks noGrp="1"/>
          </p:cNvSpPr>
          <p:nvPr>
            <p:ph type="body" idx="1"/>
          </p:nvPr>
        </p:nvSpPr>
        <p:spPr>
          <a:xfrm>
            <a:off x="457200" y="1327151"/>
            <a:ext cx="8229600" cy="5029200"/>
          </a:xfrm>
          <a:prstGeom prst="rect">
            <a:avLst/>
          </a:prstGeom>
          <a:noFill/>
          <a:ln>
            <a:noFill/>
          </a:ln>
        </p:spPr>
        <p:txBody>
          <a:bodyPr spcFirstLastPara="1" wrap="square" lIns="91425" tIns="45700" rIns="91425" bIns="45700" anchor="t" anchorCtr="0">
            <a:noAutofit/>
          </a:bodyPr>
          <a:lstStyle/>
          <a:p>
            <a:pPr lvl="0">
              <a:lnSpc>
                <a:spcPct val="150000"/>
              </a:lnSpc>
            </a:pPr>
            <a:r>
              <a:rPr lang="en-IN" sz="1800" dirty="0"/>
              <a:t>5,000 synthetic records (generated by generate_dataset.py); 3,773 approved and 1,227 rejected.</a:t>
            </a:r>
          </a:p>
          <a:p>
            <a:pPr lvl="0">
              <a:lnSpc>
                <a:spcPct val="150000"/>
              </a:lnSpc>
            </a:pPr>
            <a:r>
              <a:rPr lang="en-IN" sz="1800" dirty="0"/>
              <a:t>Train/test split is 4,000/1,000 (80:20, stratified).</a:t>
            </a:r>
          </a:p>
          <a:p>
            <a:pPr lvl="0">
              <a:lnSpc>
                <a:spcPct val="150000"/>
              </a:lnSpc>
            </a:pPr>
            <a:r>
              <a:rPr lang="en-IN" sz="1800" dirty="0"/>
              <a:t>11 model inputs: gender, married, dependents, education, self-employed, applicant income, co-applicant income, loan amount (₹ thousands), term (months), credit history, property area.</a:t>
            </a:r>
          </a:p>
          <a:p>
            <a:pPr lvl="0">
              <a:lnSpc>
                <a:spcPct val="150000"/>
              </a:lnSpc>
            </a:pPr>
            <a:r>
              <a:rPr lang="en-IN" sz="1800" dirty="0"/>
              <a:t>Pre-processing: fill missing values, label-encode categories, save feature columns and encode maps.</a:t>
            </a:r>
          </a:p>
          <a:p>
            <a:pPr lvl="0">
              <a:lnSpc>
                <a:spcPct val="150000"/>
              </a:lnSpc>
            </a:pPr>
            <a:r>
              <a:rPr lang="en-IN" sz="1800" dirty="0"/>
              <a:t>Replace the engineered-features line with: “Derived at prediction time (not model inputs): EMI, DTI/FOIR, Loan-to-Income.”</a:t>
            </a:r>
          </a:p>
          <a:p>
            <a:pPr lvl="0">
              <a:lnSpc>
                <a:spcPct val="150000"/>
              </a:lnSpc>
            </a:pPr>
            <a:r>
              <a:rPr lang="en-IN" sz="1800" dirty="0"/>
              <a:t>The synthetic-data limitation line stays correct.</a:t>
            </a:r>
          </a:p>
        </p:txBody>
      </p:sp>
      <p:sp>
        <p:nvSpPr>
          <p:cNvPr id="135" name="Google Shape;135;p7"/>
          <p:cNvSpPr txBox="1">
            <a:spLocks noGrp="1"/>
          </p:cNvSpPr>
          <p:nvPr>
            <p:ph type="ftr" idx="11"/>
          </p:nvPr>
        </p:nvSpPr>
        <p:spPr>
          <a:xfrm>
            <a:off x="381000" y="6356351"/>
            <a:ext cx="8305800" cy="27304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Modules and Module Description</a:t>
            </a:r>
            <a:endParaRPr dirty="0"/>
          </a:p>
        </p:txBody>
      </p:sp>
      <p:sp>
        <p:nvSpPr>
          <p:cNvPr id="163" name="Google Shape;163;p12"/>
          <p:cNvSpPr txBox="1">
            <a:spLocks noGrp="1"/>
          </p:cNvSpPr>
          <p:nvPr>
            <p:ph type="ftr" idx="11"/>
          </p:nvPr>
        </p:nvSpPr>
        <p:spPr>
          <a:xfrm>
            <a:off x="2590800" y="6391338"/>
            <a:ext cx="3962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graphicFrame>
        <p:nvGraphicFramePr>
          <p:cNvPr id="164" name="Table 163"/>
          <p:cNvGraphicFramePr>
            <a:graphicFrameLocks noGrp="1"/>
          </p:cNvGraphicFramePr>
          <p:nvPr>
            <p:extLst>
              <p:ext uri="{D42A27DB-BD31-4B8C-83A1-F6EECF244321}">
                <p14:modId xmlns:p14="http://schemas.microsoft.com/office/powerpoint/2010/main" val="2928316911"/>
              </p:ext>
            </p:extLst>
          </p:nvPr>
        </p:nvGraphicFramePr>
        <p:xfrm>
          <a:off x="457200" y="1417638"/>
          <a:ext cx="8229600" cy="4773168"/>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658368">
                <a:tc>
                  <a:txBody>
                    <a:bodyPr/>
                    <a:lstStyle/>
                    <a:p>
                      <a:r>
                        <a:rPr sz="1600" dirty="0"/>
                        <a:t>Module</a:t>
                      </a:r>
                    </a:p>
                  </a:txBody>
                  <a:tcPr/>
                </a:tc>
                <a:tc>
                  <a:txBody>
                    <a:bodyPr/>
                    <a:lstStyle/>
                    <a:p>
                      <a:r>
                        <a:rPr sz="1600"/>
                        <a:t>Description</a:t>
                      </a:r>
                    </a:p>
                  </a:txBody>
                  <a:tcPr/>
                </a:tc>
                <a:extLst>
                  <a:ext uri="{0D108BD9-81ED-4DB2-BD59-A6C34878D82A}">
                    <a16:rowId xmlns:a16="http://schemas.microsoft.com/office/drawing/2014/main" val="10000"/>
                  </a:ext>
                </a:extLst>
              </a:tr>
              <a:tr h="658368">
                <a:tc>
                  <a:txBody>
                    <a:bodyPr/>
                    <a:lstStyle/>
                    <a:p>
                      <a:r>
                        <a:rPr sz="1600"/>
                        <a:t>Data Pre-processing</a:t>
                      </a:r>
                    </a:p>
                  </a:txBody>
                  <a:tcPr/>
                </a:tc>
                <a:tc>
                  <a:txBody>
                    <a:bodyPr/>
                    <a:lstStyle/>
                    <a:p>
                      <a:r>
                        <a:rPr lang="en-IN" sz="1600" dirty="0"/>
                        <a:t>Fills missing values, encodes categorical features, splits data 80:20 (stratified)</a:t>
                      </a:r>
                      <a:endParaRPr sz="1600" dirty="0"/>
                    </a:p>
                  </a:txBody>
                  <a:tcPr/>
                </a:tc>
                <a:extLst>
                  <a:ext uri="{0D108BD9-81ED-4DB2-BD59-A6C34878D82A}">
                    <a16:rowId xmlns:a16="http://schemas.microsoft.com/office/drawing/2014/main" val="10001"/>
                  </a:ext>
                </a:extLst>
              </a:tr>
              <a:tr h="658368">
                <a:tc>
                  <a:txBody>
                    <a:bodyPr/>
                    <a:lstStyle/>
                    <a:p>
                      <a:r>
                        <a:rPr sz="1600"/>
                        <a:t>Feature Engineering</a:t>
                      </a:r>
                    </a:p>
                  </a:txBody>
                  <a:tcPr/>
                </a:tc>
                <a:tc>
                  <a:txBody>
                    <a:bodyPr/>
                    <a:lstStyle/>
                    <a:p>
                      <a:r>
                        <a:rPr lang="en-IN" sz="1600" dirty="0"/>
                        <a:t>Computes EMI (8.5% reducing balance), DTI/FOIR and loan-to-income; applies the 45% FOIR rule</a:t>
                      </a:r>
                      <a:endParaRPr sz="1600" dirty="0"/>
                    </a:p>
                  </a:txBody>
                  <a:tcPr/>
                </a:tc>
                <a:extLst>
                  <a:ext uri="{0D108BD9-81ED-4DB2-BD59-A6C34878D82A}">
                    <a16:rowId xmlns:a16="http://schemas.microsoft.com/office/drawing/2014/main" val="10002"/>
                  </a:ext>
                </a:extLst>
              </a:tr>
              <a:tr h="658368">
                <a:tc>
                  <a:txBody>
                    <a:bodyPr/>
                    <a:lstStyle/>
                    <a:p>
                      <a:r>
                        <a:rPr sz="1600"/>
                        <a:t>Model Training</a:t>
                      </a:r>
                    </a:p>
                  </a:txBody>
                  <a:tcPr/>
                </a:tc>
                <a:tc>
                  <a:txBody>
                    <a:bodyPr/>
                    <a:lstStyle/>
                    <a:p>
                      <a:r>
                        <a:rPr lang="en-IN" sz="1600" dirty="0"/>
                        <a:t>Trains Logistic Regression and Random Forest and saves the best model</a:t>
                      </a:r>
                      <a:endParaRPr sz="1600" dirty="0"/>
                    </a:p>
                  </a:txBody>
                  <a:tcPr/>
                </a:tc>
                <a:extLst>
                  <a:ext uri="{0D108BD9-81ED-4DB2-BD59-A6C34878D82A}">
                    <a16:rowId xmlns:a16="http://schemas.microsoft.com/office/drawing/2014/main" val="10003"/>
                  </a:ext>
                </a:extLst>
              </a:tr>
              <a:tr h="658368">
                <a:tc>
                  <a:txBody>
                    <a:bodyPr/>
                    <a:lstStyle/>
                    <a:p>
                      <a:r>
                        <a:rPr sz="1600"/>
                        <a:t>Evaluation</a:t>
                      </a:r>
                    </a:p>
                  </a:txBody>
                  <a:tcPr/>
                </a:tc>
                <a:tc>
                  <a:txBody>
                    <a:bodyPr/>
                    <a:lstStyle/>
                    <a:p>
                      <a:r>
                        <a:rPr lang="en-IN" sz="1600" dirty="0"/>
                        <a:t>Accuracy, precision, recall, F1, ROC-AUC, confusion matrix, feature importance</a:t>
                      </a:r>
                      <a:endParaRPr sz="1600" dirty="0"/>
                    </a:p>
                  </a:txBody>
                  <a:tcPr/>
                </a:tc>
                <a:extLst>
                  <a:ext uri="{0D108BD9-81ED-4DB2-BD59-A6C34878D82A}">
                    <a16:rowId xmlns:a16="http://schemas.microsoft.com/office/drawing/2014/main" val="10004"/>
                  </a:ext>
                </a:extLst>
              </a:tr>
              <a:tr h="658368">
                <a:tc>
                  <a:txBody>
                    <a:bodyPr/>
                    <a:lstStyle/>
                    <a:p>
                      <a:r>
                        <a:rPr sz="1600"/>
                        <a:t>Backend (FastAPI)</a:t>
                      </a:r>
                    </a:p>
                  </a:txBody>
                  <a:tcPr/>
                </a:tc>
                <a:tc>
                  <a:txBody>
                    <a:bodyPr/>
                    <a:lstStyle/>
                    <a:p>
                      <a:r>
                        <a:rPr lang="en-IN" sz="1600" dirty="0"/>
                        <a:t>Loads the saved model; /predict returns decision, risk score and explanation; /model-performance returns metrics; login and application history</a:t>
                      </a:r>
                      <a:endParaRPr sz="1600" dirty="0"/>
                    </a:p>
                  </a:txBody>
                  <a:tcPr/>
                </a:tc>
                <a:extLst>
                  <a:ext uri="{0D108BD9-81ED-4DB2-BD59-A6C34878D82A}">
                    <a16:rowId xmlns:a16="http://schemas.microsoft.com/office/drawing/2014/main" val="10005"/>
                  </a:ext>
                </a:extLst>
              </a:tr>
              <a:tr h="658368">
                <a:tc>
                  <a:txBody>
                    <a:bodyPr/>
                    <a:lstStyle/>
                    <a:p>
                      <a:r>
                        <a:rPr sz="1600" dirty="0"/>
                        <a:t>Frontend (</a:t>
                      </a:r>
                      <a:r>
                        <a:rPr lang="en-US" sz="1600" dirty="0"/>
                        <a:t>webpage</a:t>
                      </a:r>
                      <a:r>
                        <a:rPr sz="1600" dirty="0"/>
                        <a:t>)</a:t>
                      </a:r>
                    </a:p>
                  </a:txBody>
                  <a:tcPr/>
                </a:tc>
                <a:tc>
                  <a:txBody>
                    <a:bodyPr/>
                    <a:lstStyle/>
                    <a:p>
                      <a:r>
                        <a:rPr lang="en-IN" sz="1600" dirty="0"/>
                        <a:t>Single-page app: Overview, Applications, EMI Planner, Eligibility, Model Performance and more</a:t>
                      </a:r>
                      <a:endParaRPr sz="1600" dirty="0"/>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dirty="0"/>
              <a:t>Algorithm</a:t>
            </a:r>
            <a:endParaRPr dirty="0"/>
          </a:p>
        </p:txBody>
      </p:sp>
      <p:sp>
        <p:nvSpPr>
          <p:cNvPr id="134" name="Google Shape;134;p7"/>
          <p:cNvSpPr txBox="1">
            <a:spLocks noGrp="1"/>
          </p:cNvSpPr>
          <p:nvPr>
            <p:ph type="body" idx="1"/>
          </p:nvPr>
        </p:nvSpPr>
        <p:spPr>
          <a:xfrm>
            <a:off x="625928" y="990600"/>
            <a:ext cx="7815943" cy="5029200"/>
          </a:xfrm>
          <a:prstGeom prst="rect">
            <a:avLst/>
          </a:prstGeom>
          <a:noFill/>
          <a:ln>
            <a:noFill/>
          </a:ln>
        </p:spPr>
        <p:txBody>
          <a:bodyPr spcFirstLastPara="1" wrap="square" lIns="91425" tIns="45700" rIns="91425" bIns="45700" anchor="t" anchorCtr="0">
            <a:noAutofit/>
          </a:bodyPr>
          <a:lstStyle/>
          <a:p>
            <a:pPr>
              <a:lnSpc>
                <a:spcPct val="150000"/>
              </a:lnSpc>
            </a:pPr>
            <a:r>
              <a:rPr lang="en-IN" sz="1800" dirty="0"/>
              <a:t>Machine learning classification with a baseline model, a production model and a rule layer.</a:t>
            </a:r>
          </a:p>
          <a:p>
            <a:pPr lvl="0">
              <a:lnSpc>
                <a:spcPct val="150000"/>
              </a:lnSpc>
            </a:pPr>
            <a:r>
              <a:rPr lang="en-IN" sz="1800" dirty="0"/>
              <a:t>Logistic Regression: a linear baseline trained on standardised features.</a:t>
            </a:r>
          </a:p>
          <a:p>
            <a:pPr lvl="0">
              <a:lnSpc>
                <a:spcPct val="150000"/>
              </a:lnSpc>
            </a:pPr>
            <a:r>
              <a:rPr lang="en-IN" sz="1800" dirty="0"/>
              <a:t>Random Forest: 500 trees (max depth 16, class-balanced) on bootstrap samples with random features; majority vote reduces variance. This is the production model.</a:t>
            </a:r>
          </a:p>
          <a:p>
            <a:pPr lvl="0">
              <a:lnSpc>
                <a:spcPct val="150000"/>
              </a:lnSpc>
            </a:pPr>
            <a:r>
              <a:rPr lang="en-IN" sz="1800" dirty="0"/>
              <a:t>Underwriting rule layer: reject if credit history is 0 or DTI is above 50%; sharply reduce the approval probability when DTI exceeds the 45% FOIR cap; otherwise approve when probability is at least 0.5.</a:t>
            </a:r>
          </a:p>
          <a:p>
            <a:pPr lvl="0">
              <a:lnSpc>
                <a:spcPct val="150000"/>
              </a:lnSpc>
            </a:pPr>
            <a:r>
              <a:rPr lang="en-IN" sz="1800" dirty="0"/>
              <a:t>Output: approval decision, risk score, key factors and explanation shown in the portal.</a:t>
            </a:r>
          </a:p>
          <a:p>
            <a:pPr lvl="0">
              <a:lnSpc>
                <a:spcPct val="150000"/>
              </a:lnSpc>
            </a:pPr>
            <a:r>
              <a:rPr lang="en-IN" sz="1800" dirty="0"/>
              <a:t>Feature importance shows which inputs drive the decision.</a:t>
            </a:r>
          </a:p>
        </p:txBody>
      </p:sp>
      <p:sp>
        <p:nvSpPr>
          <p:cNvPr id="135" name="Google Shape;135;p7"/>
          <p:cNvSpPr txBox="1">
            <a:spLocks noGrp="1"/>
          </p:cNvSpPr>
          <p:nvPr>
            <p:ph type="ftr" idx="11"/>
          </p:nvPr>
        </p:nvSpPr>
        <p:spPr>
          <a:xfrm>
            <a:off x="381000" y="6356351"/>
            <a:ext cx="8305800" cy="27304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Implementation</a:t>
            </a:r>
            <a:endParaRPr/>
          </a:p>
        </p:txBody>
      </p:sp>
      <p:sp>
        <p:nvSpPr>
          <p:cNvPr id="155" name="Google Shape;155;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indent="-139700" algn="just">
              <a:lnSpc>
                <a:spcPct val="150000"/>
              </a:lnSpc>
              <a:spcBef>
                <a:spcPts val="0"/>
              </a:spcBef>
              <a:buSzPts val="3200"/>
              <a:buNone/>
            </a:pPr>
            <a:r>
              <a:rPr lang="en-IN" sz="1800" dirty="0"/>
              <a:t>The system is implemented in Python and JavaScript. generate_dataset.py creates the synthetic data, and train_model.py pre-processes it, trains and compares the models, and saves the model, feature columns, metrics and evaluation plots. A </a:t>
            </a:r>
            <a:r>
              <a:rPr lang="en-IN" sz="1800" dirty="0" err="1"/>
              <a:t>FastAPI</a:t>
            </a:r>
            <a:r>
              <a:rPr lang="en-IN" sz="1800" dirty="0"/>
              <a:t> server (</a:t>
            </a:r>
            <a:r>
              <a:rPr lang="en-IN" sz="1800" dirty="0" err="1"/>
              <a:t>uvicorn</a:t>
            </a:r>
            <a:r>
              <a:rPr lang="en-IN" sz="1800" dirty="0"/>
              <a:t>, port 8000) loads the saved model, serves the /predict and /model-performance endpoints, and also serves the front end. The web portal is a single HTML page with a dashboard, a loan application form, application history, EMI, eligibility and payoff planners, and a Model Performance page. verify_connection.py runs five automated checks (dataset integrity, dataset hash, model concordance, EMI maths and metric match).</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156" name="Google Shape;156;p11"/>
          <p:cNvSpPr txBox="1">
            <a:spLocks noGrp="1"/>
          </p:cNvSpPr>
          <p:nvPr>
            <p:ph type="ftr" idx="11"/>
          </p:nvPr>
        </p:nvSpPr>
        <p:spPr>
          <a:xfrm>
            <a:off x="2309585" y="6308725"/>
            <a:ext cx="4524829"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AND ENGINEERING </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Results and Discussion</a:t>
            </a:r>
            <a:endParaRPr dirty="0"/>
          </a:p>
        </p:txBody>
      </p:sp>
      <p:sp>
        <p:nvSpPr>
          <p:cNvPr id="162" name="Google Shape;162;p12"/>
          <p:cNvSpPr txBox="1">
            <a:spLocks noGrp="1"/>
          </p:cNvSpPr>
          <p:nvPr>
            <p:ph type="body" idx="1"/>
          </p:nvPr>
        </p:nvSpPr>
        <p:spPr>
          <a:xfrm>
            <a:off x="4663440" y="1692434"/>
            <a:ext cx="4023360" cy="4389120"/>
          </a:xfrm>
          <a:prstGeom prst="rect">
            <a:avLst/>
          </a:prstGeom>
          <a:noFill/>
          <a:ln>
            <a:noFill/>
          </a:ln>
        </p:spPr>
        <p:txBody>
          <a:bodyPr spcFirstLastPara="1" wrap="square" lIns="91425" tIns="45700" rIns="91425" bIns="45700" anchor="t" anchorCtr="0">
            <a:normAutofit/>
          </a:bodyPr>
          <a:lstStyle/>
          <a:p>
            <a:pPr lvl="0">
              <a:lnSpc>
                <a:spcPct val="150000"/>
              </a:lnSpc>
            </a:pPr>
            <a:r>
              <a:rPr lang="en-IN" sz="1800" dirty="0"/>
              <a:t>Tested on 1,000 unseen records after training on 4,000.</a:t>
            </a:r>
          </a:p>
          <a:p>
            <a:pPr lvl="0">
              <a:lnSpc>
                <a:spcPct val="150000"/>
              </a:lnSpc>
            </a:pPr>
            <a:r>
              <a:rPr lang="en-IN" sz="1800" dirty="0"/>
              <a:t>High recall (96.16%): only 29 of 755 creditworthy applicants were rejected.</a:t>
            </a:r>
          </a:p>
          <a:p>
            <a:pPr lvl="0">
              <a:lnSpc>
                <a:spcPct val="150000"/>
              </a:lnSpc>
            </a:pPr>
            <a:r>
              <a:rPr lang="en-IN" sz="1800" dirty="0"/>
              <a:t>ROC-AUC 98.32%: the model ranks applicants by risk very well.</a:t>
            </a:r>
          </a:p>
          <a:p>
            <a:pPr lvl="0">
              <a:lnSpc>
                <a:spcPct val="150000"/>
              </a:lnSpc>
            </a:pPr>
            <a:r>
              <a:rPr lang="en-IN" sz="1800" dirty="0"/>
              <a:t>Dataset is synthetic, so real-world performance may differ.</a:t>
            </a:r>
          </a:p>
        </p:txBody>
      </p:sp>
      <p:sp>
        <p:nvSpPr>
          <p:cNvPr id="163" name="Google Shape;163;p12"/>
          <p:cNvSpPr txBox="1">
            <a:spLocks noGrp="1"/>
          </p:cNvSpPr>
          <p:nvPr>
            <p:ph type="ftr" idx="11"/>
          </p:nvPr>
        </p:nvSpPr>
        <p:spPr>
          <a:xfrm>
            <a:off x="2590800" y="6356350"/>
            <a:ext cx="3962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AND ENGINEERING </a:t>
            </a:r>
            <a:endParaRPr dirty="0"/>
          </a:p>
        </p:txBody>
      </p:sp>
      <p:graphicFrame>
        <p:nvGraphicFramePr>
          <p:cNvPr id="164" name="Table 163"/>
          <p:cNvGraphicFramePr>
            <a:graphicFrameLocks noGrp="1"/>
          </p:cNvGraphicFramePr>
          <p:nvPr>
            <p:extLst>
              <p:ext uri="{D42A27DB-BD31-4B8C-83A1-F6EECF244321}">
                <p14:modId xmlns:p14="http://schemas.microsoft.com/office/powerpoint/2010/main" val="3478895240"/>
              </p:ext>
            </p:extLst>
          </p:nvPr>
        </p:nvGraphicFramePr>
        <p:xfrm>
          <a:off x="457200" y="1645920"/>
          <a:ext cx="3931920" cy="338328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548640">
                <a:tc>
                  <a:txBody>
                    <a:bodyPr/>
                    <a:lstStyle/>
                    <a:p>
                      <a:r>
                        <a:rPr sz="1800"/>
                        <a:t>Metric</a:t>
                      </a:r>
                    </a:p>
                  </a:txBody>
                  <a:tcPr/>
                </a:tc>
                <a:tc>
                  <a:txBody>
                    <a:bodyPr/>
                    <a:lstStyle/>
                    <a:p>
                      <a:r>
                        <a:rPr sz="1800"/>
                        <a:t>Production Ensemble</a:t>
                      </a:r>
                    </a:p>
                  </a:txBody>
                  <a:tcPr/>
                </a:tc>
                <a:extLst>
                  <a:ext uri="{0D108BD9-81ED-4DB2-BD59-A6C34878D82A}">
                    <a16:rowId xmlns:a16="http://schemas.microsoft.com/office/drawing/2014/main" val="10000"/>
                  </a:ext>
                </a:extLst>
              </a:tr>
              <a:tr h="548640">
                <a:tc>
                  <a:txBody>
                    <a:bodyPr/>
                    <a:lstStyle/>
                    <a:p>
                      <a:r>
                        <a:rPr sz="1800"/>
                        <a:t>Accuracy</a:t>
                      </a:r>
                    </a:p>
                  </a:txBody>
                  <a:tcPr/>
                </a:tc>
                <a:tc>
                  <a:txBody>
                    <a:bodyPr/>
                    <a:lstStyle/>
                    <a:p>
                      <a:r>
                        <a:rPr sz="1800" dirty="0"/>
                        <a:t>95.</a:t>
                      </a:r>
                      <a:r>
                        <a:rPr lang="en-US" sz="1800" dirty="0"/>
                        <a:t>50</a:t>
                      </a:r>
                      <a:r>
                        <a:rPr sz="1800" dirty="0"/>
                        <a:t>%</a:t>
                      </a:r>
                    </a:p>
                  </a:txBody>
                  <a:tcPr/>
                </a:tc>
                <a:extLst>
                  <a:ext uri="{0D108BD9-81ED-4DB2-BD59-A6C34878D82A}">
                    <a16:rowId xmlns:a16="http://schemas.microsoft.com/office/drawing/2014/main" val="10001"/>
                  </a:ext>
                </a:extLst>
              </a:tr>
              <a:tr h="548640">
                <a:tc>
                  <a:txBody>
                    <a:bodyPr/>
                    <a:lstStyle/>
                    <a:p>
                      <a:r>
                        <a:rPr sz="1800"/>
                        <a:t>Precision</a:t>
                      </a:r>
                    </a:p>
                  </a:txBody>
                  <a:tcPr/>
                </a:tc>
                <a:tc>
                  <a:txBody>
                    <a:bodyPr/>
                    <a:lstStyle/>
                    <a:p>
                      <a:r>
                        <a:rPr sz="1800" dirty="0"/>
                        <a:t>9</a:t>
                      </a:r>
                      <a:r>
                        <a:rPr lang="en-US" sz="1800" dirty="0"/>
                        <a:t>7.84</a:t>
                      </a:r>
                      <a:r>
                        <a:rPr sz="1800" dirty="0"/>
                        <a:t>%</a:t>
                      </a:r>
                    </a:p>
                  </a:txBody>
                  <a:tcPr/>
                </a:tc>
                <a:extLst>
                  <a:ext uri="{0D108BD9-81ED-4DB2-BD59-A6C34878D82A}">
                    <a16:rowId xmlns:a16="http://schemas.microsoft.com/office/drawing/2014/main" val="10002"/>
                  </a:ext>
                </a:extLst>
              </a:tr>
              <a:tr h="548640">
                <a:tc>
                  <a:txBody>
                    <a:bodyPr/>
                    <a:lstStyle/>
                    <a:p>
                      <a:r>
                        <a:rPr sz="1800"/>
                        <a:t>Recall</a:t>
                      </a:r>
                    </a:p>
                  </a:txBody>
                  <a:tcPr/>
                </a:tc>
                <a:tc>
                  <a:txBody>
                    <a:bodyPr/>
                    <a:lstStyle/>
                    <a:p>
                      <a:r>
                        <a:rPr sz="1800" dirty="0"/>
                        <a:t>9</a:t>
                      </a:r>
                      <a:r>
                        <a:rPr lang="en-US" sz="1800" dirty="0"/>
                        <a:t>6.16</a:t>
                      </a:r>
                      <a:r>
                        <a:rPr lang="en-IN" sz="1800" dirty="0"/>
                        <a:t>%</a:t>
                      </a:r>
                      <a:endParaRPr sz="1800" dirty="0"/>
                    </a:p>
                  </a:txBody>
                  <a:tcPr/>
                </a:tc>
                <a:extLst>
                  <a:ext uri="{0D108BD9-81ED-4DB2-BD59-A6C34878D82A}">
                    <a16:rowId xmlns:a16="http://schemas.microsoft.com/office/drawing/2014/main" val="10003"/>
                  </a:ext>
                </a:extLst>
              </a:tr>
              <a:tr h="548640">
                <a:tc>
                  <a:txBody>
                    <a:bodyPr/>
                    <a:lstStyle/>
                    <a:p>
                      <a:r>
                        <a:rPr sz="1800"/>
                        <a:t>F1-score</a:t>
                      </a:r>
                    </a:p>
                  </a:txBody>
                  <a:tcPr/>
                </a:tc>
                <a:tc>
                  <a:txBody>
                    <a:bodyPr/>
                    <a:lstStyle/>
                    <a:p>
                      <a:r>
                        <a:rPr sz="1800" dirty="0"/>
                        <a:t>9</a:t>
                      </a:r>
                      <a:r>
                        <a:rPr lang="en-US" sz="1800" dirty="0"/>
                        <a:t>6.99</a:t>
                      </a:r>
                      <a:r>
                        <a:rPr sz="1800" dirty="0"/>
                        <a:t>%</a:t>
                      </a:r>
                    </a:p>
                  </a:txBody>
                  <a:tcPr/>
                </a:tc>
                <a:extLst>
                  <a:ext uri="{0D108BD9-81ED-4DB2-BD59-A6C34878D82A}">
                    <a16:rowId xmlns:a16="http://schemas.microsoft.com/office/drawing/2014/main" val="10004"/>
                  </a:ext>
                </a:extLst>
              </a:tr>
              <a:tr h="548640">
                <a:tc>
                  <a:txBody>
                    <a:bodyPr/>
                    <a:lstStyle/>
                    <a:p>
                      <a:r>
                        <a:rPr sz="1800"/>
                        <a:t>ROC-AUC</a:t>
                      </a:r>
                    </a:p>
                  </a:txBody>
                  <a:tcPr/>
                </a:tc>
                <a:tc>
                  <a:txBody>
                    <a:bodyPr/>
                    <a:lstStyle/>
                    <a:p>
                      <a:r>
                        <a:rPr sz="1800" dirty="0"/>
                        <a:t>9</a:t>
                      </a:r>
                      <a:r>
                        <a:rPr lang="en-US" sz="1800" dirty="0"/>
                        <a:t>8.32</a:t>
                      </a:r>
                      <a:r>
                        <a:rPr sz="1800" dirty="0"/>
                        <a:t>%</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Results: Model Benchmark</a:t>
            </a:r>
            <a:endParaRPr dirty="0"/>
          </a:p>
        </p:txBody>
      </p:sp>
      <p:sp>
        <p:nvSpPr>
          <p:cNvPr id="163" name="Google Shape;163;p12"/>
          <p:cNvSpPr txBox="1">
            <a:spLocks noGrp="1"/>
          </p:cNvSpPr>
          <p:nvPr>
            <p:ph type="ftr" idx="11"/>
          </p:nvPr>
        </p:nvSpPr>
        <p:spPr>
          <a:xfrm>
            <a:off x="2590800" y="6400799"/>
            <a:ext cx="3962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AND ENGINEERING </a:t>
            </a:r>
            <a:endParaRPr dirty="0"/>
          </a:p>
        </p:txBody>
      </p:sp>
      <p:graphicFrame>
        <p:nvGraphicFramePr>
          <p:cNvPr id="164" name="Chart 163"/>
          <p:cNvGraphicFramePr>
            <a:graphicFrameLocks noGrp="1"/>
          </p:cNvGraphicFramePr>
          <p:nvPr/>
        </p:nvGraphicFramePr>
        <p:xfrm>
          <a:off x="457200" y="1371600"/>
          <a:ext cx="8229600" cy="29260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65" name="Table 164"/>
          <p:cNvGraphicFramePr>
            <a:graphicFrameLocks noGrp="1"/>
          </p:cNvGraphicFramePr>
          <p:nvPr>
            <p:extLst>
              <p:ext uri="{D42A27DB-BD31-4B8C-83A1-F6EECF244321}">
                <p14:modId xmlns:p14="http://schemas.microsoft.com/office/powerpoint/2010/main" val="1131508124"/>
              </p:ext>
            </p:extLst>
          </p:nvPr>
        </p:nvGraphicFramePr>
        <p:xfrm>
          <a:off x="457200" y="4389120"/>
          <a:ext cx="7372985" cy="1048512"/>
        </p:xfrm>
        <a:graphic>
          <a:graphicData uri="http://schemas.openxmlformats.org/drawingml/2006/table">
            <a:tbl>
              <a:tblPr firstRow="1" bandRow="1">
                <a:tableStyleId>{5C22544A-7EE6-4342-B048-85BDC9FD1C3A}</a:tableStyleId>
              </a:tblPr>
              <a:tblGrid>
                <a:gridCol w="1703705">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10896">
                <a:tc>
                  <a:txBody>
                    <a:bodyPr/>
                    <a:lstStyle/>
                    <a:p>
                      <a:endParaRPr lang="en-US" sz="1100" dirty="0"/>
                    </a:p>
                    <a:p>
                      <a:endParaRPr lang="en-US" sz="1100" dirty="0"/>
                    </a:p>
                  </a:txBody>
                  <a:tcPr/>
                </a:tc>
                <a:tc>
                  <a:txBody>
                    <a:bodyPr/>
                    <a:lstStyle/>
                    <a:p>
                      <a:r>
                        <a:rPr sz="1100"/>
                        <a:t>Accuracy</a:t>
                      </a:r>
                    </a:p>
                  </a:txBody>
                  <a:tcPr/>
                </a:tc>
                <a:tc>
                  <a:txBody>
                    <a:bodyPr/>
                    <a:lstStyle/>
                    <a:p>
                      <a:r>
                        <a:rPr sz="1100"/>
                        <a:t>Precision</a:t>
                      </a:r>
                    </a:p>
                  </a:txBody>
                  <a:tcPr/>
                </a:tc>
                <a:tc>
                  <a:txBody>
                    <a:bodyPr/>
                    <a:lstStyle/>
                    <a:p>
                      <a:r>
                        <a:rPr sz="1100"/>
                        <a:t>Recall</a:t>
                      </a:r>
                    </a:p>
                  </a:txBody>
                  <a:tcPr/>
                </a:tc>
                <a:tc>
                  <a:txBody>
                    <a:bodyPr/>
                    <a:lstStyle/>
                    <a:p>
                      <a:r>
                        <a:rPr sz="1100"/>
                        <a:t>F1</a:t>
                      </a:r>
                    </a:p>
                  </a:txBody>
                  <a:tcPr/>
                </a:tc>
                <a:tc>
                  <a:txBody>
                    <a:bodyPr/>
                    <a:lstStyle/>
                    <a:p>
                      <a:r>
                        <a:rPr sz="1100"/>
                        <a:t>ROC-AUC</a:t>
                      </a:r>
                    </a:p>
                  </a:txBody>
                  <a:tcPr/>
                </a:tc>
                <a:extLst>
                  <a:ext uri="{0D108BD9-81ED-4DB2-BD59-A6C34878D82A}">
                    <a16:rowId xmlns:a16="http://schemas.microsoft.com/office/drawing/2014/main" val="10000"/>
                  </a:ext>
                </a:extLst>
              </a:tr>
              <a:tr h="310896">
                <a:tc>
                  <a:txBody>
                    <a:bodyPr/>
                    <a:lstStyle/>
                    <a:p>
                      <a:r>
                        <a:rPr sz="1100" dirty="0"/>
                        <a:t>Ran</a:t>
                      </a:r>
                      <a:r>
                        <a:rPr lang="en-IN" sz="1100" dirty="0" err="1"/>
                        <a:t>dom</a:t>
                      </a:r>
                      <a:r>
                        <a:rPr lang="en-IN" sz="1100" dirty="0"/>
                        <a:t> Forest</a:t>
                      </a:r>
                      <a:endParaRPr sz="1100" dirty="0"/>
                    </a:p>
                  </a:txBody>
                  <a:tcPr/>
                </a:tc>
                <a:tc>
                  <a:txBody>
                    <a:bodyPr/>
                    <a:lstStyle/>
                    <a:p>
                      <a:r>
                        <a:rPr sz="1100" dirty="0"/>
                        <a:t>9</a:t>
                      </a:r>
                      <a:r>
                        <a:rPr lang="en-US" sz="1100" dirty="0"/>
                        <a:t>5.50</a:t>
                      </a:r>
                      <a:r>
                        <a:rPr sz="1100" dirty="0"/>
                        <a:t>%</a:t>
                      </a:r>
                    </a:p>
                  </a:txBody>
                  <a:tcPr/>
                </a:tc>
                <a:tc>
                  <a:txBody>
                    <a:bodyPr/>
                    <a:lstStyle/>
                    <a:p>
                      <a:r>
                        <a:rPr sz="1100" dirty="0"/>
                        <a:t>9</a:t>
                      </a:r>
                      <a:r>
                        <a:rPr lang="en-US" sz="1100" dirty="0"/>
                        <a:t>7</a:t>
                      </a:r>
                      <a:r>
                        <a:rPr sz="1100" dirty="0"/>
                        <a:t>.</a:t>
                      </a:r>
                      <a:r>
                        <a:rPr lang="en-US" sz="1100" dirty="0"/>
                        <a:t>84</a:t>
                      </a:r>
                      <a:r>
                        <a:rPr sz="1100" dirty="0"/>
                        <a:t>%</a:t>
                      </a:r>
                    </a:p>
                  </a:txBody>
                  <a:tcPr/>
                </a:tc>
                <a:tc>
                  <a:txBody>
                    <a:bodyPr/>
                    <a:lstStyle/>
                    <a:p>
                      <a:r>
                        <a:rPr sz="1100" dirty="0"/>
                        <a:t>9</a:t>
                      </a:r>
                      <a:r>
                        <a:rPr lang="en-US" sz="1100" dirty="0"/>
                        <a:t>6</a:t>
                      </a:r>
                      <a:r>
                        <a:rPr sz="1100" dirty="0"/>
                        <a:t>.</a:t>
                      </a:r>
                      <a:r>
                        <a:rPr lang="en-US" sz="1100" dirty="0"/>
                        <a:t>16</a:t>
                      </a:r>
                      <a:r>
                        <a:rPr sz="1100" dirty="0"/>
                        <a:t>%</a:t>
                      </a:r>
                    </a:p>
                  </a:txBody>
                  <a:tcPr/>
                </a:tc>
                <a:tc>
                  <a:txBody>
                    <a:bodyPr/>
                    <a:lstStyle/>
                    <a:p>
                      <a:r>
                        <a:rPr sz="1100" dirty="0"/>
                        <a:t>96.</a:t>
                      </a:r>
                      <a:r>
                        <a:rPr lang="en-US" sz="1100" dirty="0"/>
                        <a:t>99</a:t>
                      </a:r>
                      <a:r>
                        <a:rPr sz="1100" dirty="0"/>
                        <a:t>%</a:t>
                      </a:r>
                    </a:p>
                  </a:txBody>
                  <a:tcPr/>
                </a:tc>
                <a:tc>
                  <a:txBody>
                    <a:bodyPr/>
                    <a:lstStyle/>
                    <a:p>
                      <a:r>
                        <a:rPr sz="1100" dirty="0"/>
                        <a:t>98.3</a:t>
                      </a:r>
                      <a:r>
                        <a:rPr lang="en-US" sz="1100" dirty="0"/>
                        <a:t>2</a:t>
                      </a:r>
                      <a:r>
                        <a:rPr sz="1100" dirty="0"/>
                        <a:t>%</a:t>
                      </a:r>
                    </a:p>
                  </a:txBody>
                  <a:tcPr/>
                </a:tc>
                <a:extLst>
                  <a:ext uri="{0D108BD9-81ED-4DB2-BD59-A6C34878D82A}">
                    <a16:rowId xmlns:a16="http://schemas.microsoft.com/office/drawing/2014/main" val="10001"/>
                  </a:ext>
                </a:extLst>
              </a:tr>
              <a:tr h="310896">
                <a:tc>
                  <a:txBody>
                    <a:bodyPr/>
                    <a:lstStyle/>
                    <a:p>
                      <a:r>
                        <a:rPr lang="en-US" sz="1100" dirty="0"/>
                        <a:t>Logistic regression</a:t>
                      </a:r>
                      <a:endParaRPr sz="1100" dirty="0"/>
                    </a:p>
                  </a:txBody>
                  <a:tcPr/>
                </a:tc>
                <a:tc>
                  <a:txBody>
                    <a:bodyPr/>
                    <a:lstStyle/>
                    <a:p>
                      <a:r>
                        <a:rPr sz="1100" dirty="0"/>
                        <a:t>9</a:t>
                      </a:r>
                      <a:r>
                        <a:rPr lang="en-US" sz="1100" dirty="0"/>
                        <a:t>4.00</a:t>
                      </a:r>
                      <a:r>
                        <a:rPr sz="1100" dirty="0"/>
                        <a:t>%</a:t>
                      </a:r>
                    </a:p>
                  </a:txBody>
                  <a:tcPr/>
                </a:tc>
                <a:tc>
                  <a:txBody>
                    <a:bodyPr/>
                    <a:lstStyle/>
                    <a:p>
                      <a:r>
                        <a:rPr sz="1100" dirty="0"/>
                        <a:t>9</a:t>
                      </a:r>
                      <a:r>
                        <a:rPr lang="en-US" sz="1100" dirty="0"/>
                        <a:t>8.33</a:t>
                      </a:r>
                      <a:r>
                        <a:rPr sz="1100" dirty="0"/>
                        <a:t>%</a:t>
                      </a:r>
                    </a:p>
                  </a:txBody>
                  <a:tcPr/>
                </a:tc>
                <a:tc>
                  <a:txBody>
                    <a:bodyPr/>
                    <a:lstStyle/>
                    <a:p>
                      <a:r>
                        <a:rPr sz="1100" dirty="0"/>
                        <a:t>9</a:t>
                      </a:r>
                      <a:r>
                        <a:rPr lang="en-US" sz="1100" dirty="0"/>
                        <a:t>3.64</a:t>
                      </a:r>
                      <a:r>
                        <a:rPr sz="1100" dirty="0"/>
                        <a:t>%</a:t>
                      </a:r>
                    </a:p>
                  </a:txBody>
                  <a:tcPr/>
                </a:tc>
                <a:tc>
                  <a:txBody>
                    <a:bodyPr/>
                    <a:lstStyle/>
                    <a:p>
                      <a:r>
                        <a:rPr sz="1100" dirty="0"/>
                        <a:t>95</a:t>
                      </a:r>
                      <a:r>
                        <a:rPr lang="en-US" sz="1100" dirty="0"/>
                        <a:t>.93</a:t>
                      </a:r>
                      <a:r>
                        <a:rPr sz="1100" dirty="0"/>
                        <a:t>%</a:t>
                      </a:r>
                    </a:p>
                  </a:txBody>
                  <a:tcPr/>
                </a:tc>
                <a:tc>
                  <a:txBody>
                    <a:bodyPr/>
                    <a:lstStyle/>
                    <a:p>
                      <a:r>
                        <a:rPr sz="1100" dirty="0"/>
                        <a:t>9</a:t>
                      </a:r>
                      <a:r>
                        <a:rPr lang="en-US" sz="1100" dirty="0"/>
                        <a:t>8.14</a:t>
                      </a:r>
                      <a:r>
                        <a:rPr sz="1100" dirty="0"/>
                        <a:t>%</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Results: Baseline vs Ensemble</a:t>
            </a:r>
            <a:endParaRPr dirty="0"/>
          </a:p>
        </p:txBody>
      </p:sp>
      <p:sp>
        <p:nvSpPr>
          <p:cNvPr id="162" name="Google Shape;162;p12"/>
          <p:cNvSpPr txBox="1">
            <a:spLocks noGrp="1"/>
          </p:cNvSpPr>
          <p:nvPr>
            <p:ph type="body" idx="1"/>
          </p:nvPr>
        </p:nvSpPr>
        <p:spPr>
          <a:xfrm>
            <a:off x="457200" y="4663440"/>
            <a:ext cx="8229600" cy="1600200"/>
          </a:xfrm>
          <a:prstGeom prst="rect">
            <a:avLst/>
          </a:prstGeom>
          <a:noFill/>
          <a:ln>
            <a:noFill/>
          </a:ln>
        </p:spPr>
        <p:txBody>
          <a:bodyPr spcFirstLastPara="1" wrap="square" lIns="91425" tIns="45700" rIns="91425" bIns="45700" anchor="t" anchorCtr="0">
            <a:noAutofit/>
          </a:bodyPr>
          <a:lstStyle/>
          <a:p>
            <a:pPr lvl="0"/>
            <a:r>
              <a:rPr lang="en-IN" sz="1800" dirty="0"/>
              <a:t>Random Forest gains over Logistic Regression: +1.50 accuracy, +2.52 recall, +1.06 F1 and +0.18 ROC-AUC.</a:t>
            </a:r>
          </a:p>
          <a:p>
            <a:pPr lvl="0"/>
            <a:r>
              <a:rPr lang="en-IN" sz="1800" dirty="0"/>
              <a:t>Precision is 0.49 lower (97.84% vs 98.33%).</a:t>
            </a:r>
          </a:p>
          <a:p>
            <a:pPr lvl="0"/>
            <a:r>
              <a:rPr lang="en-IN" sz="1800" dirty="0"/>
              <a:t>Random Forest is chosen because it misses fewer creditworthy applicants and has the better F1.</a:t>
            </a:r>
          </a:p>
        </p:txBody>
      </p:sp>
      <p:sp>
        <p:nvSpPr>
          <p:cNvPr id="163" name="Google Shape;163;p12"/>
          <p:cNvSpPr txBox="1">
            <a:spLocks noGrp="1"/>
          </p:cNvSpPr>
          <p:nvPr>
            <p:ph type="ftr" idx="11"/>
          </p:nvPr>
        </p:nvSpPr>
        <p:spPr>
          <a:xfrm>
            <a:off x="2590800" y="6355080"/>
            <a:ext cx="3962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graphicFrame>
        <p:nvGraphicFramePr>
          <p:cNvPr id="164" name="Chart 163"/>
          <p:cNvGraphicFramePr>
            <a:graphicFrameLocks noGrp="1"/>
          </p:cNvGraphicFramePr>
          <p:nvPr/>
        </p:nvGraphicFramePr>
        <p:xfrm>
          <a:off x="457200" y="1371600"/>
          <a:ext cx="8229600" cy="320040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Results: Confusion Matrix</a:t>
            </a:r>
            <a:endParaRPr dirty="0"/>
          </a:p>
        </p:txBody>
      </p:sp>
      <p:sp>
        <p:nvSpPr>
          <p:cNvPr id="162" name="Google Shape;162;p12"/>
          <p:cNvSpPr txBox="1">
            <a:spLocks noGrp="1"/>
          </p:cNvSpPr>
          <p:nvPr>
            <p:ph type="body" idx="1"/>
          </p:nvPr>
        </p:nvSpPr>
        <p:spPr>
          <a:xfrm>
            <a:off x="457200" y="5120640"/>
            <a:ext cx="8229600" cy="1097280"/>
          </a:xfrm>
          <a:prstGeom prst="rect">
            <a:avLst/>
          </a:prstGeom>
          <a:noFill/>
          <a:ln>
            <a:noFill/>
          </a:ln>
        </p:spPr>
        <p:txBody>
          <a:bodyPr spcFirstLastPara="1" wrap="square" lIns="91425" tIns="45700" rIns="91425" bIns="45700" anchor="t" anchorCtr="0">
            <a:normAutofit/>
          </a:bodyPr>
          <a:lstStyle/>
          <a:p>
            <a:pPr marL="342900" lvl="0">
              <a:spcBef>
                <a:spcPts val="0"/>
              </a:spcBef>
              <a:buSzPts val="3200"/>
            </a:pPr>
            <a:r>
              <a:rPr lang="en-IN" sz="1800" dirty="0"/>
              <a:t>726 true approvals, 229 true rejections, 16 false approvals and 29 false rejections (n = 1,000). Most errors are false rejections (29 vs 16), so some good applicants are turned away, which the 45% FOIR rule and manual review can help catch.</a:t>
            </a:r>
            <a:endParaRPr sz="1800" dirty="0">
              <a:latin typeface="Calibri" panose="020F0502020204030204" pitchFamily="34" charset="0"/>
              <a:ea typeface="Calibri" panose="020F0502020204030204" pitchFamily="34" charset="0"/>
              <a:cs typeface="Calibri" panose="020F0502020204030204" pitchFamily="34" charset="0"/>
            </a:endParaRPr>
          </a:p>
        </p:txBody>
      </p:sp>
      <p:sp>
        <p:nvSpPr>
          <p:cNvPr id="163" name="Google Shape;163;p12"/>
          <p:cNvSpPr txBox="1">
            <a:spLocks noGrp="1"/>
          </p:cNvSpPr>
          <p:nvPr>
            <p:ph type="ftr" idx="11"/>
          </p:nvPr>
        </p:nvSpPr>
        <p:spPr>
          <a:xfrm>
            <a:off x="2590800" y="6361299"/>
            <a:ext cx="3962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AND ENGINEERING </a:t>
            </a:r>
            <a:endParaRPr dirty="0"/>
          </a:p>
        </p:txBody>
      </p:sp>
      <p:graphicFrame>
        <p:nvGraphicFramePr>
          <p:cNvPr id="165" name="Table 164"/>
          <p:cNvGraphicFramePr>
            <a:graphicFrameLocks noGrp="1"/>
          </p:cNvGraphicFramePr>
          <p:nvPr>
            <p:extLst>
              <p:ext uri="{D42A27DB-BD31-4B8C-83A1-F6EECF244321}">
                <p14:modId xmlns:p14="http://schemas.microsoft.com/office/powerpoint/2010/main" val="1848553152"/>
              </p:ext>
            </p:extLst>
          </p:nvPr>
        </p:nvGraphicFramePr>
        <p:xfrm>
          <a:off x="4480560" y="1645920"/>
          <a:ext cx="4297680" cy="27432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457200">
                <a:tc>
                  <a:txBody>
                    <a:bodyPr/>
                    <a:lstStyle/>
                    <a:p>
                      <a:r>
                        <a:rPr sz="1500"/>
                        <a:t>Measure</a:t>
                      </a:r>
                    </a:p>
                  </a:txBody>
                  <a:tcPr/>
                </a:tc>
                <a:tc>
                  <a:txBody>
                    <a:bodyPr/>
                    <a:lstStyle/>
                    <a:p>
                      <a:r>
                        <a:rPr sz="1500"/>
                        <a:t>Value</a:t>
                      </a:r>
                    </a:p>
                  </a:txBody>
                  <a:tcPr/>
                </a:tc>
                <a:extLst>
                  <a:ext uri="{0D108BD9-81ED-4DB2-BD59-A6C34878D82A}">
                    <a16:rowId xmlns:a16="http://schemas.microsoft.com/office/drawing/2014/main" val="10000"/>
                  </a:ext>
                </a:extLst>
              </a:tr>
              <a:tr h="457200">
                <a:tc>
                  <a:txBody>
                    <a:bodyPr/>
                    <a:lstStyle/>
                    <a:p>
                      <a:r>
                        <a:rPr sz="1500"/>
                        <a:t>Sensitivity (recall)</a:t>
                      </a:r>
                    </a:p>
                  </a:txBody>
                  <a:tcPr/>
                </a:tc>
                <a:tc>
                  <a:txBody>
                    <a:bodyPr/>
                    <a:lstStyle/>
                    <a:p>
                      <a:r>
                        <a:rPr sz="1500" dirty="0"/>
                        <a:t>9</a:t>
                      </a:r>
                      <a:r>
                        <a:rPr lang="en-US" sz="1500" dirty="0"/>
                        <a:t>6</a:t>
                      </a:r>
                      <a:r>
                        <a:rPr sz="1500" dirty="0"/>
                        <a:t>.</a:t>
                      </a:r>
                      <a:r>
                        <a:rPr lang="en-US" sz="1500" dirty="0"/>
                        <a:t>16</a:t>
                      </a:r>
                      <a:r>
                        <a:rPr sz="1500" dirty="0"/>
                        <a:t>%</a:t>
                      </a:r>
                    </a:p>
                  </a:txBody>
                  <a:tcPr/>
                </a:tc>
                <a:extLst>
                  <a:ext uri="{0D108BD9-81ED-4DB2-BD59-A6C34878D82A}">
                    <a16:rowId xmlns:a16="http://schemas.microsoft.com/office/drawing/2014/main" val="10001"/>
                  </a:ext>
                </a:extLst>
              </a:tr>
              <a:tr h="457200">
                <a:tc>
                  <a:txBody>
                    <a:bodyPr/>
                    <a:lstStyle/>
                    <a:p>
                      <a:r>
                        <a:rPr sz="1500"/>
                        <a:t>Specificity</a:t>
                      </a:r>
                    </a:p>
                  </a:txBody>
                  <a:tcPr/>
                </a:tc>
                <a:tc>
                  <a:txBody>
                    <a:bodyPr/>
                    <a:lstStyle/>
                    <a:p>
                      <a:r>
                        <a:rPr sz="1500" dirty="0"/>
                        <a:t>9</a:t>
                      </a:r>
                      <a:r>
                        <a:rPr lang="en-US" sz="1500" dirty="0"/>
                        <a:t>3.47</a:t>
                      </a:r>
                      <a:r>
                        <a:rPr sz="1500" dirty="0"/>
                        <a:t>%</a:t>
                      </a:r>
                    </a:p>
                  </a:txBody>
                  <a:tcPr/>
                </a:tc>
                <a:extLst>
                  <a:ext uri="{0D108BD9-81ED-4DB2-BD59-A6C34878D82A}">
                    <a16:rowId xmlns:a16="http://schemas.microsoft.com/office/drawing/2014/main" val="10002"/>
                  </a:ext>
                </a:extLst>
              </a:tr>
              <a:tr h="457200">
                <a:tc>
                  <a:txBody>
                    <a:bodyPr/>
                    <a:lstStyle/>
                    <a:p>
                      <a:r>
                        <a:rPr sz="1500"/>
                        <a:t>False-positive rate</a:t>
                      </a:r>
                    </a:p>
                  </a:txBody>
                  <a:tcPr/>
                </a:tc>
                <a:tc>
                  <a:txBody>
                    <a:bodyPr/>
                    <a:lstStyle/>
                    <a:p>
                      <a:r>
                        <a:rPr lang="en-US" sz="1500" dirty="0"/>
                        <a:t>6.53</a:t>
                      </a:r>
                      <a:r>
                        <a:rPr sz="1500" dirty="0"/>
                        <a:t>%</a:t>
                      </a:r>
                    </a:p>
                  </a:txBody>
                  <a:tcPr/>
                </a:tc>
                <a:extLst>
                  <a:ext uri="{0D108BD9-81ED-4DB2-BD59-A6C34878D82A}">
                    <a16:rowId xmlns:a16="http://schemas.microsoft.com/office/drawing/2014/main" val="10003"/>
                  </a:ext>
                </a:extLst>
              </a:tr>
              <a:tr h="457200">
                <a:tc>
                  <a:txBody>
                    <a:bodyPr/>
                    <a:lstStyle/>
                    <a:p>
                      <a:r>
                        <a:rPr sz="1500"/>
                        <a:t>False-negative rate</a:t>
                      </a:r>
                    </a:p>
                  </a:txBody>
                  <a:tcPr/>
                </a:tc>
                <a:tc>
                  <a:txBody>
                    <a:bodyPr/>
                    <a:lstStyle/>
                    <a:p>
                      <a:r>
                        <a:rPr lang="en-US" sz="1500" dirty="0"/>
                        <a:t>3.84</a:t>
                      </a:r>
                      <a:r>
                        <a:rPr sz="1500" dirty="0"/>
                        <a:t>%</a:t>
                      </a:r>
                    </a:p>
                  </a:txBody>
                  <a:tcPr/>
                </a:tc>
                <a:extLst>
                  <a:ext uri="{0D108BD9-81ED-4DB2-BD59-A6C34878D82A}">
                    <a16:rowId xmlns:a16="http://schemas.microsoft.com/office/drawing/2014/main" val="10004"/>
                  </a:ext>
                </a:extLst>
              </a:tr>
              <a:tr h="457200">
                <a:tc>
                  <a:txBody>
                    <a:bodyPr/>
                    <a:lstStyle/>
                    <a:p>
                      <a:r>
                        <a:rPr sz="1500"/>
                        <a:t>Neg. predictive value</a:t>
                      </a:r>
                    </a:p>
                  </a:txBody>
                  <a:tcPr/>
                </a:tc>
                <a:tc>
                  <a:txBody>
                    <a:bodyPr/>
                    <a:lstStyle/>
                    <a:p>
                      <a:r>
                        <a:rPr lang="en-US" sz="1500" dirty="0"/>
                        <a:t>88.76</a:t>
                      </a:r>
                      <a:r>
                        <a:rPr sz="1500" dirty="0"/>
                        <a:t>%</a:t>
                      </a:r>
                    </a:p>
                  </a:txBody>
                  <a:tcPr/>
                </a:tc>
                <a:extLst>
                  <a:ext uri="{0D108BD9-81ED-4DB2-BD59-A6C34878D82A}">
                    <a16:rowId xmlns:a16="http://schemas.microsoft.com/office/drawing/2014/main" val="10005"/>
                  </a:ext>
                </a:extLst>
              </a:tr>
            </a:tbl>
          </a:graphicData>
        </a:graphic>
      </p:graphicFrame>
      <p:pic>
        <p:nvPicPr>
          <p:cNvPr id="3" name="Picture 2">
            <a:extLst>
              <a:ext uri="{FF2B5EF4-FFF2-40B4-BE49-F238E27FC236}">
                <a16:creationId xmlns:a16="http://schemas.microsoft.com/office/drawing/2014/main" id="{63BED932-A59C-73C0-84AE-D71D59D46BA1}"/>
              </a:ext>
            </a:extLst>
          </p:cNvPr>
          <p:cNvPicPr>
            <a:picLocks noChangeAspect="1"/>
          </p:cNvPicPr>
          <p:nvPr/>
        </p:nvPicPr>
        <p:blipFill>
          <a:blip r:embed="rId2"/>
          <a:stretch>
            <a:fillRect/>
          </a:stretch>
        </p:blipFill>
        <p:spPr>
          <a:xfrm>
            <a:off x="358503" y="1325880"/>
            <a:ext cx="3876261" cy="3429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Results: Feature Importance</a:t>
            </a:r>
            <a:endParaRPr dirty="0"/>
          </a:p>
        </p:txBody>
      </p:sp>
      <p:sp>
        <p:nvSpPr>
          <p:cNvPr id="162" name="Google Shape;162;p12"/>
          <p:cNvSpPr txBox="1">
            <a:spLocks noGrp="1"/>
          </p:cNvSpPr>
          <p:nvPr>
            <p:ph type="body" idx="1"/>
          </p:nvPr>
        </p:nvSpPr>
        <p:spPr>
          <a:xfrm>
            <a:off x="5852160" y="1554480"/>
            <a:ext cx="2926080" cy="4572000"/>
          </a:xfrm>
          <a:prstGeom prst="rect">
            <a:avLst/>
          </a:prstGeom>
          <a:noFill/>
          <a:ln>
            <a:noFill/>
          </a:ln>
        </p:spPr>
        <p:txBody>
          <a:bodyPr spcFirstLastPara="1" wrap="square" lIns="91425" tIns="45700" rIns="91425" bIns="45700" anchor="t" anchorCtr="0">
            <a:normAutofit/>
          </a:bodyPr>
          <a:lstStyle/>
          <a:p>
            <a:pPr lvl="0"/>
            <a:r>
              <a:rPr lang="en-IN" sz="1800" dirty="0" err="1"/>
              <a:t>Credit_History</a:t>
            </a:r>
            <a:r>
              <a:rPr lang="en-IN" sz="1800" dirty="0"/>
              <a:t> is the strongest predictor (0.5511).</a:t>
            </a:r>
          </a:p>
          <a:p>
            <a:pPr lvl="0"/>
            <a:r>
              <a:rPr lang="en-IN" sz="1800" dirty="0" err="1"/>
              <a:t>ApplicantIncome</a:t>
            </a:r>
            <a:r>
              <a:rPr lang="en-IN" sz="1800" dirty="0"/>
              <a:t> (0.1825), </a:t>
            </a:r>
            <a:r>
              <a:rPr lang="en-IN" sz="1800" dirty="0" err="1"/>
              <a:t>LoanAmount</a:t>
            </a:r>
            <a:r>
              <a:rPr lang="en-IN" sz="1800" dirty="0"/>
              <a:t> (0.0899) and </a:t>
            </a:r>
            <a:r>
              <a:rPr lang="en-IN" sz="1800" dirty="0" err="1"/>
              <a:t>CoapplicantIncome</a:t>
            </a:r>
            <a:r>
              <a:rPr lang="en-IN" sz="1800" dirty="0"/>
              <a:t> (0.0858) follow.</a:t>
            </a:r>
          </a:p>
          <a:p>
            <a:pPr lvl="0"/>
            <a:r>
              <a:rPr lang="en-IN" sz="1800" dirty="0" err="1"/>
              <a:t>Credit_History</a:t>
            </a:r>
            <a:r>
              <a:rPr lang="en-IN" sz="1800" dirty="0"/>
              <a:t> + </a:t>
            </a:r>
            <a:r>
              <a:rPr lang="en-IN" sz="1800" dirty="0" err="1"/>
              <a:t>ApplicantIncome</a:t>
            </a:r>
            <a:r>
              <a:rPr lang="en-IN" sz="1800" dirty="0"/>
              <a:t> ≈ 73% of total importance.</a:t>
            </a:r>
          </a:p>
          <a:p>
            <a:pPr lvl="0"/>
            <a:r>
              <a:rPr lang="en-IN" sz="1800" dirty="0"/>
              <a:t>Gender and </a:t>
            </a:r>
            <a:r>
              <a:rPr lang="en-IN" sz="1800" dirty="0" err="1"/>
              <a:t>Self_Employed</a:t>
            </a:r>
            <a:r>
              <a:rPr lang="en-IN" sz="1800" dirty="0"/>
              <a:t> are below 0.006.</a:t>
            </a:r>
          </a:p>
        </p:txBody>
      </p:sp>
      <p:sp>
        <p:nvSpPr>
          <p:cNvPr id="163" name="Google Shape;163;p12"/>
          <p:cNvSpPr txBox="1">
            <a:spLocks noGrp="1"/>
          </p:cNvSpPr>
          <p:nvPr>
            <p:ph type="ftr" idx="11"/>
          </p:nvPr>
        </p:nvSpPr>
        <p:spPr>
          <a:xfrm>
            <a:off x="2590800" y="6354762"/>
            <a:ext cx="3962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pic>
        <p:nvPicPr>
          <p:cNvPr id="3" name="Picture 2">
            <a:extLst>
              <a:ext uri="{FF2B5EF4-FFF2-40B4-BE49-F238E27FC236}">
                <a16:creationId xmlns:a16="http://schemas.microsoft.com/office/drawing/2014/main" id="{DB66EEEF-4D73-4C62-60DD-1B236D90E70A}"/>
              </a:ext>
            </a:extLst>
          </p:cNvPr>
          <p:cNvPicPr>
            <a:picLocks noChangeAspect="1"/>
          </p:cNvPicPr>
          <p:nvPr/>
        </p:nvPicPr>
        <p:blipFill>
          <a:blip r:embed="rId2"/>
          <a:srcRect r="2386"/>
          <a:stretch>
            <a:fillRect/>
          </a:stretch>
        </p:blipFill>
        <p:spPr>
          <a:xfrm>
            <a:off x="159657" y="1326198"/>
            <a:ext cx="5852160" cy="444804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dirty="0"/>
              <a:t>Comparison with Existing Work</a:t>
            </a:r>
            <a:endParaRPr dirty="0"/>
          </a:p>
        </p:txBody>
      </p:sp>
      <p:sp>
        <p:nvSpPr>
          <p:cNvPr id="163" name="Google Shape;163;p12"/>
          <p:cNvSpPr txBox="1">
            <a:spLocks noGrp="1"/>
          </p:cNvSpPr>
          <p:nvPr>
            <p:ph type="ftr" idx="11"/>
          </p:nvPr>
        </p:nvSpPr>
        <p:spPr>
          <a:xfrm>
            <a:off x="2590800" y="6400799"/>
            <a:ext cx="39624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AND ENGINEERING </a:t>
            </a:r>
            <a:endParaRPr dirty="0"/>
          </a:p>
        </p:txBody>
      </p:sp>
      <p:graphicFrame>
        <p:nvGraphicFramePr>
          <p:cNvPr id="164" name="Table 163"/>
          <p:cNvGraphicFramePr>
            <a:graphicFrameLocks noGrp="1"/>
          </p:cNvGraphicFramePr>
          <p:nvPr>
            <p:extLst>
              <p:ext uri="{D42A27DB-BD31-4B8C-83A1-F6EECF244321}">
                <p14:modId xmlns:p14="http://schemas.microsoft.com/office/powerpoint/2010/main" val="1679349768"/>
              </p:ext>
            </p:extLst>
          </p:nvPr>
        </p:nvGraphicFramePr>
        <p:xfrm>
          <a:off x="457200" y="1554480"/>
          <a:ext cx="8229600" cy="4480560"/>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640080">
                <a:tc>
                  <a:txBody>
                    <a:bodyPr/>
                    <a:lstStyle/>
                    <a:p>
                      <a:r>
                        <a:rPr sz="1400"/>
                        <a:t>Aspect</a:t>
                      </a:r>
                    </a:p>
                  </a:txBody>
                  <a:tcPr/>
                </a:tc>
                <a:tc>
                  <a:txBody>
                    <a:bodyPr/>
                    <a:lstStyle/>
                    <a:p>
                      <a:r>
                        <a:rPr sz="1400"/>
                        <a:t>Existing (manual / Streamlit prototype)</a:t>
                      </a:r>
                    </a:p>
                  </a:txBody>
                  <a:tcPr/>
                </a:tc>
                <a:tc>
                  <a:txBody>
                    <a:bodyPr/>
                    <a:lstStyle/>
                    <a:p>
                      <a:r>
                        <a:rPr sz="1400"/>
                        <a:t>Proposed system</a:t>
                      </a:r>
                    </a:p>
                  </a:txBody>
                  <a:tcPr/>
                </a:tc>
                <a:extLst>
                  <a:ext uri="{0D108BD9-81ED-4DB2-BD59-A6C34878D82A}">
                    <a16:rowId xmlns:a16="http://schemas.microsoft.com/office/drawing/2014/main" val="10000"/>
                  </a:ext>
                </a:extLst>
              </a:tr>
              <a:tr h="640080">
                <a:tc>
                  <a:txBody>
                    <a:bodyPr/>
                    <a:lstStyle/>
                    <a:p>
                      <a:r>
                        <a:rPr sz="1400"/>
                        <a:t>Decision</a:t>
                      </a:r>
                    </a:p>
                  </a:txBody>
                  <a:tcPr/>
                </a:tc>
                <a:tc>
                  <a:txBody>
                    <a:bodyPr/>
                    <a:lstStyle/>
                    <a:p>
                      <a:r>
                        <a:rPr sz="1400"/>
                        <a:t>Manual review by an officer; single script</a:t>
                      </a:r>
                    </a:p>
                  </a:txBody>
                  <a:tcPr/>
                </a:tc>
                <a:tc>
                  <a:txBody>
                    <a:bodyPr/>
                    <a:lstStyle/>
                    <a:p>
                      <a:r>
                        <a:rPr lang="en-IN" dirty="0"/>
                        <a:t>Automated Random Forest prediction plus 45% FOIR rule</a:t>
                      </a:r>
                      <a:endParaRPr sz="1400" dirty="0"/>
                    </a:p>
                  </a:txBody>
                  <a:tcPr/>
                </a:tc>
                <a:extLst>
                  <a:ext uri="{0D108BD9-81ED-4DB2-BD59-A6C34878D82A}">
                    <a16:rowId xmlns:a16="http://schemas.microsoft.com/office/drawing/2014/main" val="10001"/>
                  </a:ext>
                </a:extLst>
              </a:tr>
              <a:tr h="640080">
                <a:tc>
                  <a:txBody>
                    <a:bodyPr/>
                    <a:lstStyle/>
                    <a:p>
                      <a:r>
                        <a:rPr sz="1400"/>
                        <a:t>Risk evidence</a:t>
                      </a:r>
                    </a:p>
                  </a:txBody>
                  <a:tcPr/>
                </a:tc>
                <a:tc>
                  <a:txBody>
                    <a:bodyPr/>
                    <a:lstStyle/>
                    <a:p>
                      <a:r>
                        <a:rPr sz="1400"/>
                        <a:t>Subjective, no measurable score</a:t>
                      </a:r>
                    </a:p>
                  </a:txBody>
                  <a:tcPr/>
                </a:tc>
                <a:tc>
                  <a:txBody>
                    <a:bodyPr/>
                    <a:lstStyle/>
                    <a:p>
                      <a:r>
                        <a:rPr lang="en-IN" dirty="0"/>
                        <a:t>98.32% ROC-AUC, feature importance, risk score and explanation</a:t>
                      </a:r>
                      <a:endParaRPr sz="1400" dirty="0"/>
                    </a:p>
                  </a:txBody>
                  <a:tcPr/>
                </a:tc>
                <a:extLst>
                  <a:ext uri="{0D108BD9-81ED-4DB2-BD59-A6C34878D82A}">
                    <a16:rowId xmlns:a16="http://schemas.microsoft.com/office/drawing/2014/main" val="10002"/>
                  </a:ext>
                </a:extLst>
              </a:tr>
              <a:tr h="640080">
                <a:tc>
                  <a:txBody>
                    <a:bodyPr/>
                    <a:lstStyle/>
                    <a:p>
                      <a:r>
                        <a:rPr sz="1400"/>
                        <a:t>Consistency</a:t>
                      </a:r>
                    </a:p>
                  </a:txBody>
                  <a:tcPr/>
                </a:tc>
                <a:tc>
                  <a:txBody>
                    <a:bodyPr/>
                    <a:lstStyle/>
                    <a:p>
                      <a:r>
                        <a:rPr sz="1400"/>
                        <a:t>Varies between officers</a:t>
                      </a:r>
                    </a:p>
                  </a:txBody>
                  <a:tcPr/>
                </a:tc>
                <a:tc>
                  <a:txBody>
                    <a:bodyPr/>
                    <a:lstStyle/>
                    <a:p>
                      <a:r>
                        <a:rPr sz="1400"/>
                        <a:t>Same model applied to every applicant</a:t>
                      </a:r>
                    </a:p>
                  </a:txBody>
                  <a:tcPr/>
                </a:tc>
                <a:extLst>
                  <a:ext uri="{0D108BD9-81ED-4DB2-BD59-A6C34878D82A}">
                    <a16:rowId xmlns:a16="http://schemas.microsoft.com/office/drawing/2014/main" val="10003"/>
                  </a:ext>
                </a:extLst>
              </a:tr>
              <a:tr h="640080">
                <a:tc>
                  <a:txBody>
                    <a:bodyPr/>
                    <a:lstStyle/>
                    <a:p>
                      <a:r>
                        <a:rPr sz="1400"/>
                        <a:t>Features</a:t>
                      </a:r>
                    </a:p>
                  </a:txBody>
                  <a:tcPr/>
                </a:tc>
                <a:tc>
                  <a:txBody>
                    <a:bodyPr/>
                    <a:lstStyle/>
                    <a:p>
                      <a:r>
                        <a:rPr sz="1400"/>
                        <a:t>Raw application fields</a:t>
                      </a:r>
                    </a:p>
                  </a:txBody>
                  <a:tcPr/>
                </a:tc>
                <a:tc>
                  <a:txBody>
                    <a:bodyPr/>
                    <a:lstStyle/>
                    <a:p>
                      <a:r>
                        <a:rPr lang="en-IN" dirty="0"/>
                        <a:t>Raw fields plus EMI, DTI and Loan-to-Income computed for the FOIR rule</a:t>
                      </a:r>
                      <a:endParaRPr sz="1400" dirty="0"/>
                    </a:p>
                  </a:txBody>
                  <a:tcPr/>
                </a:tc>
                <a:extLst>
                  <a:ext uri="{0D108BD9-81ED-4DB2-BD59-A6C34878D82A}">
                    <a16:rowId xmlns:a16="http://schemas.microsoft.com/office/drawing/2014/main" val="10004"/>
                  </a:ext>
                </a:extLst>
              </a:tr>
              <a:tr h="640080">
                <a:tc>
                  <a:txBody>
                    <a:bodyPr/>
                    <a:lstStyle/>
                    <a:p>
                      <a:r>
                        <a:rPr sz="1400"/>
                        <a:t>Architecture</a:t>
                      </a:r>
                    </a:p>
                  </a:txBody>
                  <a:tcPr/>
                </a:tc>
                <a:tc>
                  <a:txBody>
                    <a:bodyPr/>
                    <a:lstStyle/>
                    <a:p>
                      <a:r>
                        <a:rPr sz="1400"/>
                        <a:t>Interface and logic in one script</a:t>
                      </a:r>
                    </a:p>
                  </a:txBody>
                  <a:tcPr/>
                </a:tc>
                <a:tc>
                  <a:txBody>
                    <a:bodyPr/>
                    <a:lstStyle/>
                    <a:p>
                      <a:r>
                        <a:rPr sz="1400" dirty="0" err="1"/>
                        <a:t>FastAPI</a:t>
                      </a:r>
                      <a:r>
                        <a:rPr sz="1400" dirty="0"/>
                        <a:t> backend + </a:t>
                      </a:r>
                      <a:r>
                        <a:rPr lang="en-US" sz="1400" dirty="0"/>
                        <a:t>Web portal</a:t>
                      </a:r>
                      <a:endParaRPr sz="1400" dirty="0"/>
                    </a:p>
                  </a:txBody>
                  <a:tcPr/>
                </a:tc>
                <a:extLst>
                  <a:ext uri="{0D108BD9-81ED-4DB2-BD59-A6C34878D82A}">
                    <a16:rowId xmlns:a16="http://schemas.microsoft.com/office/drawing/2014/main" val="10005"/>
                  </a:ext>
                </a:extLst>
              </a:tr>
              <a:tr h="640080">
                <a:tc>
                  <a:txBody>
                    <a:bodyPr/>
                    <a:lstStyle/>
                    <a:p>
                      <a:r>
                        <a:rPr sz="1400"/>
                        <a:t>Integration</a:t>
                      </a:r>
                    </a:p>
                  </a:txBody>
                  <a:tcPr/>
                </a:tc>
                <a:tc>
                  <a:txBody>
                    <a:bodyPr/>
                    <a:lstStyle/>
                    <a:p>
                      <a:r>
                        <a:rPr sz="1400"/>
                        <a:t>Hard to connect to other systems</a:t>
                      </a:r>
                    </a:p>
                  </a:txBody>
                  <a:tcPr/>
                </a:tc>
                <a:tc>
                  <a:txBody>
                    <a:bodyPr/>
                    <a:lstStyle/>
                    <a:p>
                      <a:r>
                        <a:rPr sz="1400" dirty="0"/>
                        <a:t>REST API </a:t>
                      </a:r>
                      <a:r>
                        <a:rPr lang="en-US" sz="1400" dirty="0"/>
                        <a:t>(</a:t>
                      </a:r>
                      <a:r>
                        <a:rPr lang="en-IN" dirty="0"/>
                        <a:t>/predict, /model-performance</a:t>
                      </a:r>
                      <a:r>
                        <a:rPr sz="1400" dirty="0"/>
                        <a:t>)</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Conclusion</a:t>
            </a:r>
            <a:endParaRPr/>
          </a:p>
        </p:txBody>
      </p:sp>
      <p:sp>
        <p:nvSpPr>
          <p:cNvPr id="169" name="Google Shape;169;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indent="-139700" algn="just">
              <a:lnSpc>
                <a:spcPct val="150000"/>
              </a:lnSpc>
              <a:spcBef>
                <a:spcPts val="0"/>
              </a:spcBef>
              <a:buSzPts val="3200"/>
              <a:buNone/>
            </a:pPr>
            <a:r>
              <a:rPr lang="en-IN" sz="1800" dirty="0"/>
              <a:t>This project built an automated Loan Approval and Risk Assessment system. After pre-processing a synthetic dataset of 5,000 applications, Logistic Regression and Random Forest were benchmarked, and the Random Forest was deployed as the production model, reaching 95.50% accuracy, 96.16% recall, 96.99% F1 and 98.32% ROC-AUC on 1,000 unseen records. Credit history and applicant income are the most influential features. The model is combined with a 45% FOIR underwriting rule and deployed through </a:t>
            </a:r>
            <a:r>
              <a:rPr lang="en-IN" sz="1800" dirty="0" err="1"/>
              <a:t>FastAPI</a:t>
            </a:r>
            <a:r>
              <a:rPr lang="en-IN" sz="1800" dirty="0"/>
              <a:t> and a web portal, giving instant, consistent decisions with explanations. Because the data is synthetic, results should be confirmed on real loan data, and the system is a decision-support tool for loan officers.</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170" name="Google Shape;170;p13"/>
          <p:cNvSpPr txBox="1">
            <a:spLocks noGrp="1"/>
          </p:cNvSpPr>
          <p:nvPr>
            <p:ph type="ftr" idx="11"/>
          </p:nvPr>
        </p:nvSpPr>
        <p:spPr>
          <a:xfrm>
            <a:off x="2353128" y="6308725"/>
            <a:ext cx="4437743"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AND ENGINEERING </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Future Work</a:t>
            </a:r>
            <a:endParaRPr/>
          </a:p>
        </p:txBody>
      </p:sp>
      <p:sp>
        <p:nvSpPr>
          <p:cNvPr id="176" name="Google Shape;176;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indent="-139700" algn="just">
              <a:lnSpc>
                <a:spcPct val="150000"/>
              </a:lnSpc>
              <a:spcBef>
                <a:spcPts val="0"/>
              </a:spcBef>
              <a:buSzPts val="3200"/>
              <a:buNone/>
            </a:pPr>
            <a:r>
              <a:rPr lang="en-IN" sz="1800" dirty="0"/>
              <a:t>Validate and retrain the model on real-world loan data and report cross-validation results. Add explainability (SHAP or LIME) so every decision can be explained, and audit fairness on sensitive attributes. Reduce false rejections and false approvals using cost-sensitive learning or threshold tuning. Replace the JSON-file storage with a database, add salted password hashing or JWT sessions, verify Google sign-in tokens on the server, and add audit logs and an admin view. Containerise the backend with Docker, deploy to the cloud (a Render </a:t>
            </a:r>
            <a:r>
              <a:rPr lang="en-IN" sz="1800" dirty="0" err="1"/>
              <a:t>Procfile</a:t>
            </a:r>
            <a:r>
              <a:rPr lang="en-IN" sz="1800" dirty="0"/>
              <a:t> is already included) and monitor the model for drift. Integrate document verification, fraud detection and credit bureau APIs, and build a mobile application.</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2" name="Google Shape;170;p13">
            <a:extLst>
              <a:ext uri="{FF2B5EF4-FFF2-40B4-BE49-F238E27FC236}">
                <a16:creationId xmlns:a16="http://schemas.microsoft.com/office/drawing/2014/main" id="{F8809FED-66C5-C230-B501-8739389AE070}"/>
              </a:ext>
            </a:extLst>
          </p:cNvPr>
          <p:cNvSpPr txBox="1">
            <a:spLocks noGrp="1"/>
          </p:cNvSpPr>
          <p:nvPr>
            <p:ph type="ftr" idx="11"/>
          </p:nvPr>
        </p:nvSpPr>
        <p:spPr>
          <a:xfrm>
            <a:off x="2396671" y="6308725"/>
            <a:ext cx="4350657"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DEPARTMENT OF COMPUTER SCIENCE AND ENGINEERING </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dirty="0"/>
              <a:t>References (Research Papers)</a:t>
            </a:r>
            <a:endParaRPr dirty="0"/>
          </a:p>
        </p:txBody>
      </p:sp>
      <p:sp>
        <p:nvSpPr>
          <p:cNvPr id="183" name="Google Shape;183;p15"/>
          <p:cNvSpPr txBox="1">
            <a:spLocks noGrp="1"/>
          </p:cNvSpPr>
          <p:nvPr>
            <p:ph type="body" idx="1"/>
          </p:nvPr>
        </p:nvSpPr>
        <p:spPr>
          <a:xfrm>
            <a:off x="457200" y="1066800"/>
            <a:ext cx="8229600" cy="5059363"/>
          </a:xfrm>
          <a:prstGeom prst="rect">
            <a:avLst/>
          </a:prstGeom>
          <a:noFill/>
          <a:ln>
            <a:noFill/>
          </a:ln>
        </p:spPr>
        <p:txBody>
          <a:bodyPr spcFirstLastPara="1" wrap="square" lIns="91425" tIns="45700" rIns="91425" bIns="45700" anchor="t" anchorCtr="0">
            <a:noAutofit/>
          </a:bodyPr>
          <a:lstStyle/>
          <a:p>
            <a:pPr lvl="0"/>
            <a:r>
              <a:rPr lang="en-IN" sz="1500" dirty="0"/>
              <a:t>[1] L. Breiman, “Random Forests,” Machine Learning, vol. 45, no. 1, pp. 5–32, 2001.</a:t>
            </a:r>
            <a:endParaRPr lang="en-IN" sz="2000" dirty="0"/>
          </a:p>
          <a:p>
            <a:pPr lvl="0"/>
            <a:r>
              <a:rPr lang="en-IN" sz="1500" dirty="0"/>
              <a:t>[2] F. Pedregosa et al., “Scikit-learn: Machine Learning in Python,” JMLR, vol. 12, pp. 2825–2830, 2011.</a:t>
            </a:r>
            <a:endParaRPr lang="en-IN" sz="2000" dirty="0"/>
          </a:p>
          <a:p>
            <a:pPr lvl="0"/>
            <a:r>
              <a:rPr lang="en-IN" sz="1500" dirty="0"/>
              <a:t>[3] D. J. Hand and W. E. Henley, “Statistical Classification Methods in Consumer Credit Scoring: A Review,” J. R. Stat. Soc. A, vol. 160, no. 3, pp. 523–541, 1997.</a:t>
            </a:r>
            <a:endParaRPr lang="en-IN" sz="2000" dirty="0"/>
          </a:p>
          <a:p>
            <a:pPr lvl="0"/>
            <a:r>
              <a:rPr lang="en-IN" sz="1500" dirty="0"/>
              <a:t>[4] A. E. Khandani, A. J. Kim and A. W. Lo, “Consumer credit-risk models via machine-learning algorithms,” J. Banking &amp; Finance, vol. 34, no. 11, pp. 2767–2787, 2010.</a:t>
            </a:r>
            <a:endParaRPr lang="en-IN" sz="2000" dirty="0"/>
          </a:p>
          <a:p>
            <a:pPr lvl="0"/>
            <a:r>
              <a:rPr lang="en-IN" sz="1500" dirty="0"/>
              <a:t>[5] S. Lessmann, B. Baesens, H.-V. Seow and L. C. Thomas, “Benchmarking state-of-the-art classification algorithms for credit scoring,” EJOR, vol. 247, no. 1, pp. 124–136, 2015.</a:t>
            </a:r>
            <a:endParaRPr lang="en-IN" sz="2000" dirty="0"/>
          </a:p>
          <a:p>
            <a:pPr lvl="0"/>
            <a:r>
              <a:rPr lang="en-IN" sz="1500" dirty="0"/>
              <a:t>[6] T. Chen and C. Guestrin, “XGBoost: A Scalable Tree Boosting System,” Proc. KDD, pp. 785–794, 2016.</a:t>
            </a:r>
            <a:endParaRPr lang="en-IN" sz="2000" dirty="0"/>
          </a:p>
          <a:p>
            <a:pPr lvl="0"/>
            <a:r>
              <a:rPr lang="en-IN" sz="1500" dirty="0"/>
              <a:t>[7] N. V. Chawla et al., “SMOTE: Synthetic Minority Over-sampling Technique,” JAIR, vol. 16, pp. 321–357, 2002.</a:t>
            </a:r>
            <a:endParaRPr lang="en-IN" sz="2000" dirty="0"/>
          </a:p>
          <a:p>
            <a:pPr lvl="0"/>
            <a:r>
              <a:rPr lang="en-IN" sz="1500" dirty="0"/>
              <a:t>[8] T. Fawcett, “An introduction to ROC analysis,” Pattern Recognition Letters, vol. 27, no. 8, pp. 861–874, 2006.</a:t>
            </a:r>
            <a:endParaRPr lang="en-IN" sz="2000" dirty="0"/>
          </a:p>
          <a:p>
            <a:pPr lvl="0"/>
            <a:r>
              <a:rPr lang="en-IN" sz="1500" dirty="0"/>
              <a:t>[9] L. C. Thomas, “A survey of credit and behavioural scoring,” Int. J. Forecasting, vol. 16, no. 2, pp. 149–172, 2000.</a:t>
            </a:r>
            <a:endParaRPr lang="en-IN" sz="2000" dirty="0"/>
          </a:p>
          <a:p>
            <a:pPr lvl="0"/>
            <a:r>
              <a:rPr lang="en-IN" sz="1500" dirty="0"/>
              <a:t>[10] T. Hastie, R. Tibshirani and J. Friedman, The Elements of Statistical Learning, 2nd ed., Springer, 2009.</a:t>
            </a:r>
            <a:endParaRPr lang="en-IN" sz="2000" dirty="0"/>
          </a:p>
        </p:txBody>
      </p:sp>
      <p:sp>
        <p:nvSpPr>
          <p:cNvPr id="184" name="Google Shape;184;p15"/>
          <p:cNvSpPr txBox="1">
            <a:spLocks noGrp="1"/>
          </p:cNvSpPr>
          <p:nvPr>
            <p:ph type="ftr" idx="11"/>
          </p:nvPr>
        </p:nvSpPr>
        <p:spPr>
          <a:xfrm>
            <a:off x="685800" y="6356351"/>
            <a:ext cx="7620000" cy="27304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5"/>
          <p:cNvSpPr txBox="1">
            <a:spLocks noGrp="1"/>
          </p:cNvSpPr>
          <p:nvPr>
            <p:ph type="title"/>
          </p:nvPr>
        </p:nvSpPr>
        <p:spPr>
          <a:xfrm>
            <a:off x="457200" y="274638"/>
            <a:ext cx="8229600" cy="7159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References (Resources)</a:t>
            </a:r>
            <a:endParaRPr/>
          </a:p>
        </p:txBody>
      </p:sp>
      <p:sp>
        <p:nvSpPr>
          <p:cNvPr id="183" name="Google Shape;183;p15"/>
          <p:cNvSpPr txBox="1">
            <a:spLocks noGrp="1"/>
          </p:cNvSpPr>
          <p:nvPr>
            <p:ph type="body" idx="1"/>
          </p:nvPr>
        </p:nvSpPr>
        <p:spPr>
          <a:xfrm>
            <a:off x="457200" y="1066800"/>
            <a:ext cx="8229600" cy="5059363"/>
          </a:xfrm>
          <a:prstGeom prst="rect">
            <a:avLst/>
          </a:prstGeom>
          <a:noFill/>
          <a:ln>
            <a:noFill/>
          </a:ln>
        </p:spPr>
        <p:txBody>
          <a:bodyPr spcFirstLastPara="1" wrap="square" lIns="91425" tIns="45700" rIns="91425" bIns="45700" anchor="t" anchorCtr="0">
            <a:noAutofit/>
          </a:bodyPr>
          <a:lstStyle/>
          <a:p>
            <a:pPr lvl="0">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Scikit-learn Documentation, “Machine Learning in Python.” </a:t>
            </a:r>
            <a:r>
              <a:rPr lang="en-IN" sz="1800" dirty="0">
                <a:latin typeface="Calibri" panose="020F0502020204030204" pitchFamily="34" charset="0"/>
                <a:ea typeface="Calibri" panose="020F0502020204030204" pitchFamily="34" charset="0"/>
                <a:cs typeface="Calibri" panose="020F0502020204030204" pitchFamily="34" charset="0"/>
                <a:hlinkClick r:id="rId3"/>
              </a:rPr>
              <a:t>https://scikit-learn.org/</a:t>
            </a:r>
            <a:endParaRPr lang="en-IN" sz="1800" dirty="0">
              <a:latin typeface="Calibri" panose="020F0502020204030204" pitchFamily="34" charset="0"/>
              <a:ea typeface="Calibri" panose="020F0502020204030204" pitchFamily="34" charset="0"/>
              <a:cs typeface="Calibri" panose="020F0502020204030204" pitchFamily="34" charset="0"/>
            </a:endParaRPr>
          </a:p>
          <a:p>
            <a:pPr lvl="0">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Kaggle, “Loan Prediction Dataset.” </a:t>
            </a:r>
            <a:r>
              <a:rPr lang="en-IN" sz="1800" dirty="0">
                <a:latin typeface="Calibri" panose="020F0502020204030204" pitchFamily="34" charset="0"/>
                <a:ea typeface="Calibri" panose="020F0502020204030204" pitchFamily="34" charset="0"/>
                <a:cs typeface="Calibri" panose="020F0502020204030204" pitchFamily="34" charset="0"/>
                <a:hlinkClick r:id="rId4"/>
              </a:rPr>
              <a:t>https://www.kaggle.com/</a:t>
            </a:r>
            <a:endParaRPr lang="en-IN" sz="1800" dirty="0">
              <a:latin typeface="Calibri" panose="020F0502020204030204" pitchFamily="34" charset="0"/>
              <a:ea typeface="Calibri" panose="020F0502020204030204" pitchFamily="34" charset="0"/>
              <a:cs typeface="Calibri" panose="020F0502020204030204" pitchFamily="34" charset="0"/>
            </a:endParaRPr>
          </a:p>
          <a:p>
            <a:pPr lvl="0">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IBM, “Machine Learning and Data Analytics.” </a:t>
            </a:r>
            <a:r>
              <a:rPr lang="en-IN" sz="1800" dirty="0">
                <a:latin typeface="Calibri" panose="020F0502020204030204" pitchFamily="34" charset="0"/>
                <a:ea typeface="Calibri" panose="020F0502020204030204" pitchFamily="34" charset="0"/>
                <a:cs typeface="Calibri" panose="020F0502020204030204" pitchFamily="34" charset="0"/>
                <a:hlinkClick r:id="rId5"/>
              </a:rPr>
              <a:t>https://www.ibm.com/topics/machine-learning</a:t>
            </a:r>
            <a:endParaRPr lang="en-IN" sz="1800" dirty="0">
              <a:latin typeface="Calibri" panose="020F0502020204030204" pitchFamily="34" charset="0"/>
              <a:ea typeface="Calibri" panose="020F0502020204030204" pitchFamily="34" charset="0"/>
              <a:cs typeface="Calibri" panose="020F0502020204030204" pitchFamily="34" charset="0"/>
            </a:endParaRPr>
          </a:p>
          <a:p>
            <a:pPr lvl="0">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Reserve Bank of India (RBI), “Guidelines and Information on Banking and Credit.” </a:t>
            </a:r>
            <a:r>
              <a:rPr lang="en-IN" sz="1800" dirty="0">
                <a:latin typeface="Calibri" panose="020F0502020204030204" pitchFamily="34" charset="0"/>
                <a:ea typeface="Calibri" panose="020F0502020204030204" pitchFamily="34" charset="0"/>
                <a:cs typeface="Calibri" panose="020F0502020204030204" pitchFamily="34" charset="0"/>
                <a:hlinkClick r:id="rId6"/>
              </a:rPr>
              <a:t>https://www.rbi.org.in/</a:t>
            </a:r>
            <a:endParaRPr lang="en-IN" sz="1800" dirty="0">
              <a:latin typeface="Calibri" panose="020F0502020204030204" pitchFamily="34" charset="0"/>
              <a:ea typeface="Calibri" panose="020F0502020204030204" pitchFamily="34" charset="0"/>
              <a:cs typeface="Calibri" panose="020F0502020204030204" pitchFamily="34" charset="0"/>
            </a:endParaRPr>
          </a:p>
          <a:p>
            <a:pPr lvl="0">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Python Software Foundation, “Python Documentation.” </a:t>
            </a:r>
            <a:r>
              <a:rPr lang="en-IN" sz="1800" dirty="0">
                <a:latin typeface="Calibri" panose="020F0502020204030204" pitchFamily="34" charset="0"/>
                <a:ea typeface="Calibri" panose="020F0502020204030204" pitchFamily="34" charset="0"/>
                <a:cs typeface="Calibri" panose="020F0502020204030204" pitchFamily="34" charset="0"/>
                <a:hlinkClick r:id="rId7"/>
              </a:rPr>
              <a:t>https://docs.python.org/3/</a:t>
            </a:r>
            <a:endParaRPr lang="en-IN" sz="1800" dirty="0">
              <a:latin typeface="Calibri" panose="020F0502020204030204" pitchFamily="34" charset="0"/>
              <a:ea typeface="Calibri" panose="020F0502020204030204" pitchFamily="34" charset="0"/>
              <a:cs typeface="Calibri" panose="020F0502020204030204" pitchFamily="34" charset="0"/>
            </a:endParaRPr>
          </a:p>
          <a:p>
            <a:pPr lvl="0">
              <a:lnSpc>
                <a:spcPct val="150000"/>
              </a:lnSpc>
            </a:pPr>
            <a:r>
              <a:rPr lang="en-IN" sz="1800" dirty="0">
                <a:latin typeface="Calibri" panose="020F0502020204030204" pitchFamily="34" charset="0"/>
                <a:ea typeface="Calibri" panose="020F0502020204030204" pitchFamily="34" charset="0"/>
                <a:cs typeface="Calibri" panose="020F0502020204030204" pitchFamily="34" charset="0"/>
              </a:rPr>
              <a:t>Google Developers, “Machine Learning Crash Course.” </a:t>
            </a:r>
            <a:r>
              <a:rPr lang="en-IN" sz="1800" dirty="0">
                <a:latin typeface="Calibri" panose="020F0502020204030204" pitchFamily="34" charset="0"/>
                <a:ea typeface="Calibri" panose="020F0502020204030204" pitchFamily="34" charset="0"/>
                <a:cs typeface="Calibri" panose="020F0502020204030204" pitchFamily="34" charset="0"/>
                <a:hlinkClick r:id="rId8"/>
              </a:rPr>
              <a:t>https://developers.google.com/machine-learning/crash-course</a:t>
            </a:r>
            <a:endParaRPr lang="en-IN" sz="1800" dirty="0">
              <a:latin typeface="Calibri" panose="020F0502020204030204" pitchFamily="34" charset="0"/>
              <a:ea typeface="Calibri" panose="020F0502020204030204" pitchFamily="34" charset="0"/>
              <a:cs typeface="Calibri" panose="020F0502020204030204" pitchFamily="34" charset="0"/>
            </a:endParaRPr>
          </a:p>
          <a:p>
            <a:pPr marL="342900" lvl="0" indent="-215900" algn="l" rtl="0">
              <a:spcBef>
                <a:spcPts val="0"/>
              </a:spcBef>
              <a:spcAft>
                <a:spcPts val="0"/>
              </a:spcAft>
              <a:buClr>
                <a:schemeClr val="dk1"/>
              </a:buClr>
              <a:buSzPts val="2000"/>
              <a:buNone/>
            </a:pPr>
            <a:endParaRPr sz="2000" dirty="0">
              <a:latin typeface="Times New Roman"/>
              <a:ea typeface="Times New Roman"/>
              <a:cs typeface="Times New Roman"/>
              <a:sym typeface="Times New Roman"/>
            </a:endParaRPr>
          </a:p>
        </p:txBody>
      </p:sp>
      <p:sp>
        <p:nvSpPr>
          <p:cNvPr id="184" name="Google Shape;184;p15"/>
          <p:cNvSpPr txBox="1">
            <a:spLocks noGrp="1"/>
          </p:cNvSpPr>
          <p:nvPr>
            <p:ph type="ftr" idx="11"/>
          </p:nvPr>
        </p:nvSpPr>
        <p:spPr>
          <a:xfrm>
            <a:off x="685800" y="6356351"/>
            <a:ext cx="7620000" cy="27304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DEPARTMENT OF COMPUTER SCIENCE AND ENGINEERING </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722</TotalTime>
  <Words>2966</Words>
  <Application>Microsoft Office PowerPoint</Application>
  <PresentationFormat>On-screen Show (4:3)</PresentationFormat>
  <Paragraphs>280</Paragraphs>
  <Slides>25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Times New Roman</vt:lpstr>
      <vt:lpstr>Office Theme</vt:lpstr>
      <vt:lpstr>SRM INSTITUTE OF SCIENCE AND TECHNOLOGY Ramapuram , Chennai – 600 089 DEPARTMENT OF COMPUTER SCIENCE AND ENGINEERING</vt:lpstr>
      <vt:lpstr>Agenda</vt:lpstr>
      <vt:lpstr>ABSTRACT</vt:lpstr>
      <vt:lpstr>Scope and Motivation</vt:lpstr>
      <vt:lpstr>Introduction</vt:lpstr>
      <vt:lpstr>Literature Survey (1/2)</vt:lpstr>
      <vt:lpstr>Literature Survey (2/2)</vt:lpstr>
      <vt:lpstr>Problem Statement</vt:lpstr>
      <vt:lpstr>Objective</vt:lpstr>
      <vt:lpstr>Proposed Work</vt:lpstr>
      <vt:lpstr>Architecture Diagram</vt:lpstr>
      <vt:lpstr>Dataset and Feature Engineering</vt:lpstr>
      <vt:lpstr>Modules and Module Description</vt:lpstr>
      <vt:lpstr>Algorithm</vt:lpstr>
      <vt:lpstr>Implementation</vt:lpstr>
      <vt:lpstr>Results and Discussion</vt:lpstr>
      <vt:lpstr>Results: Model Benchmark</vt:lpstr>
      <vt:lpstr>Results: Baseline vs Ensemble</vt:lpstr>
      <vt:lpstr>Results: Confusion Matrix</vt:lpstr>
      <vt:lpstr>Results: Feature Importance</vt:lpstr>
      <vt:lpstr>Comparison with Existing Work</vt:lpstr>
      <vt:lpstr>Conclusion</vt:lpstr>
      <vt:lpstr>Future Work</vt:lpstr>
      <vt:lpstr>References (Research Papers)</vt:lpstr>
      <vt:lpstr>References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SRM INSTITUTE OF SCIENCE AND TECHNOLOGY Ramapuram , Chennai – 600 089 DEPARTMENT OF COMPUTER SCIENCE AND ENGINEERING</dc:title>
  <dc:creator>DELL</dc:creator>
  <cp:lastModifiedBy>Sandra P V</cp:lastModifiedBy>
  <cp:revision>5</cp:revision>
  <dcterms:created xsi:type="dcterms:W3CDTF">2023-07-26T03:49:14Z</dcterms:created>
  <dcterms:modified xsi:type="dcterms:W3CDTF">2026-10-13T17:39:30Z</dcterms:modified>
</cp:coreProperties>
</file>