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 Breiman (2001). Random Forests. Machine Learning, vol. 45, no. 1, pp. 5–32. Introduces Random Forests: many decision trees, each grown on a bootstrap sample, each split chosen from a random subset of features. Predictions are combined by voting.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Pedregosa et al. (2011). Scikit-learn: Machine Learning in Python. JMLR, vol. 12, pp. 2825–2830. Describes scikit-learn, the open-source Python library that gives classifiers, preprocessing, model selection and metrics one consistent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J. Hand and W. E. Henley (1997). Statistical Classification Methods in Consumer Credit Scoring: A Review. J. Royal Statistical Society A, vol. 160, no. 3, pp. 523–541. A review of the statistical methods used to classify credit applicants as good or bad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E. Khandani, A. J. Kim and A. W. Lo (2010). Consumer Credit-Risk Models via Machine-Learning Algorithms. J. Banking &amp; Finance, vol. 34, no. 11, pp. 2767–2787. Applies machine learning to build nonlinear, nonparametric forecasts of consumer credit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 Lessmann, B. Baesens, H.-V. Seow and L. C. Thomas (2015). Benchmarking State-of-the-Art Classification Algorithms for Credit Scoring. European J. Operational Research, vol. 247, no. 1, pp. 124–136. An update of the 2003 Baesens et al. benchmark. It compares newer algorithms against the credit-scoring state of the 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 Chen and C. Guestrin (2016). XGBoost: A Scalable Tree Boosting System. Proc. ACM KDD, pp. 785–794. Presents XGBoost, a scalable gradient-boosted tree system. Trees are added one at a time, each correcting the errors of the previous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 V. Chawla et al. (2002). SMOTE: Synthetic Minority Over-sampling Technique. JAIR, vol. 16, pp. 321–357. A method for imbalanced data: it creates synthetic minority-class examples instead of just duplicating existing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 Fawcett (2006). An Introduction to ROC Analysis. Pattern Recognition Letters, vol. 27, no. 8, pp. 861–874. A tutorial on ROC graphs and the area under the curve (AUC) for evaluating classifiers.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 C. Thomas (2000). A Survey of Credit and Behavioural Scoring. Int. J. Forecasting, vol. 16, no. 2, pp. 149–172. A survey of credit scoring (new applicants) and behavioural scoring (existing customers), the techniques used and the issues they 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 Hastie, R. Tibshirani and J. Friedman (2009). The Elements of Statistical Learning. Springer, 2nd ed.. The standard textbook on statistical learning: theory and practice of prediction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731520" y="1828800"/>
            <a:ext cx="10515600" cy="109728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Research Papers Briefing</a:t>
            </a:r>
            <a:endParaRPr lang="en-US" sz="5000" dirty="0"/>
          </a:p>
        </p:txBody>
      </p:sp>
      <p:sp>
        <p:nvSpPr>
          <p:cNvPr id="3" name="Text 1"/>
          <p:cNvSpPr txBox="1"/>
          <p:nvPr/>
        </p:nvSpPr>
        <p:spPr>
          <a:xfrm>
            <a:off x="731520" y="2971800"/>
            <a:ext cx="10515600" cy="640080"/>
          </a:xfrm>
          <a:prstGeom prst="rect">
            <a:avLst/>
          </a:prstGeom>
          <a:noFill/>
          <a:ln/>
        </p:spPr>
        <p:txBody>
          <a:bodyPr wrap="square" lIns="0" tIns="0" rIns="0" bIns="0" rtlCol="0" anchor="ctr"/>
          <a:lstStyle/>
          <a:p>
            <a:pPr indent="0" marL="0">
              <a:buNone/>
            </a:pPr>
            <a:r>
              <a:rPr lang="en-US" sz="2800" dirty="0">
                <a:solidFill>
                  <a:srgbClr val="7FD1C7"/>
                </a:solidFill>
                <a:latin typeface="Cambria" pitchFamily="34" charset="0"/>
                <a:ea typeface="Cambria" pitchFamily="34" charset="-122"/>
                <a:cs typeface="Cambria" pitchFamily="34" charset="-120"/>
              </a:rPr>
              <a:t>Loan Processing and Risk Assessment</a:t>
            </a:r>
            <a:endParaRPr lang="en-US" sz="2800" dirty="0"/>
          </a:p>
        </p:txBody>
      </p:sp>
      <p:sp>
        <p:nvSpPr>
          <p:cNvPr id="4" name="Text 2"/>
          <p:cNvSpPr txBox="1"/>
          <p:nvPr/>
        </p:nvSpPr>
        <p:spPr>
          <a:xfrm>
            <a:off x="731520" y="3840480"/>
            <a:ext cx="9601200" cy="822960"/>
          </a:xfrm>
          <a:prstGeom prst="rect">
            <a:avLst/>
          </a:prstGeom>
          <a:noFill/>
          <a:ln/>
        </p:spPr>
        <p:txBody>
          <a:bodyPr wrap="square" lIns="0" tIns="0" rIns="0" bIns="0" rtlCol="0" anchor="ctr"/>
          <a:lstStyle/>
          <a:p>
            <a:pPr indent="0" marL="0">
              <a:buNone/>
            </a:pPr>
            <a:r>
              <a:rPr lang="en-US" sz="1800" dirty="0">
                <a:solidFill>
                  <a:srgbClr val="CBD5E1"/>
                </a:solidFill>
              </a:rPr>
              <a:t>Backup deck: the 10 papers in our literature survey, what each says, and how it ties to our project</a:t>
            </a:r>
            <a:endParaRPr lang="en-US" sz="1800" dirty="0"/>
          </a:p>
        </p:txBody>
      </p:sp>
      <p:sp>
        <p:nvSpPr>
          <p:cNvPr id="5" name="Text 3"/>
          <p:cNvSpPr txBox="1"/>
          <p:nvPr/>
        </p:nvSpPr>
        <p:spPr>
          <a:xfrm>
            <a:off x="731520" y="5943600"/>
            <a:ext cx="10515600" cy="365760"/>
          </a:xfrm>
          <a:prstGeom prst="rect">
            <a:avLst/>
          </a:prstGeom>
          <a:noFill/>
          <a:ln/>
        </p:spPr>
        <p:txBody>
          <a:bodyPr wrap="square" lIns="0" tIns="0" rIns="0" bIns="0" rtlCol="0" anchor="ctr"/>
          <a:lstStyle/>
          <a:p>
            <a:pPr indent="0" marL="0">
              <a:buNone/>
            </a:pPr>
            <a:r>
              <a:rPr lang="en-US" sz="1400" dirty="0">
                <a:solidFill>
                  <a:srgbClr val="CBD5E1"/>
                </a:solidFill>
              </a:rPr>
              <a:t>21CSC305P Machine Learning  |  Batch 2: Mutheeshwari J, Nikitha S, Sandra PV  |  SRM Ramapuram</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0972800" cy="640080"/>
          </a:xfrm>
          <a:prstGeom prst="rect">
            <a:avLst/>
          </a:prstGeom>
          <a:noFill/>
          <a:ln/>
        </p:spPr>
        <p:txBody>
          <a:bodyPr wrap="square" lIns="0" tIns="0" rIns="0" bIns="0" rtlCol="0" anchor="ctr"/>
          <a:lstStyle/>
          <a:p>
            <a:pPr indent="0" marL="0">
              <a:buNone/>
            </a:pPr>
            <a:r>
              <a:rPr lang="en-US" sz="3400" b="1" dirty="0">
                <a:solidFill>
                  <a:srgbClr val="1B2A41"/>
                </a:solidFill>
                <a:latin typeface="Cambria" pitchFamily="34" charset="0"/>
                <a:ea typeface="Cambria" pitchFamily="34" charset="-122"/>
                <a:cs typeface="Cambria" pitchFamily="34" charset="-120"/>
              </a:rPr>
              <a:t>The 10 papers at a glance</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64240" cy="914400"/>
        </p:xfrm>
        <a:graphic>
          <a:graphicData uri="http://schemas.openxmlformats.org/drawingml/2006/table">
            <a:tbl>
              <a:tblPr/>
              <a:tblGrid>
                <a:gridCol w="457200"/>
                <a:gridCol w="4846320"/>
                <a:gridCol w="640080"/>
                <a:gridCol w="3017520"/>
                <a:gridCol w="2103120"/>
              </a:tblGrid>
              <a:tr h="420624">
                <a:tc>
                  <a:txBody>
                    <a:bodyPr/>
                    <a:lstStyle/>
                    <a:p>
                      <a:pPr indent="0" marL="0">
                        <a:buNone/>
                      </a:pPr>
                      <a:r>
                        <a:rPr lang="en-US" sz="1300" b="1" dirty="0">
                          <a:solidFill>
                            <a:srgbClr val="FFFFFF"/>
                          </a:solidFill>
                        </a:rPr>
                        <a:t>#</a:t>
                      </a:r>
                      <a:endParaRPr lang="en-US" sz="13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rPr>
                        <a:t>Paper</a:t>
                      </a:r>
                      <a:endParaRPr lang="en-US" sz="13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rPr>
                        <a:t>Year</a:t>
                      </a:r>
                      <a:endParaRPr lang="en-US" sz="13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rPr>
                        <a:t>Role in our project</a:t>
                      </a:r>
                      <a:endParaRPr lang="en-US" sz="13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rPr>
                        <a:t>Used in code?</a:t>
                      </a:r>
                      <a:endParaRPr lang="en-US" sz="13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B2A41"/>
                    </a:solidFill>
                  </a:tcPr>
                </a:tc>
              </a:tr>
              <a:tr h="420624">
                <a:tc>
                  <a:txBody>
                    <a:bodyPr/>
                    <a:lstStyle/>
                    <a:p>
                      <a:pPr indent="0" marL="0">
                        <a:buNone/>
                      </a:pPr>
                      <a:r>
                        <a:rPr lang="en-US" sz="1200" b="1" dirty="0">
                          <a:solidFill>
                            <a:srgbClr val="1B2A41"/>
                          </a:solidFill>
                        </a:rPr>
                        <a:t>1</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Random Forests</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2001</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Final model</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Yes</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B2A41"/>
                          </a:solidFill>
                        </a:rPr>
                        <a:t>2</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dirty="0">
                          <a:solidFill>
                            <a:srgbClr val="1B2A41"/>
                          </a:solidFill>
                        </a:rPr>
                        <a:t>Scikit-learn: Machine Learning in Python</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dirty="0">
                          <a:solidFill>
                            <a:srgbClr val="1B2A41"/>
                          </a:solidFill>
                        </a:rPr>
                        <a:t>2011</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dirty="0">
                          <a:solidFill>
                            <a:srgbClr val="1B2A41"/>
                          </a:solidFill>
                        </a:rPr>
                        <a:t>Toolkit</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dirty="0">
                          <a:solidFill>
                            <a:srgbClr val="1B2A41"/>
                          </a:solidFill>
                        </a:rPr>
                        <a:t>Yes</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r>
              <a:tr h="420624">
                <a:tc>
                  <a:txBody>
                    <a:bodyPr/>
                    <a:lstStyle/>
                    <a:p>
                      <a:pPr indent="0" marL="0">
                        <a:buNone/>
                      </a:pPr>
                      <a:r>
                        <a:rPr lang="en-US" sz="1200" b="1" dirty="0">
                          <a:solidFill>
                            <a:srgbClr val="1B2A41"/>
                          </a:solidFill>
                        </a:rPr>
                        <a:t>3</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Statistical Classification Methods in Consumer Credit Scoring: A Review</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1997</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Baseline and cost view</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Yes (Logistic Regression)</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B2A41"/>
                          </a:solidFill>
                        </a:rPr>
                        <a:t>4</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dirty="0">
                          <a:solidFill>
                            <a:srgbClr val="1B2A41"/>
                          </a:solidFill>
                        </a:rPr>
                        <a:t>Consumer Credit-Risk Models via Machine-Learning Algorithms</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dirty="0">
                          <a:solidFill>
                            <a:srgbClr val="1B2A41"/>
                          </a:solidFill>
                        </a:rPr>
                        <a:t>2010</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dirty="0">
                          <a:solidFill>
                            <a:srgbClr val="1B2A41"/>
                          </a:solidFill>
                        </a:rPr>
                        <a:t>Motivation</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b="1" dirty="0">
                          <a:solidFill>
                            <a:srgbClr val="1B2A41"/>
                          </a:solidFill>
                        </a:rPr>
                        <a:t>No (motivation)</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r>
              <a:tr h="420624">
                <a:tc>
                  <a:txBody>
                    <a:bodyPr/>
                    <a:lstStyle/>
                    <a:p>
                      <a:pPr indent="0" marL="0">
                        <a:buNone/>
                      </a:pPr>
                      <a:r>
                        <a:rPr lang="en-US" sz="1200" b="1" dirty="0">
                          <a:solidFill>
                            <a:srgbClr val="1B2A41"/>
                          </a:solidFill>
                        </a:rPr>
                        <a:t>5</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Benchmarking State-of-the-Art Classification Algorithms for Credit Scoring</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2015</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Evidence for ensembles</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b="1" dirty="0">
                          <a:solidFill>
                            <a:srgbClr val="1B2A41"/>
                          </a:solidFill>
                        </a:rPr>
                        <a:t>No (motivation)</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B2A41"/>
                          </a:solidFill>
                        </a:rPr>
                        <a:t>6</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dirty="0">
                          <a:solidFill>
                            <a:srgbClr val="1B2A41"/>
                          </a:solidFill>
                        </a:rPr>
                        <a:t>XGBoost: A Scalable Tree Boosting System</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dirty="0">
                          <a:solidFill>
                            <a:srgbClr val="1B2A41"/>
                          </a:solidFill>
                        </a:rPr>
                        <a:t>2016</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dirty="0">
                          <a:solidFill>
                            <a:srgbClr val="1B2A41"/>
                          </a:solidFill>
                        </a:rPr>
                        <a:t>Related work</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b="1" dirty="0">
                          <a:solidFill>
                            <a:srgbClr val="1B2A41"/>
                          </a:solidFill>
                        </a:rPr>
                        <a:t>No</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r>
              <a:tr h="420624">
                <a:tc>
                  <a:txBody>
                    <a:bodyPr/>
                    <a:lstStyle/>
                    <a:p>
                      <a:pPr indent="0" marL="0">
                        <a:buNone/>
                      </a:pPr>
                      <a:r>
                        <a:rPr lang="en-US" sz="1200" b="1" dirty="0">
                          <a:solidFill>
                            <a:srgbClr val="1B2A41"/>
                          </a:solidFill>
                        </a:rPr>
                        <a:t>7</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SMOTE: Synthetic Minority Over-sampling Technique</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2002</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Imbalance idea</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b="1" dirty="0">
                          <a:solidFill>
                            <a:srgbClr val="1B2A41"/>
                          </a:solidFill>
                        </a:rPr>
                        <a:t>No (future work)</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B2A41"/>
                          </a:solidFill>
                        </a:rPr>
                        <a:t>8</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dirty="0">
                          <a:solidFill>
                            <a:srgbClr val="1B2A41"/>
                          </a:solidFill>
                        </a:rPr>
                        <a:t>An Introduction to ROC Analysis</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dirty="0">
                          <a:solidFill>
                            <a:srgbClr val="1B2A41"/>
                          </a:solidFill>
                        </a:rPr>
                        <a:t>2006</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dirty="0">
                          <a:solidFill>
                            <a:srgbClr val="1B2A41"/>
                          </a:solidFill>
                        </a:rPr>
                        <a:t>Metrics</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dirty="0">
                          <a:solidFill>
                            <a:srgbClr val="1B2A41"/>
                          </a:solidFill>
                        </a:rPr>
                        <a:t>Partly (metrics)</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r>
              <a:tr h="420624">
                <a:tc>
                  <a:txBody>
                    <a:bodyPr/>
                    <a:lstStyle/>
                    <a:p>
                      <a:pPr indent="0" marL="0">
                        <a:buNone/>
                      </a:pPr>
                      <a:r>
                        <a:rPr lang="en-US" sz="1200" b="1" dirty="0">
                          <a:solidFill>
                            <a:srgbClr val="1B2A41"/>
                          </a:solidFill>
                        </a:rPr>
                        <a:t>9</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A Survey of Credit and Behavioural Scoring</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2000</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Retraining and monitoring</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rPr>
                        <a:t>Partly (pipeline)</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B2A41"/>
                          </a:solidFill>
                        </a:rPr>
                        <a:t>10</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dirty="0">
                          <a:solidFill>
                            <a:srgbClr val="1B2A41"/>
                          </a:solidFill>
                        </a:rPr>
                        <a:t>The Elements of Statistical Learning</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dirty="0">
                          <a:solidFill>
                            <a:srgbClr val="1B2A41"/>
                          </a:solidFill>
                        </a:rPr>
                        <a:t>2009</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dirty="0">
                          <a:solidFill>
                            <a:srgbClr val="1B2A41"/>
                          </a:solidFill>
                        </a:rPr>
                        <a:t>Evaluation theory</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c>
                  <a:txBody>
                    <a:bodyPr/>
                    <a:lstStyle/>
                    <a:p>
                      <a:pPr indent="0" marL="0">
                        <a:buNone/>
                      </a:pPr>
                      <a:r>
                        <a:rPr lang="en-US" sz="1200" dirty="0">
                          <a:solidFill>
                            <a:srgbClr val="1B2A41"/>
                          </a:solidFill>
                        </a:rPr>
                        <a:t>Yes (split, tuning)</a:t>
                      </a:r>
                      <a:endParaRPr lang="en-US" sz="1200" dirty="0"/>
                    </a:p>
                  </a:txBody>
                  <a:tcPr marL="91440" marR="91440" marT="45720" marB="4572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7FAFC"/>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um"/>
          <p:cNvSpPr/>
          <p:nvPr/>
        </p:nvSpPr>
        <p:spPr>
          <a:xfrm>
            <a:off x="548640" y="365760"/>
            <a:ext cx="685800" cy="685800"/>
          </a:xfrm>
          <a:prstGeom prst="ellipse">
            <a:avLst/>
          </a:prstGeom>
          <a:solidFill>
            <a:srgbClr val="2A9D8F"/>
          </a:solidFill>
          <a:ln w="12700">
            <a:solidFill>
              <a:srgbClr val="2A9D8F"/>
            </a:solidFill>
            <a:prstDash val="solid"/>
          </a:ln>
        </p:spPr>
      </p:sp>
      <p:sp>
        <p:nvSpPr>
          <p:cNvPr id="3"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rPr>
              <a:t>1</a:t>
            </a:r>
            <a:endParaRPr lang="en-US" sz="2400" dirty="0"/>
          </a:p>
        </p:txBody>
      </p:sp>
      <p:sp>
        <p:nvSpPr>
          <p:cNvPr id="4" name="Text 2"/>
          <p:cNvSpPr txBox="1"/>
          <p:nvPr/>
        </p:nvSpPr>
        <p:spPr>
          <a:xfrm>
            <a:off x="1463040" y="274320"/>
            <a:ext cx="10149840" cy="86868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Random Forests</a:t>
            </a:r>
            <a:endParaRPr lang="en-US" sz="3200" dirty="0"/>
          </a:p>
        </p:txBody>
      </p:sp>
      <p:sp>
        <p:nvSpPr>
          <p:cNvPr id="5" name="Text 3"/>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5B6B7B"/>
                </a:solidFill>
              </a:rPr>
              <a:t>L. Breiman (2001). Machine Learning, vol. 45, no. 1, pp. 5–32.   Deck: slides 6–7 (survey), 24 (refs)</a:t>
            </a:r>
            <a:endParaRPr lang="en-US" sz="1300" dirty="0"/>
          </a:p>
        </p:txBody>
      </p:sp>
      <p:sp>
        <p:nvSpPr>
          <p:cNvPr id="6" name="leftcard"/>
          <p:cNvSpPr/>
          <p:nvPr/>
        </p:nvSpPr>
        <p:spPr>
          <a:xfrm>
            <a:off x="548640" y="1691640"/>
            <a:ext cx="6309360" cy="3383280"/>
          </a:xfrm>
          <a:prstGeom prst="roundRect">
            <a:avLst>
              <a:gd name="adj" fmla="val 3243"/>
            </a:avLst>
          </a:prstGeom>
          <a:solidFill>
            <a:srgbClr val="EEF3F7"/>
          </a:solidFill>
          <a:ln w="12700">
            <a:solidFill>
              <a:srgbClr val="EEF3F7"/>
            </a:solidFill>
            <a:prstDash val="solid"/>
          </a:ln>
        </p:spPr>
      </p:sp>
      <p:sp>
        <p:nvSpPr>
          <p:cNvPr id="7" name="Text 5"/>
          <p:cNvSpPr txBox="1"/>
          <p:nvPr/>
        </p:nvSpPr>
        <p:spPr>
          <a:xfrm>
            <a:off x="777240" y="178308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What it is</a:t>
            </a:r>
            <a:endParaRPr lang="en-US" sz="1600" dirty="0"/>
          </a:p>
        </p:txBody>
      </p:sp>
      <p:sp>
        <p:nvSpPr>
          <p:cNvPr id="8" name="Text 6"/>
          <p:cNvSpPr txBox="1"/>
          <p:nvPr/>
        </p:nvSpPr>
        <p:spPr>
          <a:xfrm>
            <a:off x="777240" y="2148840"/>
            <a:ext cx="5852160" cy="868680"/>
          </a:xfrm>
          <a:prstGeom prst="rect">
            <a:avLst/>
          </a:prstGeom>
          <a:noFill/>
          <a:ln/>
        </p:spPr>
        <p:txBody>
          <a:bodyPr wrap="square" lIns="0" tIns="0" rIns="0" bIns="0" rtlCol="0" anchor="t"/>
          <a:lstStyle/>
          <a:p>
            <a:pPr indent="0" marL="0">
              <a:buNone/>
            </a:pPr>
            <a:r>
              <a:rPr lang="en-US" sz="1400" dirty="0">
                <a:solidFill>
                  <a:srgbClr val="1B2A41"/>
                </a:solidFill>
              </a:rPr>
              <a:t>Introduces Random Forests: many decision trees, each grown on a bootstrap sample, each split chosen from a random subset of features. Predictions are combined by voting.</a:t>
            </a:r>
            <a:endParaRPr lang="en-US" sz="1400" dirty="0"/>
          </a:p>
        </p:txBody>
      </p:sp>
      <p:sp>
        <p:nvSpPr>
          <p:cNvPr id="9" name="Text 7"/>
          <p:cNvSpPr txBox="1"/>
          <p:nvPr/>
        </p:nvSpPr>
        <p:spPr>
          <a:xfrm>
            <a:off x="777240" y="301752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Key points</a:t>
            </a:r>
            <a:endParaRPr lang="en-US" sz="1600" dirty="0"/>
          </a:p>
        </p:txBody>
      </p:sp>
      <p:sp>
        <p:nvSpPr>
          <p:cNvPr id="10" name="Text 8"/>
          <p:cNvSpPr txBox="1"/>
          <p:nvPr/>
        </p:nvSpPr>
        <p:spPr>
          <a:xfrm>
            <a:off x="777240" y="3383280"/>
            <a:ext cx="5852160" cy="16459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B2A41"/>
                </a:solidFill>
              </a:rPr>
              <a:t>Bagging plus random feature selection makes the trees less correlated</a:t>
            </a:r>
            <a:endParaRPr lang="en-US" sz="1400" dirty="0"/>
          </a:p>
          <a:p>
            <a:pPr marL="342900" indent="-342900">
              <a:spcAft>
                <a:spcPts val="300"/>
              </a:spcAft>
              <a:buSzPct val="100000"/>
              <a:buChar char="•"/>
            </a:pPr>
            <a:r>
              <a:rPr lang="en-US" sz="1400" dirty="0">
                <a:solidFill>
                  <a:srgbClr val="1B2A41"/>
                </a:solidFill>
              </a:rPr>
              <a:t>Generalisation error converges as trees are added, so more trees do not cause over-fitting</a:t>
            </a:r>
            <a:endParaRPr lang="en-US" sz="1400" dirty="0"/>
          </a:p>
          <a:p>
            <a:pPr marL="342900" indent="-342900">
              <a:spcAft>
                <a:spcPts val="300"/>
              </a:spcAft>
              <a:buSzPct val="100000"/>
              <a:buChar char="•"/>
            </a:pPr>
            <a:r>
              <a:rPr lang="en-US" sz="1400" dirty="0">
                <a:solidFill>
                  <a:srgbClr val="1B2A41"/>
                </a:solidFill>
              </a:rPr>
              <a:t>Provides out-of-bag error estimates and variable importance</a:t>
            </a:r>
            <a:endParaRPr lang="en-US" sz="1400" dirty="0"/>
          </a:p>
        </p:txBody>
      </p:sp>
      <p:sp>
        <p:nvSpPr>
          <p:cNvPr id="11" name="rightcard"/>
          <p:cNvSpPr/>
          <p:nvPr/>
        </p:nvSpPr>
        <p:spPr>
          <a:xfrm>
            <a:off x="7132320" y="1691640"/>
            <a:ext cx="4526280" cy="3383280"/>
          </a:xfrm>
          <a:prstGeom prst="roundRect">
            <a:avLst>
              <a:gd name="adj" fmla="val 3243"/>
            </a:avLst>
          </a:prstGeom>
          <a:solidFill>
            <a:srgbClr val="FFFFFF"/>
          </a:solidFill>
          <a:ln w="19050">
            <a:solidFill>
              <a:srgbClr val="2A9D8F"/>
            </a:solidFill>
            <a:prstDash val="solid"/>
          </a:ln>
        </p:spPr>
      </p:sp>
      <p:sp>
        <p:nvSpPr>
          <p:cNvPr id="12" name="Text 10"/>
          <p:cNvSpPr txBox="1"/>
          <p:nvPr/>
        </p:nvSpPr>
        <p:spPr>
          <a:xfrm>
            <a:off x="7360920" y="1783080"/>
            <a:ext cx="4114800" cy="365760"/>
          </a:xfrm>
          <a:prstGeom prst="rect">
            <a:avLst/>
          </a:prstGeom>
          <a:noFill/>
          <a:ln/>
        </p:spPr>
        <p:txBody>
          <a:bodyPr wrap="square" lIns="0" tIns="0" rIns="0" bIns="0" rtlCol="0" anchor="ctr"/>
          <a:lstStyle/>
          <a:p>
            <a:pPr indent="0" marL="0">
              <a:buNone/>
            </a:pPr>
            <a:r>
              <a:rPr lang="en-US" sz="1600" b="1" dirty="0">
                <a:solidFill>
                  <a:srgbClr val="E4572E"/>
                </a:solidFill>
              </a:rPr>
              <a:t>How it ties to our project</a:t>
            </a:r>
            <a:endParaRPr lang="en-US" sz="1600" dirty="0"/>
          </a:p>
        </p:txBody>
      </p:sp>
      <p:sp>
        <p:nvSpPr>
          <p:cNvPr id="13" name="Text 11"/>
          <p:cNvSpPr txBox="1"/>
          <p:nvPr/>
        </p:nvSpPr>
        <p:spPr>
          <a:xfrm>
            <a:off x="7360920" y="2194560"/>
            <a:ext cx="411480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41"/>
                </a:solidFill>
              </a:rPr>
              <a:t>Our final model is a RandomForestClassifier: 500 trees, max_depth 16, class_weight balanced</a:t>
            </a:r>
            <a:endParaRPr lang="en-US" sz="1400" dirty="0"/>
          </a:p>
          <a:p>
            <a:pPr marL="342900" indent="-342900">
              <a:spcAft>
                <a:spcPts val="600"/>
              </a:spcAft>
              <a:buSzPct val="100000"/>
              <a:buChar char="•"/>
            </a:pPr>
            <a:r>
              <a:rPr lang="en-US" sz="1400" dirty="0">
                <a:solidFill>
                  <a:srgbClr val="1B2A41"/>
                </a:solidFill>
              </a:rPr>
              <a:t>The feature-importance chart comes from this method</a:t>
            </a:r>
            <a:endParaRPr lang="en-US" sz="1400" dirty="0"/>
          </a:p>
        </p:txBody>
      </p:sp>
      <p:sp>
        <p:nvSpPr>
          <p:cNvPr id="14" name="askbanner"/>
          <p:cNvSpPr/>
          <p:nvPr/>
        </p:nvSpPr>
        <p:spPr>
          <a:xfrm>
            <a:off x="548640" y="5257800"/>
            <a:ext cx="11109960" cy="1005840"/>
          </a:xfrm>
          <a:prstGeom prst="roundRect">
            <a:avLst>
              <a:gd name="adj" fmla="val 10909"/>
            </a:avLst>
          </a:prstGeom>
          <a:solidFill>
            <a:srgbClr val="1B2A41"/>
          </a:solidFill>
          <a:ln w="12700">
            <a:solidFill>
              <a:srgbClr val="1B2A41"/>
            </a:solidFill>
            <a:prstDash val="solid"/>
          </a:ln>
        </p:spPr>
      </p:sp>
      <p:sp>
        <p:nvSpPr>
          <p:cNvPr id="15" name="Text 13"/>
          <p:cNvSpPr txBox="1"/>
          <p:nvPr/>
        </p:nvSpPr>
        <p:spPr>
          <a:xfrm>
            <a:off x="777240" y="5303520"/>
            <a:ext cx="10652760" cy="914400"/>
          </a:xfrm>
          <a:prstGeom prst="rect">
            <a:avLst/>
          </a:prstGeom>
          <a:noFill/>
          <a:ln/>
        </p:spPr>
        <p:txBody>
          <a:bodyPr wrap="square" lIns="0" tIns="0" rIns="0" bIns="0" rtlCol="0" anchor="ctr"/>
          <a:lstStyle/>
          <a:p>
            <a:pPr indent="0" marL="0">
              <a:buNone/>
            </a:pPr>
            <a:r>
              <a:rPr lang="en-US" sz="1400" b="1" dirty="0">
                <a:solidFill>
                  <a:srgbClr val="F2B134"/>
                </a:solidFill>
              </a:rPr>
              <a:t>If asked:  </a:t>
            </a:r>
            <a:pPr indent="0" marL="0">
              <a:buNone/>
            </a:pPr>
            <a:r>
              <a:rPr lang="en-US" sz="1400" dirty="0">
                <a:solidFill>
                  <a:srgbClr val="FFFFFF"/>
                </a:solidFill>
              </a:rPr>
              <a:t>Why Random Forest? Averaging many trees lowers variance compared with one tree, it handles mixed numeric and categorical inputs, and it gives importance scores.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um"/>
          <p:cNvSpPr/>
          <p:nvPr/>
        </p:nvSpPr>
        <p:spPr>
          <a:xfrm>
            <a:off x="548640" y="365760"/>
            <a:ext cx="685800" cy="685800"/>
          </a:xfrm>
          <a:prstGeom prst="ellipse">
            <a:avLst/>
          </a:prstGeom>
          <a:solidFill>
            <a:srgbClr val="2A9D8F"/>
          </a:solidFill>
          <a:ln w="12700">
            <a:solidFill>
              <a:srgbClr val="2A9D8F"/>
            </a:solidFill>
            <a:prstDash val="solid"/>
          </a:ln>
        </p:spPr>
      </p:sp>
      <p:sp>
        <p:nvSpPr>
          <p:cNvPr id="3"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rPr>
              <a:t>2</a:t>
            </a:r>
            <a:endParaRPr lang="en-US" sz="2400" dirty="0"/>
          </a:p>
        </p:txBody>
      </p:sp>
      <p:sp>
        <p:nvSpPr>
          <p:cNvPr id="4" name="Text 2"/>
          <p:cNvSpPr txBox="1"/>
          <p:nvPr/>
        </p:nvSpPr>
        <p:spPr>
          <a:xfrm>
            <a:off x="1463040" y="274320"/>
            <a:ext cx="10149840" cy="86868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Scikit-learn: Machine Learning in Python</a:t>
            </a:r>
            <a:endParaRPr lang="en-US" sz="3200" dirty="0"/>
          </a:p>
        </p:txBody>
      </p:sp>
      <p:sp>
        <p:nvSpPr>
          <p:cNvPr id="5" name="Text 3"/>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5B6B7B"/>
                </a:solidFill>
              </a:rPr>
              <a:t>F. Pedregosa et al. (2011). JMLR, vol. 12, pp. 2825–2830.   Deck: slides 6–7 (survey), 24 (refs)</a:t>
            </a:r>
            <a:endParaRPr lang="en-US" sz="1300" dirty="0"/>
          </a:p>
        </p:txBody>
      </p:sp>
      <p:sp>
        <p:nvSpPr>
          <p:cNvPr id="6" name="leftcard"/>
          <p:cNvSpPr/>
          <p:nvPr/>
        </p:nvSpPr>
        <p:spPr>
          <a:xfrm>
            <a:off x="548640" y="1691640"/>
            <a:ext cx="6309360" cy="3383280"/>
          </a:xfrm>
          <a:prstGeom prst="roundRect">
            <a:avLst>
              <a:gd name="adj" fmla="val 3243"/>
            </a:avLst>
          </a:prstGeom>
          <a:solidFill>
            <a:srgbClr val="EEF3F7"/>
          </a:solidFill>
          <a:ln w="12700">
            <a:solidFill>
              <a:srgbClr val="EEF3F7"/>
            </a:solidFill>
            <a:prstDash val="solid"/>
          </a:ln>
        </p:spPr>
      </p:sp>
      <p:sp>
        <p:nvSpPr>
          <p:cNvPr id="7" name="Text 5"/>
          <p:cNvSpPr txBox="1"/>
          <p:nvPr/>
        </p:nvSpPr>
        <p:spPr>
          <a:xfrm>
            <a:off x="777240" y="178308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What it is</a:t>
            </a:r>
            <a:endParaRPr lang="en-US" sz="1600" dirty="0"/>
          </a:p>
        </p:txBody>
      </p:sp>
      <p:sp>
        <p:nvSpPr>
          <p:cNvPr id="8" name="Text 6"/>
          <p:cNvSpPr txBox="1"/>
          <p:nvPr/>
        </p:nvSpPr>
        <p:spPr>
          <a:xfrm>
            <a:off x="777240" y="2148840"/>
            <a:ext cx="5852160" cy="868680"/>
          </a:xfrm>
          <a:prstGeom prst="rect">
            <a:avLst/>
          </a:prstGeom>
          <a:noFill/>
          <a:ln/>
        </p:spPr>
        <p:txBody>
          <a:bodyPr wrap="square" lIns="0" tIns="0" rIns="0" bIns="0" rtlCol="0" anchor="t"/>
          <a:lstStyle/>
          <a:p>
            <a:pPr indent="0" marL="0">
              <a:buNone/>
            </a:pPr>
            <a:r>
              <a:rPr lang="en-US" sz="1400" dirty="0">
                <a:solidFill>
                  <a:srgbClr val="1B2A41"/>
                </a:solidFill>
              </a:rPr>
              <a:t>Describes scikit-learn, the open-source Python library that gives classifiers, preprocessing, model selection and metrics one consistent interface.</a:t>
            </a:r>
            <a:endParaRPr lang="en-US" sz="1400" dirty="0"/>
          </a:p>
        </p:txBody>
      </p:sp>
      <p:sp>
        <p:nvSpPr>
          <p:cNvPr id="9" name="Text 7"/>
          <p:cNvSpPr txBox="1"/>
          <p:nvPr/>
        </p:nvSpPr>
        <p:spPr>
          <a:xfrm>
            <a:off x="777240" y="301752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Key points</a:t>
            </a:r>
            <a:endParaRPr lang="en-US" sz="1600" dirty="0"/>
          </a:p>
        </p:txBody>
      </p:sp>
      <p:sp>
        <p:nvSpPr>
          <p:cNvPr id="10" name="Text 8"/>
          <p:cNvSpPr txBox="1"/>
          <p:nvPr/>
        </p:nvSpPr>
        <p:spPr>
          <a:xfrm>
            <a:off x="777240" y="3383280"/>
            <a:ext cx="5852160" cy="16459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B2A41"/>
                </a:solidFill>
              </a:rPr>
              <a:t>Same fit / predict API across algorithms</a:t>
            </a:r>
            <a:endParaRPr lang="en-US" sz="1400" dirty="0"/>
          </a:p>
          <a:p>
            <a:pPr marL="342900" indent="-342900">
              <a:spcAft>
                <a:spcPts val="300"/>
              </a:spcAft>
              <a:buSzPct val="100000"/>
              <a:buChar char="•"/>
            </a:pPr>
            <a:r>
              <a:rPr lang="en-US" sz="1400" dirty="0">
                <a:solidFill>
                  <a:srgbClr val="1B2A41"/>
                </a:solidFill>
              </a:rPr>
              <a:t>Built on NumPy and SciPy, easy to use, well documented</a:t>
            </a:r>
            <a:endParaRPr lang="en-US" sz="1400" dirty="0"/>
          </a:p>
          <a:p>
            <a:pPr marL="342900" indent="-342900">
              <a:spcAft>
                <a:spcPts val="300"/>
              </a:spcAft>
              <a:buSzPct val="100000"/>
              <a:buChar char="•"/>
            </a:pPr>
            <a:r>
              <a:rPr lang="en-US" sz="1400" dirty="0">
                <a:solidFill>
                  <a:srgbClr val="1B2A41"/>
                </a:solidFill>
              </a:rPr>
              <a:t>Includes train/test splitting, scaling, cross-validation and metrics</a:t>
            </a:r>
            <a:endParaRPr lang="en-US" sz="1400" dirty="0"/>
          </a:p>
        </p:txBody>
      </p:sp>
      <p:sp>
        <p:nvSpPr>
          <p:cNvPr id="11" name="rightcard"/>
          <p:cNvSpPr/>
          <p:nvPr/>
        </p:nvSpPr>
        <p:spPr>
          <a:xfrm>
            <a:off x="7132320" y="1691640"/>
            <a:ext cx="4526280" cy="3383280"/>
          </a:xfrm>
          <a:prstGeom prst="roundRect">
            <a:avLst>
              <a:gd name="adj" fmla="val 3243"/>
            </a:avLst>
          </a:prstGeom>
          <a:solidFill>
            <a:srgbClr val="FFFFFF"/>
          </a:solidFill>
          <a:ln w="19050">
            <a:solidFill>
              <a:srgbClr val="2A9D8F"/>
            </a:solidFill>
            <a:prstDash val="solid"/>
          </a:ln>
        </p:spPr>
      </p:sp>
      <p:sp>
        <p:nvSpPr>
          <p:cNvPr id="12" name="Text 10"/>
          <p:cNvSpPr txBox="1"/>
          <p:nvPr/>
        </p:nvSpPr>
        <p:spPr>
          <a:xfrm>
            <a:off x="7360920" y="1783080"/>
            <a:ext cx="4114800" cy="365760"/>
          </a:xfrm>
          <a:prstGeom prst="rect">
            <a:avLst/>
          </a:prstGeom>
          <a:noFill/>
          <a:ln/>
        </p:spPr>
        <p:txBody>
          <a:bodyPr wrap="square" lIns="0" tIns="0" rIns="0" bIns="0" rtlCol="0" anchor="ctr"/>
          <a:lstStyle/>
          <a:p>
            <a:pPr indent="0" marL="0">
              <a:buNone/>
            </a:pPr>
            <a:r>
              <a:rPr lang="en-US" sz="1600" b="1" dirty="0">
                <a:solidFill>
                  <a:srgbClr val="E4572E"/>
                </a:solidFill>
              </a:rPr>
              <a:t>How it ties to our project</a:t>
            </a:r>
            <a:endParaRPr lang="en-US" sz="1600" dirty="0"/>
          </a:p>
        </p:txBody>
      </p:sp>
      <p:sp>
        <p:nvSpPr>
          <p:cNvPr id="13" name="Text 11"/>
          <p:cNvSpPr txBox="1"/>
          <p:nvPr/>
        </p:nvSpPr>
        <p:spPr>
          <a:xfrm>
            <a:off x="7360920" y="2194560"/>
            <a:ext cx="411480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41"/>
                </a:solidFill>
              </a:rPr>
              <a:t>train_model.py uses LogisticRegression, RandomForestClassifier, train_test_split and the metric functions</a:t>
            </a:r>
            <a:endParaRPr lang="en-US" sz="1400" dirty="0"/>
          </a:p>
          <a:p>
            <a:pPr marL="342900" indent="-342900">
              <a:spcAft>
                <a:spcPts val="600"/>
              </a:spcAft>
              <a:buSzPct val="100000"/>
              <a:buChar char="•"/>
            </a:pPr>
            <a:r>
              <a:rPr lang="en-US" sz="1400" dirty="0">
                <a:solidFill>
                  <a:srgbClr val="1B2A41"/>
                </a:solidFill>
              </a:rPr>
              <a:t>The trained model is saved and loaded with joblib</a:t>
            </a:r>
            <a:endParaRPr lang="en-US" sz="1400" dirty="0"/>
          </a:p>
        </p:txBody>
      </p:sp>
      <p:sp>
        <p:nvSpPr>
          <p:cNvPr id="14" name="askbanner"/>
          <p:cNvSpPr/>
          <p:nvPr/>
        </p:nvSpPr>
        <p:spPr>
          <a:xfrm>
            <a:off x="548640" y="5257800"/>
            <a:ext cx="11109960" cy="1005840"/>
          </a:xfrm>
          <a:prstGeom prst="roundRect">
            <a:avLst>
              <a:gd name="adj" fmla="val 10909"/>
            </a:avLst>
          </a:prstGeom>
          <a:solidFill>
            <a:srgbClr val="1B2A41"/>
          </a:solidFill>
          <a:ln w="12700">
            <a:solidFill>
              <a:srgbClr val="1B2A41"/>
            </a:solidFill>
            <a:prstDash val="solid"/>
          </a:ln>
        </p:spPr>
      </p:sp>
      <p:sp>
        <p:nvSpPr>
          <p:cNvPr id="15" name="Text 13"/>
          <p:cNvSpPr txBox="1"/>
          <p:nvPr/>
        </p:nvSpPr>
        <p:spPr>
          <a:xfrm>
            <a:off x="777240" y="5303520"/>
            <a:ext cx="10652760" cy="914400"/>
          </a:xfrm>
          <a:prstGeom prst="rect">
            <a:avLst/>
          </a:prstGeom>
          <a:noFill/>
          <a:ln/>
        </p:spPr>
        <p:txBody>
          <a:bodyPr wrap="square" lIns="0" tIns="0" rIns="0" bIns="0" rtlCol="0" anchor="ctr"/>
          <a:lstStyle/>
          <a:p>
            <a:pPr indent="0" marL="0">
              <a:buNone/>
            </a:pPr>
            <a:r>
              <a:rPr lang="en-US" sz="1400" b="1" dirty="0">
                <a:solidFill>
                  <a:srgbClr val="F2B134"/>
                </a:solidFill>
              </a:rPr>
              <a:t>If asked:  </a:t>
            </a:r>
            <a:pPr indent="0" marL="0">
              <a:buNone/>
            </a:pPr>
            <a:r>
              <a:rPr lang="en-US" sz="1400" dirty="0">
                <a:solidFill>
                  <a:srgbClr val="FFFFFF"/>
                </a:solidFill>
              </a:rPr>
              <a:t>Which library did you use? scikit-learn. Its common API let us compare Logistic Regression and Random Forest fairly on the same split.</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num"/>
          <p:cNvSpPr/>
          <p:nvPr/>
        </p:nvSpPr>
        <p:spPr>
          <a:xfrm>
            <a:off x="548640" y="365760"/>
            <a:ext cx="685800" cy="685800"/>
          </a:xfrm>
          <a:prstGeom prst="ellipse">
            <a:avLst/>
          </a:prstGeom>
          <a:solidFill>
            <a:srgbClr val="2A9D8F"/>
          </a:solidFill>
          <a:ln w="12700">
            <a:solidFill>
              <a:srgbClr val="2A9D8F"/>
            </a:solidFill>
            <a:prstDash val="solid"/>
          </a:ln>
        </p:spPr>
      </p:sp>
      <p:sp>
        <p:nvSpPr>
          <p:cNvPr id="3"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rPr>
              <a:t>3</a:t>
            </a:r>
            <a:endParaRPr lang="en-US" sz="2400" dirty="0"/>
          </a:p>
        </p:txBody>
      </p:sp>
      <p:sp>
        <p:nvSpPr>
          <p:cNvPr id="4" name="Text 2"/>
          <p:cNvSpPr txBox="1"/>
          <p:nvPr/>
        </p:nvSpPr>
        <p:spPr>
          <a:xfrm>
            <a:off x="1463040" y="274320"/>
            <a:ext cx="10149840" cy="868680"/>
          </a:xfrm>
          <a:prstGeom prst="rect">
            <a:avLst/>
          </a:prstGeom>
          <a:noFill/>
          <a:ln/>
        </p:spPr>
        <p:txBody>
          <a:bodyPr wrap="square" lIns="0" tIns="0" rIns="0" bIns="0" rtlCol="0" anchor="ctr"/>
          <a:lstStyle/>
          <a:p>
            <a:pPr indent="0" marL="0">
              <a:buNone/>
            </a:pPr>
            <a:r>
              <a:rPr lang="en-US" sz="2600" b="1" dirty="0">
                <a:solidFill>
                  <a:srgbClr val="1B2A41"/>
                </a:solidFill>
                <a:latin typeface="Cambria" pitchFamily="34" charset="0"/>
                <a:ea typeface="Cambria" pitchFamily="34" charset="-122"/>
                <a:cs typeface="Cambria" pitchFamily="34" charset="-120"/>
              </a:rPr>
              <a:t>Statistical Classification Methods in Consumer Credit Scoring: A Review</a:t>
            </a:r>
            <a:endParaRPr lang="en-US" sz="2600" dirty="0"/>
          </a:p>
        </p:txBody>
      </p:sp>
      <p:sp>
        <p:nvSpPr>
          <p:cNvPr id="5" name="Text 3"/>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5B6B7B"/>
                </a:solidFill>
              </a:rPr>
              <a:t>D. J. Hand and W. E. Henley (1997). J. Royal Statistical Society A, vol. 160, no. 3, pp. 523–541.   Deck: slides 6–7 (survey), 24 (refs)</a:t>
            </a:r>
            <a:endParaRPr lang="en-US" sz="1300" dirty="0"/>
          </a:p>
        </p:txBody>
      </p:sp>
      <p:sp>
        <p:nvSpPr>
          <p:cNvPr id="6" name="leftcard"/>
          <p:cNvSpPr/>
          <p:nvPr/>
        </p:nvSpPr>
        <p:spPr>
          <a:xfrm>
            <a:off x="548640" y="1691640"/>
            <a:ext cx="6309360" cy="3383280"/>
          </a:xfrm>
          <a:prstGeom prst="roundRect">
            <a:avLst>
              <a:gd name="adj" fmla="val 3243"/>
            </a:avLst>
          </a:prstGeom>
          <a:solidFill>
            <a:srgbClr val="EEF3F7"/>
          </a:solidFill>
          <a:ln w="12700">
            <a:solidFill>
              <a:srgbClr val="EEF3F7"/>
            </a:solidFill>
            <a:prstDash val="solid"/>
          </a:ln>
        </p:spPr>
      </p:sp>
      <p:sp>
        <p:nvSpPr>
          <p:cNvPr id="7" name="Text 5"/>
          <p:cNvSpPr txBox="1"/>
          <p:nvPr/>
        </p:nvSpPr>
        <p:spPr>
          <a:xfrm>
            <a:off x="777240" y="178308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What it is</a:t>
            </a:r>
            <a:endParaRPr lang="en-US" sz="1600" dirty="0"/>
          </a:p>
        </p:txBody>
      </p:sp>
      <p:sp>
        <p:nvSpPr>
          <p:cNvPr id="8" name="Text 6"/>
          <p:cNvSpPr txBox="1"/>
          <p:nvPr/>
        </p:nvSpPr>
        <p:spPr>
          <a:xfrm>
            <a:off x="777240" y="2148840"/>
            <a:ext cx="5852160" cy="868680"/>
          </a:xfrm>
          <a:prstGeom prst="rect">
            <a:avLst/>
          </a:prstGeom>
          <a:noFill/>
          <a:ln/>
        </p:spPr>
        <p:txBody>
          <a:bodyPr wrap="square" lIns="0" tIns="0" rIns="0" bIns="0" rtlCol="0" anchor="t"/>
          <a:lstStyle/>
          <a:p>
            <a:pPr indent="0" marL="0">
              <a:buNone/>
            </a:pPr>
            <a:r>
              <a:rPr lang="en-US" sz="1400" dirty="0">
                <a:solidFill>
                  <a:srgbClr val="1B2A41"/>
                </a:solidFill>
              </a:rPr>
              <a:t>A review of the statistical methods used to classify credit applicants as good or bad risks.</a:t>
            </a:r>
            <a:endParaRPr lang="en-US" sz="1400" dirty="0"/>
          </a:p>
        </p:txBody>
      </p:sp>
      <p:sp>
        <p:nvSpPr>
          <p:cNvPr id="9" name="Text 7"/>
          <p:cNvSpPr txBox="1"/>
          <p:nvPr/>
        </p:nvSpPr>
        <p:spPr>
          <a:xfrm>
            <a:off x="777240" y="301752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Key points</a:t>
            </a:r>
            <a:endParaRPr lang="en-US" sz="1600" dirty="0"/>
          </a:p>
        </p:txBody>
      </p:sp>
      <p:sp>
        <p:nvSpPr>
          <p:cNvPr id="10" name="Text 8"/>
          <p:cNvSpPr txBox="1"/>
          <p:nvPr/>
        </p:nvSpPr>
        <p:spPr>
          <a:xfrm>
            <a:off x="777240" y="3383280"/>
            <a:ext cx="5852160" cy="16459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B2A41"/>
                </a:solidFill>
              </a:rPr>
              <a:t>Covers discriminant analysis, logistic regression, nearest neighbour, decision trees and neural networks</a:t>
            </a:r>
            <a:endParaRPr lang="en-US" sz="1400" dirty="0"/>
          </a:p>
          <a:p>
            <a:pPr marL="342900" indent="-342900">
              <a:spcAft>
                <a:spcPts val="300"/>
              </a:spcAft>
              <a:buSzPct val="100000"/>
              <a:buChar char="•"/>
            </a:pPr>
            <a:r>
              <a:rPr lang="en-US" sz="1400" dirty="0">
                <a:solidFill>
                  <a:srgbClr val="1B2A41"/>
                </a:solidFill>
              </a:rPr>
              <a:t>Raises practical issues: unequal costs of misclassification and selection bias (rejected applicants have no outcome)</a:t>
            </a:r>
            <a:endParaRPr lang="en-US" sz="1400" dirty="0"/>
          </a:p>
          <a:p>
            <a:pPr marL="342900" indent="-342900">
              <a:spcAft>
                <a:spcPts val="300"/>
              </a:spcAft>
              <a:buSzPct val="100000"/>
              <a:buChar char="•"/>
            </a:pPr>
            <a:r>
              <a:rPr lang="en-US" sz="1400" dirty="0">
                <a:solidFill>
                  <a:srgbClr val="1B2A41"/>
                </a:solidFill>
              </a:rPr>
              <a:t>Methods often perform similarly, so practicality and interpretability matter</a:t>
            </a:r>
            <a:endParaRPr lang="en-US" sz="1400" dirty="0"/>
          </a:p>
        </p:txBody>
      </p:sp>
      <p:sp>
        <p:nvSpPr>
          <p:cNvPr id="11" name="rightcard"/>
          <p:cNvSpPr/>
          <p:nvPr/>
        </p:nvSpPr>
        <p:spPr>
          <a:xfrm>
            <a:off x="7132320" y="1691640"/>
            <a:ext cx="4526280" cy="3383280"/>
          </a:xfrm>
          <a:prstGeom prst="roundRect">
            <a:avLst>
              <a:gd name="adj" fmla="val 3243"/>
            </a:avLst>
          </a:prstGeom>
          <a:solidFill>
            <a:srgbClr val="FFFFFF"/>
          </a:solidFill>
          <a:ln w="19050">
            <a:solidFill>
              <a:srgbClr val="2A9D8F"/>
            </a:solidFill>
            <a:prstDash val="solid"/>
          </a:ln>
        </p:spPr>
      </p:sp>
      <p:sp>
        <p:nvSpPr>
          <p:cNvPr id="12" name="Text 10"/>
          <p:cNvSpPr txBox="1"/>
          <p:nvPr/>
        </p:nvSpPr>
        <p:spPr>
          <a:xfrm>
            <a:off x="7360920" y="1783080"/>
            <a:ext cx="4114800" cy="365760"/>
          </a:xfrm>
          <a:prstGeom prst="rect">
            <a:avLst/>
          </a:prstGeom>
          <a:noFill/>
          <a:ln/>
        </p:spPr>
        <p:txBody>
          <a:bodyPr wrap="square" lIns="0" tIns="0" rIns="0" bIns="0" rtlCol="0" anchor="ctr"/>
          <a:lstStyle/>
          <a:p>
            <a:pPr indent="0" marL="0">
              <a:buNone/>
            </a:pPr>
            <a:r>
              <a:rPr lang="en-US" sz="1600" b="1" dirty="0">
                <a:solidFill>
                  <a:srgbClr val="E4572E"/>
                </a:solidFill>
              </a:rPr>
              <a:t>How it ties to our project</a:t>
            </a:r>
            <a:endParaRPr lang="en-US" sz="1600" dirty="0"/>
          </a:p>
        </p:txBody>
      </p:sp>
      <p:sp>
        <p:nvSpPr>
          <p:cNvPr id="13" name="Text 11"/>
          <p:cNvSpPr txBox="1"/>
          <p:nvPr/>
        </p:nvSpPr>
        <p:spPr>
          <a:xfrm>
            <a:off x="7360920" y="2194560"/>
            <a:ext cx="411480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41"/>
                </a:solidFill>
              </a:rPr>
              <a:t>Justifies Logistic Regression as our classical baseline</a:t>
            </a:r>
            <a:endParaRPr lang="en-US" sz="1400" dirty="0"/>
          </a:p>
          <a:p>
            <a:pPr marL="342900" indent="-342900">
              <a:spcAft>
                <a:spcPts val="600"/>
              </a:spcAft>
              <a:buSzPct val="100000"/>
              <a:buChar char="•"/>
            </a:pPr>
            <a:r>
              <a:rPr lang="en-US" sz="1400" dirty="0">
                <a:solidFill>
                  <a:srgbClr val="1B2A41"/>
                </a:solidFill>
              </a:rPr>
              <a:t>A wrong approval costs more than a wrong rejection, so we use recall as a tie-break and add a rule layer</a:t>
            </a:r>
            <a:endParaRPr lang="en-US" sz="1400" dirty="0"/>
          </a:p>
        </p:txBody>
      </p:sp>
      <p:sp>
        <p:nvSpPr>
          <p:cNvPr id="14" name="askbanner"/>
          <p:cNvSpPr/>
          <p:nvPr/>
        </p:nvSpPr>
        <p:spPr>
          <a:xfrm>
            <a:off x="548640" y="5257800"/>
            <a:ext cx="11109960" cy="1005840"/>
          </a:xfrm>
          <a:prstGeom prst="roundRect">
            <a:avLst>
              <a:gd name="adj" fmla="val 10909"/>
            </a:avLst>
          </a:prstGeom>
          <a:solidFill>
            <a:srgbClr val="1B2A41"/>
          </a:solidFill>
          <a:ln w="12700">
            <a:solidFill>
              <a:srgbClr val="1B2A41"/>
            </a:solidFill>
            <a:prstDash val="solid"/>
          </a:ln>
        </p:spPr>
      </p:sp>
      <p:sp>
        <p:nvSpPr>
          <p:cNvPr id="15" name="Text 13"/>
          <p:cNvSpPr txBox="1"/>
          <p:nvPr/>
        </p:nvSpPr>
        <p:spPr>
          <a:xfrm>
            <a:off x="777240" y="5303520"/>
            <a:ext cx="10652760" cy="914400"/>
          </a:xfrm>
          <a:prstGeom prst="rect">
            <a:avLst/>
          </a:prstGeom>
          <a:noFill/>
          <a:ln/>
        </p:spPr>
        <p:txBody>
          <a:bodyPr wrap="square" lIns="0" tIns="0" rIns="0" bIns="0" rtlCol="0" anchor="ctr"/>
          <a:lstStyle/>
          <a:p>
            <a:pPr indent="0" marL="0">
              <a:buNone/>
            </a:pPr>
            <a:r>
              <a:rPr lang="en-US" sz="1400" b="1" dirty="0">
                <a:solidFill>
                  <a:srgbClr val="F2B134"/>
                </a:solidFill>
              </a:rPr>
              <a:t>If asked:  </a:t>
            </a:r>
            <a:pPr indent="0" marL="0">
              <a:buNone/>
            </a:pPr>
            <a:r>
              <a:rPr lang="en-US" sz="1400" dirty="0">
                <a:solidFill>
                  <a:srgbClr val="FFFFFF"/>
                </a:solidFill>
              </a:rPr>
              <a:t>Why a logistic regression baseline? It is the standard credit-scoring method in this review, so Random Forest must beat it to be justified.</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num"/>
          <p:cNvSpPr/>
          <p:nvPr/>
        </p:nvSpPr>
        <p:spPr>
          <a:xfrm>
            <a:off x="548640" y="365760"/>
            <a:ext cx="685800" cy="685800"/>
          </a:xfrm>
          <a:prstGeom prst="ellipse">
            <a:avLst/>
          </a:prstGeom>
          <a:solidFill>
            <a:srgbClr val="2A9D8F"/>
          </a:solidFill>
          <a:ln w="12700">
            <a:solidFill>
              <a:srgbClr val="2A9D8F"/>
            </a:solidFill>
            <a:prstDash val="solid"/>
          </a:ln>
        </p:spPr>
      </p:sp>
      <p:sp>
        <p:nvSpPr>
          <p:cNvPr id="3"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rPr>
              <a:t>4</a:t>
            </a:r>
            <a:endParaRPr lang="en-US" sz="2400" dirty="0"/>
          </a:p>
        </p:txBody>
      </p:sp>
      <p:sp>
        <p:nvSpPr>
          <p:cNvPr id="4" name="Text 2"/>
          <p:cNvSpPr txBox="1"/>
          <p:nvPr/>
        </p:nvSpPr>
        <p:spPr>
          <a:xfrm>
            <a:off x="1463040" y="274320"/>
            <a:ext cx="10149840" cy="868680"/>
          </a:xfrm>
          <a:prstGeom prst="rect">
            <a:avLst/>
          </a:prstGeom>
          <a:noFill/>
          <a:ln/>
        </p:spPr>
        <p:txBody>
          <a:bodyPr wrap="square" lIns="0" tIns="0" rIns="0" bIns="0" rtlCol="0" anchor="ctr"/>
          <a:lstStyle/>
          <a:p>
            <a:pPr indent="0" marL="0">
              <a:buNone/>
            </a:pPr>
            <a:r>
              <a:rPr lang="en-US" sz="2600" b="1" dirty="0">
                <a:solidFill>
                  <a:srgbClr val="1B2A41"/>
                </a:solidFill>
                <a:latin typeface="Cambria" pitchFamily="34" charset="0"/>
                <a:ea typeface="Cambria" pitchFamily="34" charset="-122"/>
                <a:cs typeface="Cambria" pitchFamily="34" charset="-120"/>
              </a:rPr>
              <a:t>Consumer Credit-Risk Models via Machine-Learning Algorithms</a:t>
            </a:r>
            <a:endParaRPr lang="en-US" sz="2600" dirty="0"/>
          </a:p>
        </p:txBody>
      </p:sp>
      <p:sp>
        <p:nvSpPr>
          <p:cNvPr id="5" name="Text 3"/>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5B6B7B"/>
                </a:solidFill>
              </a:rPr>
              <a:t>A. E. Khandani, A. J. Kim and A. W. Lo (2010). J. Banking &amp; Finance, vol. 34, no. 11, pp. 2767–2787.   Deck: slides 6–7 (survey), 24 (refs)</a:t>
            </a:r>
            <a:endParaRPr lang="en-US" sz="1300" dirty="0"/>
          </a:p>
        </p:txBody>
      </p:sp>
      <p:sp>
        <p:nvSpPr>
          <p:cNvPr id="6" name="leftcard"/>
          <p:cNvSpPr/>
          <p:nvPr/>
        </p:nvSpPr>
        <p:spPr>
          <a:xfrm>
            <a:off x="548640" y="1691640"/>
            <a:ext cx="6309360" cy="3383280"/>
          </a:xfrm>
          <a:prstGeom prst="roundRect">
            <a:avLst>
              <a:gd name="adj" fmla="val 3243"/>
            </a:avLst>
          </a:prstGeom>
          <a:solidFill>
            <a:srgbClr val="EEF3F7"/>
          </a:solidFill>
          <a:ln w="12700">
            <a:solidFill>
              <a:srgbClr val="EEF3F7"/>
            </a:solidFill>
            <a:prstDash val="solid"/>
          </a:ln>
        </p:spPr>
      </p:sp>
      <p:sp>
        <p:nvSpPr>
          <p:cNvPr id="7" name="Text 5"/>
          <p:cNvSpPr txBox="1"/>
          <p:nvPr/>
        </p:nvSpPr>
        <p:spPr>
          <a:xfrm>
            <a:off x="777240" y="178308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What it is</a:t>
            </a:r>
            <a:endParaRPr lang="en-US" sz="1600" dirty="0"/>
          </a:p>
        </p:txBody>
      </p:sp>
      <p:sp>
        <p:nvSpPr>
          <p:cNvPr id="8" name="Text 6"/>
          <p:cNvSpPr txBox="1"/>
          <p:nvPr/>
        </p:nvSpPr>
        <p:spPr>
          <a:xfrm>
            <a:off x="777240" y="2148840"/>
            <a:ext cx="5852160" cy="868680"/>
          </a:xfrm>
          <a:prstGeom prst="rect">
            <a:avLst/>
          </a:prstGeom>
          <a:noFill/>
          <a:ln/>
        </p:spPr>
        <p:txBody>
          <a:bodyPr wrap="square" lIns="0" tIns="0" rIns="0" bIns="0" rtlCol="0" anchor="t"/>
          <a:lstStyle/>
          <a:p>
            <a:pPr indent="0" marL="0">
              <a:buNone/>
            </a:pPr>
            <a:r>
              <a:rPr lang="en-US" sz="1400" dirty="0">
                <a:solidFill>
                  <a:srgbClr val="1B2A41"/>
                </a:solidFill>
              </a:rPr>
              <a:t>Applies machine learning to build nonlinear, nonparametric forecasts of consumer credit risk.</a:t>
            </a:r>
            <a:endParaRPr lang="en-US" sz="1400" dirty="0"/>
          </a:p>
        </p:txBody>
      </p:sp>
      <p:sp>
        <p:nvSpPr>
          <p:cNvPr id="9" name="Text 7"/>
          <p:cNvSpPr txBox="1"/>
          <p:nvPr/>
        </p:nvSpPr>
        <p:spPr>
          <a:xfrm>
            <a:off x="777240" y="301752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Key points</a:t>
            </a:r>
            <a:endParaRPr lang="en-US" sz="1600" dirty="0"/>
          </a:p>
        </p:txBody>
      </p:sp>
      <p:sp>
        <p:nvSpPr>
          <p:cNvPr id="10" name="Text 8"/>
          <p:cNvSpPr txBox="1"/>
          <p:nvPr/>
        </p:nvSpPr>
        <p:spPr>
          <a:xfrm>
            <a:off x="777240" y="3383280"/>
            <a:ext cx="5852160" cy="16459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B2A41"/>
                </a:solidFill>
              </a:rPr>
              <a:t>Combines a large commercial bank's customer data with credit-bureau data (Jan 2005 – Apr 2009)</a:t>
            </a:r>
            <a:endParaRPr lang="en-US" sz="1400" dirty="0"/>
          </a:p>
          <a:p>
            <a:pPr marL="342900" indent="-342900">
              <a:spcAft>
                <a:spcPts val="300"/>
              </a:spcAft>
              <a:buSzPct val="100000"/>
              <a:buChar char="•"/>
            </a:pPr>
            <a:r>
              <a:rPr lang="en-US" sz="1400" dirty="0">
                <a:solidFill>
                  <a:srgbClr val="1B2A41"/>
                </a:solidFill>
              </a:rPr>
              <a:t>Out-of-sample forecasts classify card delinquencies and defaults more accurately; reported R² of 85% between forecast and realised delinquencies</a:t>
            </a:r>
            <a:endParaRPr lang="en-US" sz="1400" dirty="0"/>
          </a:p>
          <a:p>
            <a:pPr marL="342900" indent="-342900">
              <a:spcAft>
                <a:spcPts val="300"/>
              </a:spcAft>
              <a:buSzPct val="100000"/>
              <a:buChar char="•"/>
            </a:pPr>
            <a:r>
              <a:rPr lang="en-US" sz="1400" dirty="0">
                <a:solidFill>
                  <a:srgbClr val="1B2A41"/>
                </a:solidFill>
              </a:rPr>
              <a:t>Authors estimate cutting credit lines on these forecasts could save 6% to 25% of total losses</a:t>
            </a:r>
            <a:endParaRPr lang="en-US" sz="1400" dirty="0"/>
          </a:p>
        </p:txBody>
      </p:sp>
      <p:sp>
        <p:nvSpPr>
          <p:cNvPr id="11" name="rightcard"/>
          <p:cNvSpPr/>
          <p:nvPr/>
        </p:nvSpPr>
        <p:spPr>
          <a:xfrm>
            <a:off x="7132320" y="1691640"/>
            <a:ext cx="4526280" cy="3383280"/>
          </a:xfrm>
          <a:prstGeom prst="roundRect">
            <a:avLst>
              <a:gd name="adj" fmla="val 3243"/>
            </a:avLst>
          </a:prstGeom>
          <a:solidFill>
            <a:srgbClr val="FFFFFF"/>
          </a:solidFill>
          <a:ln w="19050">
            <a:solidFill>
              <a:srgbClr val="2A9D8F"/>
            </a:solidFill>
            <a:prstDash val="solid"/>
          </a:ln>
        </p:spPr>
      </p:sp>
      <p:sp>
        <p:nvSpPr>
          <p:cNvPr id="12" name="Text 10"/>
          <p:cNvSpPr txBox="1"/>
          <p:nvPr/>
        </p:nvSpPr>
        <p:spPr>
          <a:xfrm>
            <a:off x="7360920" y="1783080"/>
            <a:ext cx="4114800" cy="365760"/>
          </a:xfrm>
          <a:prstGeom prst="rect">
            <a:avLst/>
          </a:prstGeom>
          <a:noFill/>
          <a:ln/>
        </p:spPr>
        <p:txBody>
          <a:bodyPr wrap="square" lIns="0" tIns="0" rIns="0" bIns="0" rtlCol="0" anchor="ctr"/>
          <a:lstStyle/>
          <a:p>
            <a:pPr indent="0" marL="0">
              <a:buNone/>
            </a:pPr>
            <a:r>
              <a:rPr lang="en-US" sz="1600" b="1" dirty="0">
                <a:solidFill>
                  <a:srgbClr val="E4572E"/>
                </a:solidFill>
              </a:rPr>
              <a:t>How it ties to our project</a:t>
            </a:r>
            <a:endParaRPr lang="en-US" sz="1600" dirty="0"/>
          </a:p>
        </p:txBody>
      </p:sp>
      <p:sp>
        <p:nvSpPr>
          <p:cNvPr id="13" name="Text 11"/>
          <p:cNvSpPr txBox="1"/>
          <p:nvPr/>
        </p:nvSpPr>
        <p:spPr>
          <a:xfrm>
            <a:off x="7360920" y="2194560"/>
            <a:ext cx="411480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41"/>
                </a:solidFill>
              </a:rPr>
              <a:t>Motivation: ML can beat conventional scoring on real lending data</a:t>
            </a:r>
            <a:endParaRPr lang="en-US" sz="1400" dirty="0"/>
          </a:p>
          <a:p>
            <a:pPr marL="342900" indent="-342900">
              <a:spcAft>
                <a:spcPts val="600"/>
              </a:spcAft>
              <a:buSzPct val="100000"/>
              <a:buChar char="•"/>
            </a:pPr>
            <a:r>
              <a:rPr lang="en-US" sz="1400" dirty="0">
                <a:solidFill>
                  <a:srgbClr val="1B2A41"/>
                </a:solidFill>
              </a:rPr>
              <a:t>Our data is synthetic, so we do not claim comparable gains</a:t>
            </a:r>
            <a:endParaRPr lang="en-US" sz="1400" dirty="0"/>
          </a:p>
        </p:txBody>
      </p:sp>
      <p:sp>
        <p:nvSpPr>
          <p:cNvPr id="14" name="askbanner"/>
          <p:cNvSpPr/>
          <p:nvPr/>
        </p:nvSpPr>
        <p:spPr>
          <a:xfrm>
            <a:off x="548640" y="5257800"/>
            <a:ext cx="11109960" cy="1005840"/>
          </a:xfrm>
          <a:prstGeom prst="roundRect">
            <a:avLst>
              <a:gd name="adj" fmla="val 10909"/>
            </a:avLst>
          </a:prstGeom>
          <a:solidFill>
            <a:srgbClr val="1B2A41"/>
          </a:solidFill>
          <a:ln w="12700">
            <a:solidFill>
              <a:srgbClr val="1B2A41"/>
            </a:solidFill>
            <a:prstDash val="solid"/>
          </a:ln>
        </p:spPr>
      </p:sp>
      <p:sp>
        <p:nvSpPr>
          <p:cNvPr id="15" name="Text 13"/>
          <p:cNvSpPr txBox="1"/>
          <p:nvPr/>
        </p:nvSpPr>
        <p:spPr>
          <a:xfrm>
            <a:off x="777240" y="5303520"/>
            <a:ext cx="10652760" cy="914400"/>
          </a:xfrm>
          <a:prstGeom prst="rect">
            <a:avLst/>
          </a:prstGeom>
          <a:noFill/>
          <a:ln/>
        </p:spPr>
        <p:txBody>
          <a:bodyPr wrap="square" lIns="0" tIns="0" rIns="0" bIns="0" rtlCol="0" anchor="ctr"/>
          <a:lstStyle/>
          <a:p>
            <a:pPr indent="0" marL="0">
              <a:buNone/>
            </a:pPr>
            <a:r>
              <a:rPr lang="en-US" sz="1400" b="1" dirty="0">
                <a:solidFill>
                  <a:srgbClr val="F2B134"/>
                </a:solidFill>
              </a:rPr>
              <a:t>If asked:  </a:t>
            </a:r>
            <a:pPr indent="0" marL="0">
              <a:buNone/>
            </a:pPr>
            <a:r>
              <a:rPr lang="en-US" sz="1400" dirty="0">
                <a:solidFill>
                  <a:srgbClr val="FFFFFF"/>
                </a:solidFill>
              </a:rPr>
              <a:t>Does ML really help in lending? This real-bank study reports it does. Ours is a prototype on synthetic data, so we only claim the method works end to end.</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um"/>
          <p:cNvSpPr/>
          <p:nvPr/>
        </p:nvSpPr>
        <p:spPr>
          <a:xfrm>
            <a:off x="548640" y="365760"/>
            <a:ext cx="685800" cy="685800"/>
          </a:xfrm>
          <a:prstGeom prst="ellipse">
            <a:avLst/>
          </a:prstGeom>
          <a:solidFill>
            <a:srgbClr val="2A9D8F"/>
          </a:solidFill>
          <a:ln w="12700">
            <a:solidFill>
              <a:srgbClr val="2A9D8F"/>
            </a:solidFill>
            <a:prstDash val="solid"/>
          </a:ln>
        </p:spPr>
      </p:sp>
      <p:sp>
        <p:nvSpPr>
          <p:cNvPr id="3"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rPr>
              <a:t>5</a:t>
            </a:r>
            <a:endParaRPr lang="en-US" sz="2400" dirty="0"/>
          </a:p>
        </p:txBody>
      </p:sp>
      <p:sp>
        <p:nvSpPr>
          <p:cNvPr id="4" name="Text 2"/>
          <p:cNvSpPr txBox="1"/>
          <p:nvPr/>
        </p:nvSpPr>
        <p:spPr>
          <a:xfrm>
            <a:off x="1463040" y="274320"/>
            <a:ext cx="10149840" cy="868680"/>
          </a:xfrm>
          <a:prstGeom prst="rect">
            <a:avLst/>
          </a:prstGeom>
          <a:noFill/>
          <a:ln/>
        </p:spPr>
        <p:txBody>
          <a:bodyPr wrap="square" lIns="0" tIns="0" rIns="0" bIns="0" rtlCol="0" anchor="ctr"/>
          <a:lstStyle/>
          <a:p>
            <a:pPr indent="0" marL="0">
              <a:buNone/>
            </a:pPr>
            <a:r>
              <a:rPr lang="en-US" sz="2600" b="1" dirty="0">
                <a:solidFill>
                  <a:srgbClr val="1B2A41"/>
                </a:solidFill>
                <a:latin typeface="Cambria" pitchFamily="34" charset="0"/>
                <a:ea typeface="Cambria" pitchFamily="34" charset="-122"/>
                <a:cs typeface="Cambria" pitchFamily="34" charset="-120"/>
              </a:rPr>
              <a:t>Benchmarking State-of-the-Art Classification Algorithms for Credit Scoring</a:t>
            </a:r>
            <a:endParaRPr lang="en-US" sz="2600" dirty="0"/>
          </a:p>
        </p:txBody>
      </p:sp>
      <p:sp>
        <p:nvSpPr>
          <p:cNvPr id="5" name="Text 3"/>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5B6B7B"/>
                </a:solidFill>
              </a:rPr>
              <a:t>S. Lessmann, B. Baesens, H.-V. Seow and L. C. Thomas (2015). European J. Operational Research, vol. 247, no. 1, pp. 124–136.   Deck: slides 6–7 (survey), 24 (refs)</a:t>
            </a:r>
            <a:endParaRPr lang="en-US" sz="1300" dirty="0"/>
          </a:p>
        </p:txBody>
      </p:sp>
      <p:sp>
        <p:nvSpPr>
          <p:cNvPr id="6" name="leftcard"/>
          <p:cNvSpPr/>
          <p:nvPr/>
        </p:nvSpPr>
        <p:spPr>
          <a:xfrm>
            <a:off x="548640" y="1691640"/>
            <a:ext cx="6309360" cy="3383280"/>
          </a:xfrm>
          <a:prstGeom prst="roundRect">
            <a:avLst>
              <a:gd name="adj" fmla="val 3243"/>
            </a:avLst>
          </a:prstGeom>
          <a:solidFill>
            <a:srgbClr val="EEF3F7"/>
          </a:solidFill>
          <a:ln w="12700">
            <a:solidFill>
              <a:srgbClr val="EEF3F7"/>
            </a:solidFill>
            <a:prstDash val="solid"/>
          </a:ln>
        </p:spPr>
      </p:sp>
      <p:sp>
        <p:nvSpPr>
          <p:cNvPr id="7" name="Text 5"/>
          <p:cNvSpPr txBox="1"/>
          <p:nvPr/>
        </p:nvSpPr>
        <p:spPr>
          <a:xfrm>
            <a:off x="777240" y="178308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What it is</a:t>
            </a:r>
            <a:endParaRPr lang="en-US" sz="1600" dirty="0"/>
          </a:p>
        </p:txBody>
      </p:sp>
      <p:sp>
        <p:nvSpPr>
          <p:cNvPr id="8" name="Text 6"/>
          <p:cNvSpPr txBox="1"/>
          <p:nvPr/>
        </p:nvSpPr>
        <p:spPr>
          <a:xfrm>
            <a:off x="777240" y="2148840"/>
            <a:ext cx="5852160" cy="868680"/>
          </a:xfrm>
          <a:prstGeom prst="rect">
            <a:avLst/>
          </a:prstGeom>
          <a:noFill/>
          <a:ln/>
        </p:spPr>
        <p:txBody>
          <a:bodyPr wrap="square" lIns="0" tIns="0" rIns="0" bIns="0" rtlCol="0" anchor="t"/>
          <a:lstStyle/>
          <a:p>
            <a:pPr indent="0" marL="0">
              <a:buNone/>
            </a:pPr>
            <a:r>
              <a:rPr lang="en-US" sz="1400" dirty="0">
                <a:solidFill>
                  <a:srgbClr val="1B2A41"/>
                </a:solidFill>
              </a:rPr>
              <a:t>An update of the 2003 Baesens et al. benchmark. It compares newer algorithms against the credit-scoring state of the art.</a:t>
            </a:r>
            <a:endParaRPr lang="en-US" sz="1400" dirty="0"/>
          </a:p>
        </p:txBody>
      </p:sp>
      <p:sp>
        <p:nvSpPr>
          <p:cNvPr id="9" name="Text 7"/>
          <p:cNvSpPr txBox="1"/>
          <p:nvPr/>
        </p:nvSpPr>
        <p:spPr>
          <a:xfrm>
            <a:off x="777240" y="301752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Key points</a:t>
            </a:r>
            <a:endParaRPr lang="en-US" sz="1600" dirty="0"/>
          </a:p>
        </p:txBody>
      </p:sp>
      <p:sp>
        <p:nvSpPr>
          <p:cNvPr id="10" name="Text 8"/>
          <p:cNvSpPr txBox="1"/>
          <p:nvPr/>
        </p:nvSpPr>
        <p:spPr>
          <a:xfrm>
            <a:off x="777240" y="3383280"/>
            <a:ext cx="5852160" cy="16459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B2A41"/>
                </a:solidFill>
              </a:rPr>
              <a:t>Notes new learning methods, performance measures and comparison techniques since 2003</a:t>
            </a:r>
            <a:endParaRPr lang="en-US" sz="1400" dirty="0"/>
          </a:p>
          <a:p>
            <a:pPr marL="342900" indent="-342900">
              <a:spcAft>
                <a:spcPts val="300"/>
              </a:spcAft>
              <a:buSzPct val="100000"/>
              <a:buChar char="•"/>
            </a:pPr>
            <a:r>
              <a:rPr lang="en-US" sz="1400" dirty="0">
                <a:solidFill>
                  <a:srgbClr val="1B2A41"/>
                </a:solidFill>
              </a:rPr>
              <a:t>Checks whether rankings change under different accuracy measures</a:t>
            </a:r>
            <a:endParaRPr lang="en-US" sz="1400" dirty="0"/>
          </a:p>
          <a:p>
            <a:pPr marL="342900" indent="-342900">
              <a:spcAft>
                <a:spcPts val="300"/>
              </a:spcAft>
              <a:buSzPct val="100000"/>
              <a:buChar char="•"/>
            </a:pPr>
            <a:r>
              <a:rPr lang="en-US" sz="1400" dirty="0">
                <a:solidFill>
                  <a:srgbClr val="1B2A41"/>
                </a:solidFill>
              </a:rPr>
              <a:t>Asks whether more accurate classifiers matter in business terms; positioned as a new baseline</a:t>
            </a:r>
            <a:endParaRPr lang="en-US" sz="1400" dirty="0"/>
          </a:p>
          <a:p>
            <a:pPr marL="342900" indent="-342900">
              <a:spcAft>
                <a:spcPts val="300"/>
              </a:spcAft>
              <a:buSzPct val="100000"/>
              <a:buChar char="•"/>
            </a:pPr>
            <a:r>
              <a:rPr lang="en-US" sz="1400" dirty="0">
                <a:solidFill>
                  <a:srgbClr val="1B2A41"/>
                </a:solidFill>
              </a:rPr>
              <a:t>Ensemble methods rank among the best (the inference in our literature table)</a:t>
            </a:r>
            <a:endParaRPr lang="en-US" sz="1400" dirty="0"/>
          </a:p>
        </p:txBody>
      </p:sp>
      <p:sp>
        <p:nvSpPr>
          <p:cNvPr id="11" name="rightcard"/>
          <p:cNvSpPr/>
          <p:nvPr/>
        </p:nvSpPr>
        <p:spPr>
          <a:xfrm>
            <a:off x="7132320" y="1691640"/>
            <a:ext cx="4526280" cy="3383280"/>
          </a:xfrm>
          <a:prstGeom prst="roundRect">
            <a:avLst>
              <a:gd name="adj" fmla="val 3243"/>
            </a:avLst>
          </a:prstGeom>
          <a:solidFill>
            <a:srgbClr val="FFFFFF"/>
          </a:solidFill>
          <a:ln w="19050">
            <a:solidFill>
              <a:srgbClr val="2A9D8F"/>
            </a:solidFill>
            <a:prstDash val="solid"/>
          </a:ln>
        </p:spPr>
      </p:sp>
      <p:sp>
        <p:nvSpPr>
          <p:cNvPr id="12" name="Text 10"/>
          <p:cNvSpPr txBox="1"/>
          <p:nvPr/>
        </p:nvSpPr>
        <p:spPr>
          <a:xfrm>
            <a:off x="7360920" y="1783080"/>
            <a:ext cx="4114800" cy="365760"/>
          </a:xfrm>
          <a:prstGeom prst="rect">
            <a:avLst/>
          </a:prstGeom>
          <a:noFill/>
          <a:ln/>
        </p:spPr>
        <p:txBody>
          <a:bodyPr wrap="square" lIns="0" tIns="0" rIns="0" bIns="0" rtlCol="0" anchor="ctr"/>
          <a:lstStyle/>
          <a:p>
            <a:pPr indent="0" marL="0">
              <a:buNone/>
            </a:pPr>
            <a:r>
              <a:rPr lang="en-US" sz="1600" b="1" dirty="0">
                <a:solidFill>
                  <a:srgbClr val="E4572E"/>
                </a:solidFill>
              </a:rPr>
              <a:t>How it ties to our project</a:t>
            </a:r>
            <a:endParaRPr lang="en-US" sz="1600" dirty="0"/>
          </a:p>
        </p:txBody>
      </p:sp>
      <p:sp>
        <p:nvSpPr>
          <p:cNvPr id="13" name="Text 11"/>
          <p:cNvSpPr txBox="1"/>
          <p:nvPr/>
        </p:nvSpPr>
        <p:spPr>
          <a:xfrm>
            <a:off x="7360920" y="2194560"/>
            <a:ext cx="411480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41"/>
                </a:solidFill>
              </a:rPr>
              <a:t>Supports choosing an ensemble (Random Forest) over a single model</a:t>
            </a:r>
            <a:endParaRPr lang="en-US" sz="1400" dirty="0"/>
          </a:p>
          <a:p>
            <a:pPr marL="342900" indent="-342900">
              <a:spcAft>
                <a:spcPts val="600"/>
              </a:spcAft>
              <a:buSzPct val="100000"/>
              <a:buChar char="•"/>
            </a:pPr>
            <a:r>
              <a:rPr lang="en-US" sz="1400" dirty="0">
                <a:solidFill>
                  <a:srgbClr val="1B2A41"/>
                </a:solidFill>
              </a:rPr>
              <a:t>Also supports judging with several metrics, not accuracy alone</a:t>
            </a:r>
            <a:endParaRPr lang="en-US" sz="1400" dirty="0"/>
          </a:p>
        </p:txBody>
      </p:sp>
      <p:sp>
        <p:nvSpPr>
          <p:cNvPr id="14" name="askbanner"/>
          <p:cNvSpPr/>
          <p:nvPr/>
        </p:nvSpPr>
        <p:spPr>
          <a:xfrm>
            <a:off x="548640" y="5257800"/>
            <a:ext cx="11109960" cy="1005840"/>
          </a:xfrm>
          <a:prstGeom prst="roundRect">
            <a:avLst>
              <a:gd name="adj" fmla="val 10909"/>
            </a:avLst>
          </a:prstGeom>
          <a:solidFill>
            <a:srgbClr val="1B2A41"/>
          </a:solidFill>
          <a:ln w="12700">
            <a:solidFill>
              <a:srgbClr val="1B2A41"/>
            </a:solidFill>
            <a:prstDash val="solid"/>
          </a:ln>
        </p:spPr>
      </p:sp>
      <p:sp>
        <p:nvSpPr>
          <p:cNvPr id="15" name="Text 13"/>
          <p:cNvSpPr txBox="1"/>
          <p:nvPr/>
        </p:nvSpPr>
        <p:spPr>
          <a:xfrm>
            <a:off x="777240" y="5303520"/>
            <a:ext cx="10652760" cy="914400"/>
          </a:xfrm>
          <a:prstGeom prst="rect">
            <a:avLst/>
          </a:prstGeom>
          <a:noFill/>
          <a:ln/>
        </p:spPr>
        <p:txBody>
          <a:bodyPr wrap="square" lIns="0" tIns="0" rIns="0" bIns="0" rtlCol="0" anchor="ctr"/>
          <a:lstStyle/>
          <a:p>
            <a:pPr indent="0" marL="0">
              <a:buNone/>
            </a:pPr>
            <a:r>
              <a:rPr lang="en-US" sz="1400" b="1" dirty="0">
                <a:solidFill>
                  <a:srgbClr val="F2B134"/>
                </a:solidFill>
              </a:rPr>
              <a:t>If asked:  </a:t>
            </a:r>
            <a:pPr indent="0" marL="0">
              <a:buNone/>
            </a:pPr>
            <a:r>
              <a:rPr lang="en-US" sz="1400" dirty="0">
                <a:solidFill>
                  <a:srgbClr val="FFFFFF"/>
                </a:solidFill>
              </a:rPr>
              <a:t>Why not a neural network? The benchmark ranks ensembles among the best, and Random Forest is simpler to train and explain on 5,000 rows.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um"/>
          <p:cNvSpPr/>
          <p:nvPr/>
        </p:nvSpPr>
        <p:spPr>
          <a:xfrm>
            <a:off x="548640" y="365760"/>
            <a:ext cx="685800" cy="685800"/>
          </a:xfrm>
          <a:prstGeom prst="ellipse">
            <a:avLst/>
          </a:prstGeom>
          <a:solidFill>
            <a:srgbClr val="2A9D8F"/>
          </a:solidFill>
          <a:ln w="12700">
            <a:solidFill>
              <a:srgbClr val="2A9D8F"/>
            </a:solidFill>
            <a:prstDash val="solid"/>
          </a:ln>
        </p:spPr>
      </p:sp>
      <p:sp>
        <p:nvSpPr>
          <p:cNvPr id="3"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rPr>
              <a:t>6</a:t>
            </a:r>
            <a:endParaRPr lang="en-US" sz="2400" dirty="0"/>
          </a:p>
        </p:txBody>
      </p:sp>
      <p:sp>
        <p:nvSpPr>
          <p:cNvPr id="4" name="Text 2"/>
          <p:cNvSpPr txBox="1"/>
          <p:nvPr/>
        </p:nvSpPr>
        <p:spPr>
          <a:xfrm>
            <a:off x="1463040" y="274320"/>
            <a:ext cx="10149840" cy="86868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XGBoost: A Scalable Tree Boosting System</a:t>
            </a:r>
            <a:endParaRPr lang="en-US" sz="3200" dirty="0"/>
          </a:p>
        </p:txBody>
      </p:sp>
      <p:sp>
        <p:nvSpPr>
          <p:cNvPr id="5" name="Text 3"/>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5B6B7B"/>
                </a:solidFill>
              </a:rPr>
              <a:t>T. Chen and C. Guestrin (2016). Proc. ACM KDD, pp. 785–794.   Deck: slides 6–7 (survey), 24 (refs)</a:t>
            </a:r>
            <a:endParaRPr lang="en-US" sz="1300" dirty="0"/>
          </a:p>
        </p:txBody>
      </p:sp>
      <p:sp>
        <p:nvSpPr>
          <p:cNvPr id="6" name="leftcard"/>
          <p:cNvSpPr/>
          <p:nvPr/>
        </p:nvSpPr>
        <p:spPr>
          <a:xfrm>
            <a:off x="548640" y="1691640"/>
            <a:ext cx="6309360" cy="3383280"/>
          </a:xfrm>
          <a:prstGeom prst="roundRect">
            <a:avLst>
              <a:gd name="adj" fmla="val 3243"/>
            </a:avLst>
          </a:prstGeom>
          <a:solidFill>
            <a:srgbClr val="EEF3F7"/>
          </a:solidFill>
          <a:ln w="12700">
            <a:solidFill>
              <a:srgbClr val="EEF3F7"/>
            </a:solidFill>
            <a:prstDash val="solid"/>
          </a:ln>
        </p:spPr>
      </p:sp>
      <p:sp>
        <p:nvSpPr>
          <p:cNvPr id="7" name="Text 5"/>
          <p:cNvSpPr txBox="1"/>
          <p:nvPr/>
        </p:nvSpPr>
        <p:spPr>
          <a:xfrm>
            <a:off x="777240" y="178308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What it is</a:t>
            </a:r>
            <a:endParaRPr lang="en-US" sz="1600" dirty="0"/>
          </a:p>
        </p:txBody>
      </p:sp>
      <p:sp>
        <p:nvSpPr>
          <p:cNvPr id="8" name="Text 6"/>
          <p:cNvSpPr txBox="1"/>
          <p:nvPr/>
        </p:nvSpPr>
        <p:spPr>
          <a:xfrm>
            <a:off x="777240" y="2148840"/>
            <a:ext cx="5852160" cy="868680"/>
          </a:xfrm>
          <a:prstGeom prst="rect">
            <a:avLst/>
          </a:prstGeom>
          <a:noFill/>
          <a:ln/>
        </p:spPr>
        <p:txBody>
          <a:bodyPr wrap="square" lIns="0" tIns="0" rIns="0" bIns="0" rtlCol="0" anchor="t"/>
          <a:lstStyle/>
          <a:p>
            <a:pPr indent="0" marL="0">
              <a:buNone/>
            </a:pPr>
            <a:r>
              <a:rPr lang="en-US" sz="1400" dirty="0">
                <a:solidFill>
                  <a:srgbClr val="1B2A41"/>
                </a:solidFill>
              </a:rPr>
              <a:t>Presents XGBoost, a scalable gradient-boosted tree system. Trees are added one at a time, each correcting the errors of the previous ones.</a:t>
            </a:r>
            <a:endParaRPr lang="en-US" sz="1400" dirty="0"/>
          </a:p>
        </p:txBody>
      </p:sp>
      <p:sp>
        <p:nvSpPr>
          <p:cNvPr id="9" name="Text 7"/>
          <p:cNvSpPr txBox="1"/>
          <p:nvPr/>
        </p:nvSpPr>
        <p:spPr>
          <a:xfrm>
            <a:off x="777240" y="301752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Key points</a:t>
            </a:r>
            <a:endParaRPr lang="en-US" sz="1600" dirty="0"/>
          </a:p>
        </p:txBody>
      </p:sp>
      <p:sp>
        <p:nvSpPr>
          <p:cNvPr id="10" name="Text 8"/>
          <p:cNvSpPr txBox="1"/>
          <p:nvPr/>
        </p:nvSpPr>
        <p:spPr>
          <a:xfrm>
            <a:off x="777240" y="3383280"/>
            <a:ext cx="5852160" cy="16459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B2A41"/>
                </a:solidFill>
              </a:rPr>
              <a:t>Sparsity-aware algorithm and weighted quantile sketch</a:t>
            </a:r>
            <a:endParaRPr lang="en-US" sz="1400" dirty="0"/>
          </a:p>
          <a:p>
            <a:pPr marL="342900" indent="-342900">
              <a:spcAft>
                <a:spcPts val="300"/>
              </a:spcAft>
              <a:buSzPct val="100000"/>
              <a:buChar char="•"/>
            </a:pPr>
            <a:r>
              <a:rPr lang="en-US" sz="1400" dirty="0">
                <a:solidFill>
                  <a:srgbClr val="1B2A41"/>
                </a:solidFill>
              </a:rPr>
              <a:t>Cache-aware, parallel design that scales to very large data</a:t>
            </a:r>
            <a:endParaRPr lang="en-US" sz="1400" dirty="0"/>
          </a:p>
          <a:p>
            <a:pPr marL="342900" indent="-342900">
              <a:spcAft>
                <a:spcPts val="300"/>
              </a:spcAft>
              <a:buSzPct val="100000"/>
              <a:buChar char="•"/>
            </a:pPr>
            <a:r>
              <a:rPr lang="en-US" sz="1400" dirty="0">
                <a:solidFill>
                  <a:srgbClr val="1B2A41"/>
                </a:solidFill>
              </a:rPr>
              <a:t>Widely used for winning tabular-data solutions</a:t>
            </a:r>
            <a:endParaRPr lang="en-US" sz="1400" dirty="0"/>
          </a:p>
        </p:txBody>
      </p:sp>
      <p:sp>
        <p:nvSpPr>
          <p:cNvPr id="11" name="rightcard"/>
          <p:cNvSpPr/>
          <p:nvPr/>
        </p:nvSpPr>
        <p:spPr>
          <a:xfrm>
            <a:off x="7132320" y="1691640"/>
            <a:ext cx="4526280" cy="3383280"/>
          </a:xfrm>
          <a:prstGeom prst="roundRect">
            <a:avLst>
              <a:gd name="adj" fmla="val 3243"/>
            </a:avLst>
          </a:prstGeom>
          <a:solidFill>
            <a:srgbClr val="FFFFFF"/>
          </a:solidFill>
          <a:ln w="19050">
            <a:solidFill>
              <a:srgbClr val="2A9D8F"/>
            </a:solidFill>
            <a:prstDash val="solid"/>
          </a:ln>
        </p:spPr>
      </p:sp>
      <p:sp>
        <p:nvSpPr>
          <p:cNvPr id="12" name="Text 10"/>
          <p:cNvSpPr txBox="1"/>
          <p:nvPr/>
        </p:nvSpPr>
        <p:spPr>
          <a:xfrm>
            <a:off x="7360920" y="1783080"/>
            <a:ext cx="4114800" cy="365760"/>
          </a:xfrm>
          <a:prstGeom prst="rect">
            <a:avLst/>
          </a:prstGeom>
          <a:noFill/>
          <a:ln/>
        </p:spPr>
        <p:txBody>
          <a:bodyPr wrap="square" lIns="0" tIns="0" rIns="0" bIns="0" rtlCol="0" anchor="ctr"/>
          <a:lstStyle/>
          <a:p>
            <a:pPr indent="0" marL="0">
              <a:buNone/>
            </a:pPr>
            <a:r>
              <a:rPr lang="en-US" sz="1600" b="1" dirty="0">
                <a:solidFill>
                  <a:srgbClr val="E4572E"/>
                </a:solidFill>
              </a:rPr>
              <a:t>How it ties to our project</a:t>
            </a:r>
            <a:endParaRPr lang="en-US" sz="1600" dirty="0"/>
          </a:p>
        </p:txBody>
      </p:sp>
      <p:sp>
        <p:nvSpPr>
          <p:cNvPr id="13" name="Text 11"/>
          <p:cNvSpPr txBox="1"/>
          <p:nvPr/>
        </p:nvSpPr>
        <p:spPr>
          <a:xfrm>
            <a:off x="7360920" y="2194560"/>
            <a:ext cx="411480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41"/>
                </a:solidFill>
              </a:rPr>
              <a:t>Cited as a strong alternative baseline</a:t>
            </a:r>
            <a:endParaRPr lang="en-US" sz="1400" dirty="0"/>
          </a:p>
          <a:p>
            <a:pPr marL="342900" indent="-342900">
              <a:spcAft>
                <a:spcPts val="600"/>
              </a:spcAft>
              <a:buSzPct val="100000"/>
              <a:buChar char="•"/>
            </a:pPr>
            <a:r>
              <a:rPr lang="en-US" sz="1400" dirty="0">
                <a:solidFill>
                  <a:srgbClr val="1B2A41"/>
                </a:solidFill>
              </a:rPr>
              <a:t>NOT implemented: the code had an optional XGBoost import that was never used, and it is not in the saved results</a:t>
            </a:r>
            <a:endParaRPr lang="en-US" sz="1400" dirty="0"/>
          </a:p>
        </p:txBody>
      </p:sp>
      <p:sp>
        <p:nvSpPr>
          <p:cNvPr id="14" name="askbanner"/>
          <p:cNvSpPr/>
          <p:nvPr/>
        </p:nvSpPr>
        <p:spPr>
          <a:xfrm>
            <a:off x="548640" y="5257800"/>
            <a:ext cx="11109960" cy="1005840"/>
          </a:xfrm>
          <a:prstGeom prst="roundRect">
            <a:avLst>
              <a:gd name="adj" fmla="val 10909"/>
            </a:avLst>
          </a:prstGeom>
          <a:solidFill>
            <a:srgbClr val="1B2A41"/>
          </a:solidFill>
          <a:ln w="12700">
            <a:solidFill>
              <a:srgbClr val="1B2A41"/>
            </a:solidFill>
            <a:prstDash val="solid"/>
          </a:ln>
        </p:spPr>
      </p:sp>
      <p:sp>
        <p:nvSpPr>
          <p:cNvPr id="15" name="Text 13"/>
          <p:cNvSpPr txBox="1"/>
          <p:nvPr/>
        </p:nvSpPr>
        <p:spPr>
          <a:xfrm>
            <a:off x="777240" y="5303520"/>
            <a:ext cx="10652760" cy="914400"/>
          </a:xfrm>
          <a:prstGeom prst="rect">
            <a:avLst/>
          </a:prstGeom>
          <a:noFill/>
          <a:ln/>
        </p:spPr>
        <p:txBody>
          <a:bodyPr wrap="square" lIns="0" tIns="0" rIns="0" bIns="0" rtlCol="0" anchor="ctr"/>
          <a:lstStyle/>
          <a:p>
            <a:pPr indent="0" marL="0">
              <a:buNone/>
            </a:pPr>
            <a:r>
              <a:rPr lang="en-US" sz="1400" b="1" dirty="0">
                <a:solidFill>
                  <a:srgbClr val="F2B134"/>
                </a:solidFill>
              </a:rPr>
              <a:t>If asked:  </a:t>
            </a:r>
            <a:pPr indent="0" marL="0">
              <a:buNone/>
            </a:pPr>
            <a:r>
              <a:rPr lang="en-US" sz="1400" dirty="0">
                <a:solidFill>
                  <a:srgbClr val="FFFFFF"/>
                </a:solidFill>
              </a:rPr>
              <a:t>Did you use XGBoost? No. We cite it as related work and a possible upgrade. Final comparison is Logistic Regression vs Random Forest.</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num"/>
          <p:cNvSpPr/>
          <p:nvPr/>
        </p:nvSpPr>
        <p:spPr>
          <a:xfrm>
            <a:off x="548640" y="365760"/>
            <a:ext cx="685800" cy="685800"/>
          </a:xfrm>
          <a:prstGeom prst="ellipse">
            <a:avLst/>
          </a:prstGeom>
          <a:solidFill>
            <a:srgbClr val="2A9D8F"/>
          </a:solidFill>
          <a:ln w="12700">
            <a:solidFill>
              <a:srgbClr val="2A9D8F"/>
            </a:solidFill>
            <a:prstDash val="solid"/>
          </a:ln>
        </p:spPr>
      </p:sp>
      <p:sp>
        <p:nvSpPr>
          <p:cNvPr id="3"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rPr>
              <a:t>7</a:t>
            </a:r>
            <a:endParaRPr lang="en-US" sz="2400" dirty="0"/>
          </a:p>
        </p:txBody>
      </p:sp>
      <p:sp>
        <p:nvSpPr>
          <p:cNvPr id="4" name="Text 2"/>
          <p:cNvSpPr txBox="1"/>
          <p:nvPr/>
        </p:nvSpPr>
        <p:spPr>
          <a:xfrm>
            <a:off x="1463040" y="274320"/>
            <a:ext cx="10149840" cy="868680"/>
          </a:xfrm>
          <a:prstGeom prst="rect">
            <a:avLst/>
          </a:prstGeom>
          <a:noFill/>
          <a:ln/>
        </p:spPr>
        <p:txBody>
          <a:bodyPr wrap="square" lIns="0" tIns="0" rIns="0" bIns="0" rtlCol="0" anchor="ctr"/>
          <a:lstStyle/>
          <a:p>
            <a:pPr indent="0" marL="0">
              <a:buNone/>
            </a:pPr>
            <a:r>
              <a:rPr lang="en-US" sz="2600" b="1" dirty="0">
                <a:solidFill>
                  <a:srgbClr val="1B2A41"/>
                </a:solidFill>
                <a:latin typeface="Cambria" pitchFamily="34" charset="0"/>
                <a:ea typeface="Cambria" pitchFamily="34" charset="-122"/>
                <a:cs typeface="Cambria" pitchFamily="34" charset="-120"/>
              </a:rPr>
              <a:t>SMOTE: Synthetic Minority Over-sampling Technique</a:t>
            </a:r>
            <a:endParaRPr lang="en-US" sz="2600" dirty="0"/>
          </a:p>
        </p:txBody>
      </p:sp>
      <p:sp>
        <p:nvSpPr>
          <p:cNvPr id="5" name="Text 3"/>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5B6B7B"/>
                </a:solidFill>
              </a:rPr>
              <a:t>N. V. Chawla et al. (2002). JAIR, vol. 16, pp. 321–357.   Deck: slides 6–7 (survey), 24 (refs)</a:t>
            </a:r>
            <a:endParaRPr lang="en-US" sz="1300" dirty="0"/>
          </a:p>
        </p:txBody>
      </p:sp>
      <p:sp>
        <p:nvSpPr>
          <p:cNvPr id="6" name="leftcard"/>
          <p:cNvSpPr/>
          <p:nvPr/>
        </p:nvSpPr>
        <p:spPr>
          <a:xfrm>
            <a:off x="548640" y="1691640"/>
            <a:ext cx="6309360" cy="3383280"/>
          </a:xfrm>
          <a:prstGeom prst="roundRect">
            <a:avLst>
              <a:gd name="adj" fmla="val 3243"/>
            </a:avLst>
          </a:prstGeom>
          <a:solidFill>
            <a:srgbClr val="EEF3F7"/>
          </a:solidFill>
          <a:ln w="12700">
            <a:solidFill>
              <a:srgbClr val="EEF3F7"/>
            </a:solidFill>
            <a:prstDash val="solid"/>
          </a:ln>
        </p:spPr>
      </p:sp>
      <p:sp>
        <p:nvSpPr>
          <p:cNvPr id="7" name="Text 5"/>
          <p:cNvSpPr txBox="1"/>
          <p:nvPr/>
        </p:nvSpPr>
        <p:spPr>
          <a:xfrm>
            <a:off x="777240" y="178308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What it is</a:t>
            </a:r>
            <a:endParaRPr lang="en-US" sz="1600" dirty="0"/>
          </a:p>
        </p:txBody>
      </p:sp>
      <p:sp>
        <p:nvSpPr>
          <p:cNvPr id="8" name="Text 6"/>
          <p:cNvSpPr txBox="1"/>
          <p:nvPr/>
        </p:nvSpPr>
        <p:spPr>
          <a:xfrm>
            <a:off x="777240" y="2148840"/>
            <a:ext cx="5852160" cy="868680"/>
          </a:xfrm>
          <a:prstGeom prst="rect">
            <a:avLst/>
          </a:prstGeom>
          <a:noFill/>
          <a:ln/>
        </p:spPr>
        <p:txBody>
          <a:bodyPr wrap="square" lIns="0" tIns="0" rIns="0" bIns="0" rtlCol="0" anchor="t"/>
          <a:lstStyle/>
          <a:p>
            <a:pPr indent="0" marL="0">
              <a:buNone/>
            </a:pPr>
            <a:r>
              <a:rPr lang="en-US" sz="1400" dirty="0">
                <a:solidFill>
                  <a:srgbClr val="1B2A41"/>
                </a:solidFill>
              </a:rPr>
              <a:t>A method for imbalanced data: it creates synthetic minority-class examples instead of just duplicating existing ones.</a:t>
            </a:r>
            <a:endParaRPr lang="en-US" sz="1400" dirty="0"/>
          </a:p>
        </p:txBody>
      </p:sp>
      <p:sp>
        <p:nvSpPr>
          <p:cNvPr id="9" name="Text 7"/>
          <p:cNvSpPr txBox="1"/>
          <p:nvPr/>
        </p:nvSpPr>
        <p:spPr>
          <a:xfrm>
            <a:off x="777240" y="301752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Key points</a:t>
            </a:r>
            <a:endParaRPr lang="en-US" sz="1600" dirty="0"/>
          </a:p>
        </p:txBody>
      </p:sp>
      <p:sp>
        <p:nvSpPr>
          <p:cNvPr id="10" name="Text 8"/>
          <p:cNvSpPr txBox="1"/>
          <p:nvPr/>
        </p:nvSpPr>
        <p:spPr>
          <a:xfrm>
            <a:off x="777240" y="3383280"/>
            <a:ext cx="5852160" cy="16459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B2A41"/>
                </a:solidFill>
              </a:rPr>
              <a:t>New samples are interpolated between a minority example and its nearest minority neighbours</a:t>
            </a:r>
            <a:endParaRPr lang="en-US" sz="1400" dirty="0"/>
          </a:p>
          <a:p>
            <a:pPr marL="342900" indent="-342900">
              <a:spcAft>
                <a:spcPts val="300"/>
              </a:spcAft>
              <a:buSzPct val="100000"/>
              <a:buChar char="•"/>
            </a:pPr>
            <a:r>
              <a:rPr lang="en-US" sz="1400" dirty="0">
                <a:solidFill>
                  <a:srgbClr val="1B2A41"/>
                </a:solidFill>
              </a:rPr>
              <a:t>Can be combined with under-sampling the majority class</a:t>
            </a:r>
            <a:endParaRPr lang="en-US" sz="1400" dirty="0"/>
          </a:p>
          <a:p>
            <a:pPr marL="342900" indent="-342900">
              <a:spcAft>
                <a:spcPts val="300"/>
              </a:spcAft>
              <a:buSzPct val="100000"/>
              <a:buChar char="•"/>
            </a:pPr>
            <a:r>
              <a:rPr lang="en-US" sz="1400" dirty="0">
                <a:solidFill>
                  <a:srgbClr val="1B2A41"/>
                </a:solidFill>
              </a:rPr>
              <a:t>Evaluated with ROC-style measures rather than accuracy alone</a:t>
            </a:r>
            <a:endParaRPr lang="en-US" sz="1400" dirty="0"/>
          </a:p>
        </p:txBody>
      </p:sp>
      <p:sp>
        <p:nvSpPr>
          <p:cNvPr id="11" name="rightcard"/>
          <p:cNvSpPr/>
          <p:nvPr/>
        </p:nvSpPr>
        <p:spPr>
          <a:xfrm>
            <a:off x="7132320" y="1691640"/>
            <a:ext cx="4526280" cy="3383280"/>
          </a:xfrm>
          <a:prstGeom prst="roundRect">
            <a:avLst>
              <a:gd name="adj" fmla="val 3243"/>
            </a:avLst>
          </a:prstGeom>
          <a:solidFill>
            <a:srgbClr val="FFFFFF"/>
          </a:solidFill>
          <a:ln w="19050">
            <a:solidFill>
              <a:srgbClr val="2A9D8F"/>
            </a:solidFill>
            <a:prstDash val="solid"/>
          </a:ln>
        </p:spPr>
      </p:sp>
      <p:sp>
        <p:nvSpPr>
          <p:cNvPr id="12" name="Text 10"/>
          <p:cNvSpPr txBox="1"/>
          <p:nvPr/>
        </p:nvSpPr>
        <p:spPr>
          <a:xfrm>
            <a:off x="7360920" y="1783080"/>
            <a:ext cx="4114800" cy="365760"/>
          </a:xfrm>
          <a:prstGeom prst="rect">
            <a:avLst/>
          </a:prstGeom>
          <a:noFill/>
          <a:ln/>
        </p:spPr>
        <p:txBody>
          <a:bodyPr wrap="square" lIns="0" tIns="0" rIns="0" bIns="0" rtlCol="0" anchor="ctr"/>
          <a:lstStyle/>
          <a:p>
            <a:pPr indent="0" marL="0">
              <a:buNone/>
            </a:pPr>
            <a:r>
              <a:rPr lang="en-US" sz="1600" b="1" dirty="0">
                <a:solidFill>
                  <a:srgbClr val="E4572E"/>
                </a:solidFill>
              </a:rPr>
              <a:t>How it ties to our project</a:t>
            </a:r>
            <a:endParaRPr lang="en-US" sz="1600" dirty="0"/>
          </a:p>
        </p:txBody>
      </p:sp>
      <p:sp>
        <p:nvSpPr>
          <p:cNvPr id="13" name="Text 11"/>
          <p:cNvSpPr txBox="1"/>
          <p:nvPr/>
        </p:nvSpPr>
        <p:spPr>
          <a:xfrm>
            <a:off x="7360920" y="2194560"/>
            <a:ext cx="411480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41"/>
                </a:solidFill>
              </a:rPr>
              <a:t>Our data is imbalanced: 3,773 approved vs 1,227 rejected</a:t>
            </a:r>
            <a:endParaRPr lang="en-US" sz="1400" dirty="0"/>
          </a:p>
          <a:p>
            <a:pPr marL="342900" indent="-342900">
              <a:spcAft>
                <a:spcPts val="600"/>
              </a:spcAft>
              <a:buSzPct val="100000"/>
              <a:buChar char="•"/>
            </a:pPr>
            <a:r>
              <a:rPr lang="en-US" sz="1400" dirty="0">
                <a:solidFill>
                  <a:srgbClr val="1B2A41"/>
                </a:solidFill>
              </a:rPr>
              <a:t>We did NOT use SMOTE. We used class_weight balanced in Random Forest; SMOTE is future work</a:t>
            </a:r>
            <a:endParaRPr lang="en-US" sz="1400" dirty="0"/>
          </a:p>
        </p:txBody>
      </p:sp>
      <p:sp>
        <p:nvSpPr>
          <p:cNvPr id="14" name="askbanner"/>
          <p:cNvSpPr/>
          <p:nvPr/>
        </p:nvSpPr>
        <p:spPr>
          <a:xfrm>
            <a:off x="548640" y="5257800"/>
            <a:ext cx="11109960" cy="1005840"/>
          </a:xfrm>
          <a:prstGeom prst="roundRect">
            <a:avLst>
              <a:gd name="adj" fmla="val 10909"/>
            </a:avLst>
          </a:prstGeom>
          <a:solidFill>
            <a:srgbClr val="1B2A41"/>
          </a:solidFill>
          <a:ln w="12700">
            <a:solidFill>
              <a:srgbClr val="1B2A41"/>
            </a:solidFill>
            <a:prstDash val="solid"/>
          </a:ln>
        </p:spPr>
      </p:sp>
      <p:sp>
        <p:nvSpPr>
          <p:cNvPr id="15" name="Text 13"/>
          <p:cNvSpPr txBox="1"/>
          <p:nvPr/>
        </p:nvSpPr>
        <p:spPr>
          <a:xfrm>
            <a:off x="777240" y="5303520"/>
            <a:ext cx="10652760" cy="914400"/>
          </a:xfrm>
          <a:prstGeom prst="rect">
            <a:avLst/>
          </a:prstGeom>
          <a:noFill/>
          <a:ln/>
        </p:spPr>
        <p:txBody>
          <a:bodyPr wrap="square" lIns="0" tIns="0" rIns="0" bIns="0" rtlCol="0" anchor="ctr"/>
          <a:lstStyle/>
          <a:p>
            <a:pPr indent="0" marL="0">
              <a:buNone/>
            </a:pPr>
            <a:r>
              <a:rPr lang="en-US" sz="1400" b="1" dirty="0">
                <a:solidFill>
                  <a:srgbClr val="F2B134"/>
                </a:solidFill>
              </a:rPr>
              <a:t>If asked:  </a:t>
            </a:r>
            <a:pPr indent="0" marL="0">
              <a:buNone/>
            </a:pPr>
            <a:r>
              <a:rPr lang="en-US" sz="1400" dirty="0">
                <a:solidFill>
                  <a:srgbClr val="FFFFFF"/>
                </a:solidFill>
              </a:rPr>
              <a:t>How did you handle imbalance? Stratified split to keep the ratio, class_weight balanced in the model, and F1/recall instead of accuracy. SMOTE is a possible extension.</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um"/>
          <p:cNvSpPr/>
          <p:nvPr/>
        </p:nvSpPr>
        <p:spPr>
          <a:xfrm>
            <a:off x="548640" y="365760"/>
            <a:ext cx="685800" cy="685800"/>
          </a:xfrm>
          <a:prstGeom prst="ellipse">
            <a:avLst/>
          </a:prstGeom>
          <a:solidFill>
            <a:srgbClr val="2A9D8F"/>
          </a:solidFill>
          <a:ln w="12700">
            <a:solidFill>
              <a:srgbClr val="2A9D8F"/>
            </a:solidFill>
            <a:prstDash val="solid"/>
          </a:ln>
        </p:spPr>
      </p:sp>
      <p:sp>
        <p:nvSpPr>
          <p:cNvPr id="3"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rPr>
              <a:t>8</a:t>
            </a:r>
            <a:endParaRPr lang="en-US" sz="2400" dirty="0"/>
          </a:p>
        </p:txBody>
      </p:sp>
      <p:sp>
        <p:nvSpPr>
          <p:cNvPr id="4" name="Text 2"/>
          <p:cNvSpPr txBox="1"/>
          <p:nvPr/>
        </p:nvSpPr>
        <p:spPr>
          <a:xfrm>
            <a:off x="1463040" y="274320"/>
            <a:ext cx="10149840" cy="86868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An Introduction to ROC Analysis</a:t>
            </a:r>
            <a:endParaRPr lang="en-US" sz="3200" dirty="0"/>
          </a:p>
        </p:txBody>
      </p:sp>
      <p:sp>
        <p:nvSpPr>
          <p:cNvPr id="5" name="Text 3"/>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5B6B7B"/>
                </a:solidFill>
              </a:rPr>
              <a:t>T. Fawcett (2006). Pattern Recognition Letters, vol. 27, no. 8, pp. 861–874.   Deck: slides 6–7 (survey), 24 (refs)</a:t>
            </a:r>
            <a:endParaRPr lang="en-US" sz="1300" dirty="0"/>
          </a:p>
        </p:txBody>
      </p:sp>
      <p:sp>
        <p:nvSpPr>
          <p:cNvPr id="6" name="leftcard"/>
          <p:cNvSpPr/>
          <p:nvPr/>
        </p:nvSpPr>
        <p:spPr>
          <a:xfrm>
            <a:off x="548640" y="1691640"/>
            <a:ext cx="6309360" cy="3383280"/>
          </a:xfrm>
          <a:prstGeom prst="roundRect">
            <a:avLst>
              <a:gd name="adj" fmla="val 3243"/>
            </a:avLst>
          </a:prstGeom>
          <a:solidFill>
            <a:srgbClr val="EEF3F7"/>
          </a:solidFill>
          <a:ln w="12700">
            <a:solidFill>
              <a:srgbClr val="EEF3F7"/>
            </a:solidFill>
            <a:prstDash val="solid"/>
          </a:ln>
        </p:spPr>
      </p:sp>
      <p:sp>
        <p:nvSpPr>
          <p:cNvPr id="7" name="Text 5"/>
          <p:cNvSpPr txBox="1"/>
          <p:nvPr/>
        </p:nvSpPr>
        <p:spPr>
          <a:xfrm>
            <a:off x="777240" y="178308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What it is</a:t>
            </a:r>
            <a:endParaRPr lang="en-US" sz="1600" dirty="0"/>
          </a:p>
        </p:txBody>
      </p:sp>
      <p:sp>
        <p:nvSpPr>
          <p:cNvPr id="8" name="Text 6"/>
          <p:cNvSpPr txBox="1"/>
          <p:nvPr/>
        </p:nvSpPr>
        <p:spPr>
          <a:xfrm>
            <a:off x="777240" y="2148840"/>
            <a:ext cx="5852160" cy="868680"/>
          </a:xfrm>
          <a:prstGeom prst="rect">
            <a:avLst/>
          </a:prstGeom>
          <a:noFill/>
          <a:ln/>
        </p:spPr>
        <p:txBody>
          <a:bodyPr wrap="square" lIns="0" tIns="0" rIns="0" bIns="0" rtlCol="0" anchor="t"/>
          <a:lstStyle/>
          <a:p>
            <a:pPr indent="0" marL="0">
              <a:buNone/>
            </a:pPr>
            <a:r>
              <a:rPr lang="en-US" sz="1400" dirty="0">
                <a:solidFill>
                  <a:srgbClr val="1B2A41"/>
                </a:solidFill>
              </a:rPr>
              <a:t>A tutorial on ROC graphs and the area under the curve (AUC) for evaluating classifiers.</a:t>
            </a:r>
            <a:endParaRPr lang="en-US" sz="1400" dirty="0"/>
          </a:p>
        </p:txBody>
      </p:sp>
      <p:sp>
        <p:nvSpPr>
          <p:cNvPr id="9" name="Text 7"/>
          <p:cNvSpPr txBox="1"/>
          <p:nvPr/>
        </p:nvSpPr>
        <p:spPr>
          <a:xfrm>
            <a:off x="777240" y="301752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Key points</a:t>
            </a:r>
            <a:endParaRPr lang="en-US" sz="1600" dirty="0"/>
          </a:p>
        </p:txBody>
      </p:sp>
      <p:sp>
        <p:nvSpPr>
          <p:cNvPr id="10" name="Text 8"/>
          <p:cNvSpPr txBox="1"/>
          <p:nvPr/>
        </p:nvSpPr>
        <p:spPr>
          <a:xfrm>
            <a:off x="777240" y="3383280"/>
            <a:ext cx="5852160" cy="16459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B2A41"/>
                </a:solidFill>
              </a:rPr>
              <a:t>ROC plots true-positive rate against false-positive rate across all thresholds</a:t>
            </a:r>
            <a:endParaRPr lang="en-US" sz="1400" dirty="0"/>
          </a:p>
          <a:p>
            <a:pPr marL="342900" indent="-342900">
              <a:spcAft>
                <a:spcPts val="300"/>
              </a:spcAft>
              <a:buSzPct val="100000"/>
              <a:buChar char="•"/>
            </a:pPr>
            <a:r>
              <a:rPr lang="en-US" sz="1400" dirty="0">
                <a:solidFill>
                  <a:srgbClr val="1B2A41"/>
                </a:solidFill>
              </a:rPr>
              <a:t>AUC is the probability a random positive is ranked above a random negative</a:t>
            </a:r>
            <a:endParaRPr lang="en-US" sz="1400" dirty="0"/>
          </a:p>
          <a:p>
            <a:pPr marL="342900" indent="-342900">
              <a:spcAft>
                <a:spcPts val="300"/>
              </a:spcAft>
              <a:buSzPct val="100000"/>
              <a:buChar char="•"/>
            </a:pPr>
            <a:r>
              <a:rPr lang="en-US" sz="1400" dirty="0">
                <a:solidFill>
                  <a:srgbClr val="1B2A41"/>
                </a:solidFill>
              </a:rPr>
              <a:t>Less affected by class balance than accuracy</a:t>
            </a:r>
            <a:endParaRPr lang="en-US" sz="1400" dirty="0"/>
          </a:p>
        </p:txBody>
      </p:sp>
      <p:sp>
        <p:nvSpPr>
          <p:cNvPr id="11" name="rightcard"/>
          <p:cNvSpPr/>
          <p:nvPr/>
        </p:nvSpPr>
        <p:spPr>
          <a:xfrm>
            <a:off x="7132320" y="1691640"/>
            <a:ext cx="4526280" cy="3383280"/>
          </a:xfrm>
          <a:prstGeom prst="roundRect">
            <a:avLst>
              <a:gd name="adj" fmla="val 3243"/>
            </a:avLst>
          </a:prstGeom>
          <a:solidFill>
            <a:srgbClr val="FFFFFF"/>
          </a:solidFill>
          <a:ln w="19050">
            <a:solidFill>
              <a:srgbClr val="2A9D8F"/>
            </a:solidFill>
            <a:prstDash val="solid"/>
          </a:ln>
        </p:spPr>
      </p:sp>
      <p:sp>
        <p:nvSpPr>
          <p:cNvPr id="12" name="Text 10"/>
          <p:cNvSpPr txBox="1"/>
          <p:nvPr/>
        </p:nvSpPr>
        <p:spPr>
          <a:xfrm>
            <a:off x="7360920" y="1783080"/>
            <a:ext cx="4114800" cy="365760"/>
          </a:xfrm>
          <a:prstGeom prst="rect">
            <a:avLst/>
          </a:prstGeom>
          <a:noFill/>
          <a:ln/>
        </p:spPr>
        <p:txBody>
          <a:bodyPr wrap="square" lIns="0" tIns="0" rIns="0" bIns="0" rtlCol="0" anchor="ctr"/>
          <a:lstStyle/>
          <a:p>
            <a:pPr indent="0" marL="0">
              <a:buNone/>
            </a:pPr>
            <a:r>
              <a:rPr lang="en-US" sz="1600" b="1" dirty="0">
                <a:solidFill>
                  <a:srgbClr val="E4572E"/>
                </a:solidFill>
              </a:rPr>
              <a:t>How it ties to our project</a:t>
            </a:r>
            <a:endParaRPr lang="en-US" sz="1600" dirty="0"/>
          </a:p>
        </p:txBody>
      </p:sp>
      <p:sp>
        <p:nvSpPr>
          <p:cNvPr id="13" name="Text 11"/>
          <p:cNvSpPr txBox="1"/>
          <p:nvPr/>
        </p:nvSpPr>
        <p:spPr>
          <a:xfrm>
            <a:off x="7360920" y="2194560"/>
            <a:ext cx="411480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41"/>
                </a:solidFill>
              </a:rPr>
              <a:t>Backs our choice to look beyond accuracy: precision, recall, F1 and the confusion matrix</a:t>
            </a:r>
            <a:endParaRPr lang="en-US" sz="1400" dirty="0"/>
          </a:p>
          <a:p>
            <a:pPr marL="342900" indent="-342900">
              <a:spcAft>
                <a:spcPts val="600"/>
              </a:spcAft>
              <a:buSzPct val="100000"/>
              <a:buChar char="•"/>
            </a:pPr>
            <a:r>
              <a:rPr lang="en-US" sz="1400" dirty="0">
                <a:solidFill>
                  <a:srgbClr val="1B2A41"/>
                </a:solidFill>
              </a:rPr>
              <a:t>AUC is a threshold-independent complement to those metrics</a:t>
            </a:r>
            <a:endParaRPr lang="en-US" sz="1400" dirty="0"/>
          </a:p>
        </p:txBody>
      </p:sp>
      <p:sp>
        <p:nvSpPr>
          <p:cNvPr id="14" name="askbanner"/>
          <p:cNvSpPr/>
          <p:nvPr/>
        </p:nvSpPr>
        <p:spPr>
          <a:xfrm>
            <a:off x="548640" y="5257800"/>
            <a:ext cx="11109960" cy="1005840"/>
          </a:xfrm>
          <a:prstGeom prst="roundRect">
            <a:avLst>
              <a:gd name="adj" fmla="val 10909"/>
            </a:avLst>
          </a:prstGeom>
          <a:solidFill>
            <a:srgbClr val="1B2A41"/>
          </a:solidFill>
          <a:ln w="12700">
            <a:solidFill>
              <a:srgbClr val="1B2A41"/>
            </a:solidFill>
            <a:prstDash val="solid"/>
          </a:ln>
        </p:spPr>
      </p:sp>
      <p:sp>
        <p:nvSpPr>
          <p:cNvPr id="15" name="Text 13"/>
          <p:cNvSpPr txBox="1"/>
          <p:nvPr/>
        </p:nvSpPr>
        <p:spPr>
          <a:xfrm>
            <a:off x="777240" y="5303520"/>
            <a:ext cx="10652760" cy="914400"/>
          </a:xfrm>
          <a:prstGeom prst="rect">
            <a:avLst/>
          </a:prstGeom>
          <a:noFill/>
          <a:ln/>
        </p:spPr>
        <p:txBody>
          <a:bodyPr wrap="square" lIns="0" tIns="0" rIns="0" bIns="0" rtlCol="0" anchor="ctr"/>
          <a:lstStyle/>
          <a:p>
            <a:pPr indent="0" marL="0">
              <a:buNone/>
            </a:pPr>
            <a:r>
              <a:rPr lang="en-US" sz="1400" b="1" dirty="0">
                <a:solidFill>
                  <a:srgbClr val="F2B134"/>
                </a:solidFill>
              </a:rPr>
              <a:t>If asked:  </a:t>
            </a:r>
            <a:pPr indent="0" marL="0">
              <a:buNone/>
            </a:pPr>
            <a:r>
              <a:rPr lang="en-US" sz="1400" dirty="0">
                <a:solidFill>
                  <a:srgbClr val="FFFFFF"/>
                </a:solidFill>
              </a:rPr>
              <a:t>What is AUC? How well the model ranks approvals above rejections, regardless of the 0.5 cut-off. Our headline metrics are F1 and recall.</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num"/>
          <p:cNvSpPr/>
          <p:nvPr/>
        </p:nvSpPr>
        <p:spPr>
          <a:xfrm>
            <a:off x="548640" y="365760"/>
            <a:ext cx="685800" cy="685800"/>
          </a:xfrm>
          <a:prstGeom prst="ellipse">
            <a:avLst/>
          </a:prstGeom>
          <a:solidFill>
            <a:srgbClr val="2A9D8F"/>
          </a:solidFill>
          <a:ln w="12700">
            <a:solidFill>
              <a:srgbClr val="2A9D8F"/>
            </a:solidFill>
            <a:prstDash val="solid"/>
          </a:ln>
        </p:spPr>
      </p:sp>
      <p:sp>
        <p:nvSpPr>
          <p:cNvPr id="3"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rPr>
              <a:t>9</a:t>
            </a:r>
            <a:endParaRPr lang="en-US" sz="2400" dirty="0"/>
          </a:p>
        </p:txBody>
      </p:sp>
      <p:sp>
        <p:nvSpPr>
          <p:cNvPr id="4" name="Text 2"/>
          <p:cNvSpPr txBox="1"/>
          <p:nvPr/>
        </p:nvSpPr>
        <p:spPr>
          <a:xfrm>
            <a:off x="1463040" y="274320"/>
            <a:ext cx="10149840" cy="86868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A Survey of Credit and Behavioural Scoring</a:t>
            </a:r>
            <a:endParaRPr lang="en-US" sz="3200" dirty="0"/>
          </a:p>
        </p:txBody>
      </p:sp>
      <p:sp>
        <p:nvSpPr>
          <p:cNvPr id="5" name="Text 3"/>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5B6B7B"/>
                </a:solidFill>
              </a:rPr>
              <a:t>L. C. Thomas (2000). Int. J. Forecasting, vol. 16, no. 2, pp. 149–172.   Deck: slides 6–7 (survey), 24 (refs)</a:t>
            </a:r>
            <a:endParaRPr lang="en-US" sz="1300" dirty="0"/>
          </a:p>
        </p:txBody>
      </p:sp>
      <p:sp>
        <p:nvSpPr>
          <p:cNvPr id="6" name="leftcard"/>
          <p:cNvSpPr/>
          <p:nvPr/>
        </p:nvSpPr>
        <p:spPr>
          <a:xfrm>
            <a:off x="548640" y="1691640"/>
            <a:ext cx="6309360" cy="3383280"/>
          </a:xfrm>
          <a:prstGeom prst="roundRect">
            <a:avLst>
              <a:gd name="adj" fmla="val 3243"/>
            </a:avLst>
          </a:prstGeom>
          <a:solidFill>
            <a:srgbClr val="EEF3F7"/>
          </a:solidFill>
          <a:ln w="12700">
            <a:solidFill>
              <a:srgbClr val="EEF3F7"/>
            </a:solidFill>
            <a:prstDash val="solid"/>
          </a:ln>
        </p:spPr>
      </p:sp>
      <p:sp>
        <p:nvSpPr>
          <p:cNvPr id="7" name="Text 5"/>
          <p:cNvSpPr txBox="1"/>
          <p:nvPr/>
        </p:nvSpPr>
        <p:spPr>
          <a:xfrm>
            <a:off x="777240" y="178308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What it is</a:t>
            </a:r>
            <a:endParaRPr lang="en-US" sz="1600" dirty="0"/>
          </a:p>
        </p:txBody>
      </p:sp>
      <p:sp>
        <p:nvSpPr>
          <p:cNvPr id="8" name="Text 6"/>
          <p:cNvSpPr txBox="1"/>
          <p:nvPr/>
        </p:nvSpPr>
        <p:spPr>
          <a:xfrm>
            <a:off x="777240" y="2148840"/>
            <a:ext cx="5852160" cy="868680"/>
          </a:xfrm>
          <a:prstGeom prst="rect">
            <a:avLst/>
          </a:prstGeom>
          <a:noFill/>
          <a:ln/>
        </p:spPr>
        <p:txBody>
          <a:bodyPr wrap="square" lIns="0" tIns="0" rIns="0" bIns="0" rtlCol="0" anchor="t"/>
          <a:lstStyle/>
          <a:p>
            <a:pPr indent="0" marL="0">
              <a:buNone/>
            </a:pPr>
            <a:r>
              <a:rPr lang="en-US" sz="1400" dirty="0">
                <a:solidFill>
                  <a:srgbClr val="1B2A41"/>
                </a:solidFill>
              </a:rPr>
              <a:t>A survey of credit scoring (new applicants) and behavioural scoring (existing customers), the techniques used and the issues they raise.</a:t>
            </a:r>
            <a:endParaRPr lang="en-US" sz="1400" dirty="0"/>
          </a:p>
        </p:txBody>
      </p:sp>
      <p:sp>
        <p:nvSpPr>
          <p:cNvPr id="9" name="Text 7"/>
          <p:cNvSpPr txBox="1"/>
          <p:nvPr/>
        </p:nvSpPr>
        <p:spPr>
          <a:xfrm>
            <a:off x="777240" y="301752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Key points</a:t>
            </a:r>
            <a:endParaRPr lang="en-US" sz="1600" dirty="0"/>
          </a:p>
        </p:txBody>
      </p:sp>
      <p:sp>
        <p:nvSpPr>
          <p:cNvPr id="10" name="Text 8"/>
          <p:cNvSpPr txBox="1"/>
          <p:nvPr/>
        </p:nvSpPr>
        <p:spPr>
          <a:xfrm>
            <a:off x="777240" y="3383280"/>
            <a:ext cx="5852160" cy="16459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B2A41"/>
                </a:solidFill>
              </a:rPr>
              <a:t>Distinguishes application scoring from behavioural scoring</a:t>
            </a:r>
            <a:endParaRPr lang="en-US" sz="1400" dirty="0"/>
          </a:p>
          <a:p>
            <a:pPr marL="342900" indent="-342900">
              <a:spcAft>
                <a:spcPts val="300"/>
              </a:spcAft>
              <a:buSzPct val="100000"/>
              <a:buChar char="•"/>
            </a:pPr>
            <a:r>
              <a:rPr lang="en-US" sz="1400" dirty="0">
                <a:solidFill>
                  <a:srgbClr val="1B2A41"/>
                </a:solidFill>
              </a:rPr>
              <a:t>Reviews scoring techniques and practical issues</a:t>
            </a:r>
            <a:endParaRPr lang="en-US" sz="1400" dirty="0"/>
          </a:p>
          <a:p>
            <a:pPr marL="342900" indent="-342900">
              <a:spcAft>
                <a:spcPts val="300"/>
              </a:spcAft>
              <a:buSzPct val="100000"/>
              <a:buChar char="•"/>
            </a:pPr>
            <a:r>
              <a:rPr lang="en-US" sz="1400" dirty="0">
                <a:solidFill>
                  <a:srgbClr val="1B2A41"/>
                </a:solidFill>
              </a:rPr>
              <a:t>Motivates monitoring and updating scorecards over time</a:t>
            </a:r>
            <a:endParaRPr lang="en-US" sz="1400" dirty="0"/>
          </a:p>
        </p:txBody>
      </p:sp>
      <p:sp>
        <p:nvSpPr>
          <p:cNvPr id="11" name="rightcard"/>
          <p:cNvSpPr/>
          <p:nvPr/>
        </p:nvSpPr>
        <p:spPr>
          <a:xfrm>
            <a:off x="7132320" y="1691640"/>
            <a:ext cx="4526280" cy="3383280"/>
          </a:xfrm>
          <a:prstGeom prst="roundRect">
            <a:avLst>
              <a:gd name="adj" fmla="val 3243"/>
            </a:avLst>
          </a:prstGeom>
          <a:solidFill>
            <a:srgbClr val="FFFFFF"/>
          </a:solidFill>
          <a:ln w="19050">
            <a:solidFill>
              <a:srgbClr val="2A9D8F"/>
            </a:solidFill>
            <a:prstDash val="solid"/>
          </a:ln>
        </p:spPr>
      </p:sp>
      <p:sp>
        <p:nvSpPr>
          <p:cNvPr id="12" name="Text 10"/>
          <p:cNvSpPr txBox="1"/>
          <p:nvPr/>
        </p:nvSpPr>
        <p:spPr>
          <a:xfrm>
            <a:off x="7360920" y="1783080"/>
            <a:ext cx="4114800" cy="365760"/>
          </a:xfrm>
          <a:prstGeom prst="rect">
            <a:avLst/>
          </a:prstGeom>
          <a:noFill/>
          <a:ln/>
        </p:spPr>
        <p:txBody>
          <a:bodyPr wrap="square" lIns="0" tIns="0" rIns="0" bIns="0" rtlCol="0" anchor="ctr"/>
          <a:lstStyle/>
          <a:p>
            <a:pPr indent="0" marL="0">
              <a:buNone/>
            </a:pPr>
            <a:r>
              <a:rPr lang="en-US" sz="1600" b="1" dirty="0">
                <a:solidFill>
                  <a:srgbClr val="E4572E"/>
                </a:solidFill>
              </a:rPr>
              <a:t>How it ties to our project</a:t>
            </a:r>
            <a:endParaRPr lang="en-US" sz="1600" dirty="0"/>
          </a:p>
        </p:txBody>
      </p:sp>
      <p:sp>
        <p:nvSpPr>
          <p:cNvPr id="13" name="Text 11"/>
          <p:cNvSpPr txBox="1"/>
          <p:nvPr/>
        </p:nvSpPr>
        <p:spPr>
          <a:xfrm>
            <a:off x="7360920" y="2194560"/>
            <a:ext cx="411480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41"/>
                </a:solidFill>
              </a:rPr>
              <a:t>Our model is an application-scoring model</a:t>
            </a:r>
            <a:endParaRPr lang="en-US" sz="1400" dirty="0"/>
          </a:p>
          <a:p>
            <a:pPr marL="342900" indent="-342900">
              <a:spcAft>
                <a:spcPts val="600"/>
              </a:spcAft>
              <a:buSzPct val="100000"/>
              <a:buChar char="•"/>
            </a:pPr>
            <a:r>
              <a:rPr lang="en-US" sz="1400" dirty="0">
                <a:solidFill>
                  <a:srgbClr val="1B2A41"/>
                </a:solidFill>
              </a:rPr>
              <a:t>Retraining is one command (train_model.py) and a manifest check detects when the data and model no longer match</a:t>
            </a:r>
            <a:endParaRPr lang="en-US" sz="1400" dirty="0"/>
          </a:p>
        </p:txBody>
      </p:sp>
      <p:sp>
        <p:nvSpPr>
          <p:cNvPr id="14" name="askbanner"/>
          <p:cNvSpPr/>
          <p:nvPr/>
        </p:nvSpPr>
        <p:spPr>
          <a:xfrm>
            <a:off x="548640" y="5257800"/>
            <a:ext cx="11109960" cy="1005840"/>
          </a:xfrm>
          <a:prstGeom prst="roundRect">
            <a:avLst>
              <a:gd name="adj" fmla="val 10909"/>
            </a:avLst>
          </a:prstGeom>
          <a:solidFill>
            <a:srgbClr val="1B2A41"/>
          </a:solidFill>
          <a:ln w="12700">
            <a:solidFill>
              <a:srgbClr val="1B2A41"/>
            </a:solidFill>
            <a:prstDash val="solid"/>
          </a:ln>
        </p:spPr>
      </p:sp>
      <p:sp>
        <p:nvSpPr>
          <p:cNvPr id="15" name="Text 13"/>
          <p:cNvSpPr txBox="1"/>
          <p:nvPr/>
        </p:nvSpPr>
        <p:spPr>
          <a:xfrm>
            <a:off x="777240" y="5303520"/>
            <a:ext cx="10652760" cy="914400"/>
          </a:xfrm>
          <a:prstGeom prst="rect">
            <a:avLst/>
          </a:prstGeom>
          <a:noFill/>
          <a:ln/>
        </p:spPr>
        <p:txBody>
          <a:bodyPr wrap="square" lIns="0" tIns="0" rIns="0" bIns="0" rtlCol="0" anchor="ctr"/>
          <a:lstStyle/>
          <a:p>
            <a:pPr indent="0" marL="0">
              <a:buNone/>
            </a:pPr>
            <a:r>
              <a:rPr lang="en-US" sz="1400" b="1" dirty="0">
                <a:solidFill>
                  <a:srgbClr val="F2B134"/>
                </a:solidFill>
              </a:rPr>
              <a:t>If asked:  </a:t>
            </a:r>
            <a:pPr indent="0" marL="0">
              <a:buNone/>
            </a:pPr>
            <a:r>
              <a:rPr lang="en-US" sz="1400" dirty="0">
                <a:solidFill>
                  <a:srgbClr val="FFFFFF"/>
                </a:solidFill>
              </a:rPr>
              <a:t>What happens as customers change? Models drift, so they must be monitored and retrained. Our pipeline is built to be re-run.</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num"/>
          <p:cNvSpPr/>
          <p:nvPr/>
        </p:nvSpPr>
        <p:spPr>
          <a:xfrm>
            <a:off x="548640" y="365760"/>
            <a:ext cx="685800" cy="685800"/>
          </a:xfrm>
          <a:prstGeom prst="ellipse">
            <a:avLst/>
          </a:prstGeom>
          <a:solidFill>
            <a:srgbClr val="2A9D8F"/>
          </a:solidFill>
          <a:ln w="12700">
            <a:solidFill>
              <a:srgbClr val="2A9D8F"/>
            </a:solidFill>
            <a:prstDash val="solid"/>
          </a:ln>
        </p:spPr>
      </p:sp>
      <p:sp>
        <p:nvSpPr>
          <p:cNvPr id="3" name="Text 1"/>
          <p:cNvSpPr txBox="1"/>
          <p:nvPr/>
        </p:nvSpPr>
        <p:spPr>
          <a:xfrm>
            <a:off x="548640" y="36576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rPr>
              <a:t>10</a:t>
            </a:r>
            <a:endParaRPr lang="en-US" sz="2400" dirty="0"/>
          </a:p>
        </p:txBody>
      </p:sp>
      <p:sp>
        <p:nvSpPr>
          <p:cNvPr id="4" name="Text 2"/>
          <p:cNvSpPr txBox="1"/>
          <p:nvPr/>
        </p:nvSpPr>
        <p:spPr>
          <a:xfrm>
            <a:off x="1463040" y="274320"/>
            <a:ext cx="10149840" cy="86868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The Elements of Statistical Learning</a:t>
            </a:r>
            <a:endParaRPr lang="en-US" sz="3200" dirty="0"/>
          </a:p>
        </p:txBody>
      </p:sp>
      <p:sp>
        <p:nvSpPr>
          <p:cNvPr id="5" name="Text 3"/>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5B6B7B"/>
                </a:solidFill>
              </a:rPr>
              <a:t>T. Hastie, R. Tibshirani and J. Friedman (2009). Springer, 2nd ed..   Deck: slides 6–7 (survey), 24 (refs)</a:t>
            </a:r>
            <a:endParaRPr lang="en-US" sz="1300" dirty="0"/>
          </a:p>
        </p:txBody>
      </p:sp>
      <p:sp>
        <p:nvSpPr>
          <p:cNvPr id="6" name="leftcard"/>
          <p:cNvSpPr/>
          <p:nvPr/>
        </p:nvSpPr>
        <p:spPr>
          <a:xfrm>
            <a:off x="548640" y="1691640"/>
            <a:ext cx="6309360" cy="3383280"/>
          </a:xfrm>
          <a:prstGeom prst="roundRect">
            <a:avLst>
              <a:gd name="adj" fmla="val 3243"/>
            </a:avLst>
          </a:prstGeom>
          <a:solidFill>
            <a:srgbClr val="EEF3F7"/>
          </a:solidFill>
          <a:ln w="12700">
            <a:solidFill>
              <a:srgbClr val="EEF3F7"/>
            </a:solidFill>
            <a:prstDash val="solid"/>
          </a:ln>
        </p:spPr>
      </p:sp>
      <p:sp>
        <p:nvSpPr>
          <p:cNvPr id="7" name="Text 5"/>
          <p:cNvSpPr txBox="1"/>
          <p:nvPr/>
        </p:nvSpPr>
        <p:spPr>
          <a:xfrm>
            <a:off x="777240" y="178308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What it is</a:t>
            </a:r>
            <a:endParaRPr lang="en-US" sz="1600" dirty="0"/>
          </a:p>
        </p:txBody>
      </p:sp>
      <p:sp>
        <p:nvSpPr>
          <p:cNvPr id="8" name="Text 6"/>
          <p:cNvSpPr txBox="1"/>
          <p:nvPr/>
        </p:nvSpPr>
        <p:spPr>
          <a:xfrm>
            <a:off x="777240" y="2148840"/>
            <a:ext cx="5852160" cy="868680"/>
          </a:xfrm>
          <a:prstGeom prst="rect">
            <a:avLst/>
          </a:prstGeom>
          <a:noFill/>
          <a:ln/>
        </p:spPr>
        <p:txBody>
          <a:bodyPr wrap="square" lIns="0" tIns="0" rIns="0" bIns="0" rtlCol="0" anchor="t"/>
          <a:lstStyle/>
          <a:p>
            <a:pPr indent="0" marL="0">
              <a:buNone/>
            </a:pPr>
            <a:r>
              <a:rPr lang="en-US" sz="1400" dirty="0">
                <a:solidFill>
                  <a:srgbClr val="1B2A41"/>
                </a:solidFill>
              </a:rPr>
              <a:t>The standard textbook on statistical learning: theory and practice of prediction methods.</a:t>
            </a:r>
            <a:endParaRPr lang="en-US" sz="1400" dirty="0"/>
          </a:p>
        </p:txBody>
      </p:sp>
      <p:sp>
        <p:nvSpPr>
          <p:cNvPr id="9" name="Text 7"/>
          <p:cNvSpPr txBox="1"/>
          <p:nvPr/>
        </p:nvSpPr>
        <p:spPr>
          <a:xfrm>
            <a:off x="777240" y="3017520"/>
            <a:ext cx="5852160" cy="365760"/>
          </a:xfrm>
          <a:prstGeom prst="rect">
            <a:avLst/>
          </a:prstGeom>
          <a:noFill/>
          <a:ln/>
        </p:spPr>
        <p:txBody>
          <a:bodyPr wrap="square" lIns="0" tIns="0" rIns="0" bIns="0" rtlCol="0" anchor="ctr"/>
          <a:lstStyle/>
          <a:p>
            <a:pPr indent="0" marL="0">
              <a:buNone/>
            </a:pPr>
            <a:r>
              <a:rPr lang="en-US" sz="1600" b="1" dirty="0">
                <a:solidFill>
                  <a:srgbClr val="2A9D8F"/>
                </a:solidFill>
              </a:rPr>
              <a:t>Key points</a:t>
            </a:r>
            <a:endParaRPr lang="en-US" sz="1600" dirty="0"/>
          </a:p>
        </p:txBody>
      </p:sp>
      <p:sp>
        <p:nvSpPr>
          <p:cNvPr id="10" name="Text 8"/>
          <p:cNvSpPr txBox="1"/>
          <p:nvPr/>
        </p:nvSpPr>
        <p:spPr>
          <a:xfrm>
            <a:off x="777240" y="3383280"/>
            <a:ext cx="5852160" cy="16459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B2A41"/>
                </a:solidFill>
              </a:rPr>
              <a:t>Bias-variance trade-off: why complex models over-fit</a:t>
            </a:r>
            <a:endParaRPr lang="en-US" sz="1400" dirty="0"/>
          </a:p>
          <a:p>
            <a:pPr marL="342900" indent="-342900">
              <a:spcAft>
                <a:spcPts val="300"/>
              </a:spcAft>
              <a:buSzPct val="100000"/>
              <a:buChar char="•"/>
            </a:pPr>
            <a:r>
              <a:rPr lang="en-US" sz="1400" dirty="0">
                <a:solidFill>
                  <a:srgbClr val="1B2A41"/>
                </a:solidFill>
              </a:rPr>
              <a:t>Cross-validation and honest model assessment</a:t>
            </a:r>
            <a:endParaRPr lang="en-US" sz="1400" dirty="0"/>
          </a:p>
          <a:p>
            <a:pPr marL="342900" indent="-342900">
              <a:spcAft>
                <a:spcPts val="300"/>
              </a:spcAft>
              <a:buSzPct val="100000"/>
              <a:buChar char="•"/>
            </a:pPr>
            <a:r>
              <a:rPr lang="en-US" sz="1400" dirty="0">
                <a:solidFill>
                  <a:srgbClr val="1B2A41"/>
                </a:solidFill>
              </a:rPr>
              <a:t>Bagging, random forests and boosting in depth</a:t>
            </a:r>
            <a:endParaRPr lang="en-US" sz="1400" dirty="0"/>
          </a:p>
        </p:txBody>
      </p:sp>
      <p:sp>
        <p:nvSpPr>
          <p:cNvPr id="11" name="rightcard"/>
          <p:cNvSpPr/>
          <p:nvPr/>
        </p:nvSpPr>
        <p:spPr>
          <a:xfrm>
            <a:off x="7132320" y="1691640"/>
            <a:ext cx="4526280" cy="3383280"/>
          </a:xfrm>
          <a:prstGeom prst="roundRect">
            <a:avLst>
              <a:gd name="adj" fmla="val 3243"/>
            </a:avLst>
          </a:prstGeom>
          <a:solidFill>
            <a:srgbClr val="FFFFFF"/>
          </a:solidFill>
          <a:ln w="19050">
            <a:solidFill>
              <a:srgbClr val="2A9D8F"/>
            </a:solidFill>
            <a:prstDash val="solid"/>
          </a:ln>
        </p:spPr>
      </p:sp>
      <p:sp>
        <p:nvSpPr>
          <p:cNvPr id="12" name="Text 10"/>
          <p:cNvSpPr txBox="1"/>
          <p:nvPr/>
        </p:nvSpPr>
        <p:spPr>
          <a:xfrm>
            <a:off x="7360920" y="1783080"/>
            <a:ext cx="4114800" cy="365760"/>
          </a:xfrm>
          <a:prstGeom prst="rect">
            <a:avLst/>
          </a:prstGeom>
          <a:noFill/>
          <a:ln/>
        </p:spPr>
        <p:txBody>
          <a:bodyPr wrap="square" lIns="0" tIns="0" rIns="0" bIns="0" rtlCol="0" anchor="ctr"/>
          <a:lstStyle/>
          <a:p>
            <a:pPr indent="0" marL="0">
              <a:buNone/>
            </a:pPr>
            <a:r>
              <a:rPr lang="en-US" sz="1600" b="1" dirty="0">
                <a:solidFill>
                  <a:srgbClr val="E4572E"/>
                </a:solidFill>
              </a:rPr>
              <a:t>How it ties to our project</a:t>
            </a:r>
            <a:endParaRPr lang="en-US" sz="1600" dirty="0"/>
          </a:p>
        </p:txBody>
      </p:sp>
      <p:sp>
        <p:nvSpPr>
          <p:cNvPr id="13" name="Text 11"/>
          <p:cNvSpPr txBox="1"/>
          <p:nvPr/>
        </p:nvSpPr>
        <p:spPr>
          <a:xfrm>
            <a:off x="7360920" y="2194560"/>
            <a:ext cx="411480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41"/>
                </a:solidFill>
              </a:rPr>
              <a:t>Reason for a held-out 20% test set and a stratified split</a:t>
            </a:r>
            <a:endParaRPr lang="en-US" sz="1400" dirty="0"/>
          </a:p>
          <a:p>
            <a:pPr marL="342900" indent="-342900">
              <a:spcAft>
                <a:spcPts val="600"/>
              </a:spcAft>
              <a:buSzPct val="100000"/>
              <a:buChar char="•"/>
            </a:pPr>
            <a:r>
              <a:rPr lang="en-US" sz="1400" dirty="0">
                <a:solidFill>
                  <a:srgbClr val="1B2A41"/>
                </a:solidFill>
              </a:rPr>
              <a:t>Explains why a deep forest (max_depth 16) needs many trees and a fresh test set</a:t>
            </a:r>
            <a:endParaRPr lang="en-US" sz="1400" dirty="0"/>
          </a:p>
        </p:txBody>
      </p:sp>
      <p:sp>
        <p:nvSpPr>
          <p:cNvPr id="14" name="askbanner"/>
          <p:cNvSpPr/>
          <p:nvPr/>
        </p:nvSpPr>
        <p:spPr>
          <a:xfrm>
            <a:off x="548640" y="5257800"/>
            <a:ext cx="11109960" cy="1005840"/>
          </a:xfrm>
          <a:prstGeom prst="roundRect">
            <a:avLst>
              <a:gd name="adj" fmla="val 10909"/>
            </a:avLst>
          </a:prstGeom>
          <a:solidFill>
            <a:srgbClr val="1B2A41"/>
          </a:solidFill>
          <a:ln w="12700">
            <a:solidFill>
              <a:srgbClr val="1B2A41"/>
            </a:solidFill>
            <a:prstDash val="solid"/>
          </a:ln>
        </p:spPr>
      </p:sp>
      <p:sp>
        <p:nvSpPr>
          <p:cNvPr id="15" name="Text 13"/>
          <p:cNvSpPr txBox="1"/>
          <p:nvPr/>
        </p:nvSpPr>
        <p:spPr>
          <a:xfrm>
            <a:off x="777240" y="5303520"/>
            <a:ext cx="10652760" cy="914400"/>
          </a:xfrm>
          <a:prstGeom prst="rect">
            <a:avLst/>
          </a:prstGeom>
          <a:noFill/>
          <a:ln/>
        </p:spPr>
        <p:txBody>
          <a:bodyPr wrap="square" lIns="0" tIns="0" rIns="0" bIns="0" rtlCol="0" anchor="ctr"/>
          <a:lstStyle/>
          <a:p>
            <a:pPr indent="0" marL="0">
              <a:buNone/>
            </a:pPr>
            <a:r>
              <a:rPr lang="en-US" sz="1400" b="1" dirty="0">
                <a:solidFill>
                  <a:srgbClr val="F2B134"/>
                </a:solidFill>
              </a:rPr>
              <a:t>If asked:  </a:t>
            </a:r>
            <a:pPr indent="0" marL="0">
              <a:buNone/>
            </a:pPr>
            <a:r>
              <a:rPr lang="en-US" sz="1400" dirty="0">
                <a:solidFill>
                  <a:srgbClr val="FFFFFF"/>
                </a:solidFill>
              </a:rPr>
              <a:t>Why a train/test split? To measure performance on unseen data. Training accuracy alone would hide over-fitting.</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0972800" cy="640080"/>
          </a:xfrm>
          <a:prstGeom prst="rect">
            <a:avLst/>
          </a:prstGeom>
          <a:noFill/>
          <a:ln/>
        </p:spPr>
        <p:txBody>
          <a:bodyPr wrap="square" lIns="0" tIns="0" rIns="0" bIns="0" rtlCol="0" anchor="ctr"/>
          <a:lstStyle/>
          <a:p>
            <a:pPr indent="0" marL="0">
              <a:buNone/>
            </a:pPr>
            <a:r>
              <a:rPr lang="en-US" sz="3400" b="1" dirty="0">
                <a:solidFill>
                  <a:srgbClr val="1B2A41"/>
                </a:solidFill>
                <a:latin typeface="Cambria" pitchFamily="34" charset="0"/>
                <a:ea typeface="Cambria" pitchFamily="34" charset="-122"/>
                <a:cs typeface="Cambria" pitchFamily="34" charset="-120"/>
              </a:rPr>
              <a:t>Be honest: what we actually used</a:t>
            </a:r>
            <a:endParaRPr lang="en-US" sz="3400" dirty="0"/>
          </a:p>
        </p:txBody>
      </p:sp>
      <p:sp>
        <p:nvSpPr>
          <p:cNvPr id="3" name="col-Implemented"/>
          <p:cNvSpPr/>
          <p:nvPr/>
        </p:nvSpPr>
        <p:spPr>
          <a:xfrm>
            <a:off x="548640" y="1234440"/>
            <a:ext cx="3566160" cy="4663440"/>
          </a:xfrm>
          <a:prstGeom prst="roundRect">
            <a:avLst>
              <a:gd name="adj" fmla="val 3077"/>
            </a:avLst>
          </a:prstGeom>
          <a:solidFill>
            <a:srgbClr val="EEF3F7"/>
          </a:solidFill>
          <a:ln w="12700">
            <a:solidFill>
              <a:srgbClr val="EEF3F7"/>
            </a:solidFill>
            <a:prstDash val="solid"/>
          </a:ln>
        </p:spPr>
      </p:sp>
      <p:sp>
        <p:nvSpPr>
          <p:cNvPr id="4" name="Text 2"/>
          <p:cNvSpPr txBox="1"/>
          <p:nvPr/>
        </p:nvSpPr>
        <p:spPr>
          <a:xfrm>
            <a:off x="777240" y="1371600"/>
            <a:ext cx="3108960" cy="411480"/>
          </a:xfrm>
          <a:prstGeom prst="rect">
            <a:avLst/>
          </a:prstGeom>
          <a:noFill/>
          <a:ln/>
        </p:spPr>
        <p:txBody>
          <a:bodyPr wrap="square" lIns="0" tIns="0" rIns="0" bIns="0" rtlCol="0" anchor="ctr"/>
          <a:lstStyle/>
          <a:p>
            <a:pPr indent="0" marL="0">
              <a:buNone/>
            </a:pPr>
            <a:r>
              <a:rPr lang="en-US" sz="1800" b="1" dirty="0">
                <a:solidFill>
                  <a:srgbClr val="2A9D8F"/>
                </a:solidFill>
              </a:rPr>
              <a:t>Implemented</a:t>
            </a:r>
            <a:endParaRPr lang="en-US" sz="1800" dirty="0"/>
          </a:p>
        </p:txBody>
      </p:sp>
      <p:sp>
        <p:nvSpPr>
          <p:cNvPr id="5" name="Text 3"/>
          <p:cNvSpPr txBox="1"/>
          <p:nvPr/>
        </p:nvSpPr>
        <p:spPr>
          <a:xfrm>
            <a:off x="777240" y="1874520"/>
            <a:ext cx="3154680" cy="3840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41"/>
                </a:solidFill>
              </a:rPr>
              <a:t>Random Forest [1]</a:t>
            </a:r>
            <a:endParaRPr lang="en-US" sz="1400" dirty="0"/>
          </a:p>
          <a:p>
            <a:pPr marL="342900" indent="-342900">
              <a:spcAft>
                <a:spcPts val="600"/>
              </a:spcAft>
              <a:buSzPct val="100000"/>
              <a:buChar char="•"/>
            </a:pPr>
            <a:r>
              <a:rPr lang="en-US" sz="1400" dirty="0">
                <a:solidFill>
                  <a:srgbClr val="1B2A41"/>
                </a:solidFill>
              </a:rPr>
              <a:t>scikit-learn pipeline [2]</a:t>
            </a:r>
            <a:endParaRPr lang="en-US" sz="1400" dirty="0"/>
          </a:p>
          <a:p>
            <a:pPr marL="342900" indent="-342900">
              <a:spcAft>
                <a:spcPts val="600"/>
              </a:spcAft>
              <a:buSzPct val="100000"/>
              <a:buChar char="•"/>
            </a:pPr>
            <a:r>
              <a:rPr lang="en-US" sz="1400" dirty="0">
                <a:solidFill>
                  <a:srgbClr val="1B2A41"/>
                </a:solidFill>
              </a:rPr>
              <a:t>Logistic Regression baseline [3]</a:t>
            </a:r>
            <a:endParaRPr lang="en-US" sz="1400" dirty="0"/>
          </a:p>
          <a:p>
            <a:pPr marL="342900" indent="-342900">
              <a:spcAft>
                <a:spcPts val="600"/>
              </a:spcAft>
              <a:buSzPct val="100000"/>
              <a:buChar char="•"/>
            </a:pPr>
            <a:r>
              <a:rPr lang="en-US" sz="1400" dirty="0">
                <a:solidFill>
                  <a:srgbClr val="1B2A41"/>
                </a:solidFill>
              </a:rPr>
              <a:t>Stratified 80:20 split and held-out test [10]</a:t>
            </a:r>
            <a:endParaRPr lang="en-US" sz="1400" dirty="0"/>
          </a:p>
          <a:p>
            <a:pPr marL="342900" indent="-342900">
              <a:spcAft>
                <a:spcPts val="600"/>
              </a:spcAft>
              <a:buSzPct val="100000"/>
              <a:buChar char="•"/>
            </a:pPr>
            <a:r>
              <a:rPr lang="en-US" sz="1400" dirty="0">
                <a:solidFill>
                  <a:srgbClr val="1B2A41"/>
                </a:solidFill>
              </a:rPr>
              <a:t>Precision, recall, F1, confusion matrix [8]</a:t>
            </a:r>
            <a:endParaRPr lang="en-US" sz="1400" dirty="0"/>
          </a:p>
          <a:p>
            <a:pPr marL="342900" indent="-342900">
              <a:spcAft>
                <a:spcPts val="600"/>
              </a:spcAft>
              <a:buSzPct val="100000"/>
              <a:buChar char="•"/>
            </a:pPr>
            <a:r>
              <a:rPr lang="en-US" sz="1400" dirty="0">
                <a:solidFill>
                  <a:srgbClr val="1B2A41"/>
                </a:solidFill>
              </a:rPr>
              <a:t>class_weight balanced for imbalance</a:t>
            </a:r>
            <a:endParaRPr lang="en-US" sz="1400" dirty="0"/>
          </a:p>
        </p:txBody>
      </p:sp>
      <p:sp>
        <p:nvSpPr>
          <p:cNvPr id="6" name="col-Cited, not implemented"/>
          <p:cNvSpPr/>
          <p:nvPr/>
        </p:nvSpPr>
        <p:spPr>
          <a:xfrm>
            <a:off x="4297680" y="1234440"/>
            <a:ext cx="3566160" cy="4663440"/>
          </a:xfrm>
          <a:prstGeom prst="roundRect">
            <a:avLst>
              <a:gd name="adj" fmla="val 3077"/>
            </a:avLst>
          </a:prstGeom>
          <a:solidFill>
            <a:srgbClr val="EEF3F7"/>
          </a:solidFill>
          <a:ln w="12700">
            <a:solidFill>
              <a:srgbClr val="EEF3F7"/>
            </a:solidFill>
            <a:prstDash val="solid"/>
          </a:ln>
        </p:spPr>
      </p:sp>
      <p:sp>
        <p:nvSpPr>
          <p:cNvPr id="7" name="Text 5"/>
          <p:cNvSpPr txBox="1"/>
          <p:nvPr/>
        </p:nvSpPr>
        <p:spPr>
          <a:xfrm>
            <a:off x="4526280" y="1371600"/>
            <a:ext cx="3108960" cy="411480"/>
          </a:xfrm>
          <a:prstGeom prst="rect">
            <a:avLst/>
          </a:prstGeom>
          <a:noFill/>
          <a:ln/>
        </p:spPr>
        <p:txBody>
          <a:bodyPr wrap="square" lIns="0" tIns="0" rIns="0" bIns="0" rtlCol="0" anchor="ctr"/>
          <a:lstStyle/>
          <a:p>
            <a:pPr indent="0" marL="0">
              <a:buNone/>
            </a:pPr>
            <a:r>
              <a:rPr lang="en-US" sz="1800" b="1" dirty="0">
                <a:solidFill>
                  <a:srgbClr val="E4572E"/>
                </a:solidFill>
              </a:rPr>
              <a:t>Cited, not implemented</a:t>
            </a:r>
            <a:endParaRPr lang="en-US" sz="1800" dirty="0"/>
          </a:p>
        </p:txBody>
      </p:sp>
      <p:sp>
        <p:nvSpPr>
          <p:cNvPr id="8" name="Text 6"/>
          <p:cNvSpPr txBox="1"/>
          <p:nvPr/>
        </p:nvSpPr>
        <p:spPr>
          <a:xfrm>
            <a:off x="4526280" y="1874520"/>
            <a:ext cx="3154680" cy="3840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41"/>
                </a:solidFill>
              </a:rPr>
              <a:t>XGBoost [6]: related work, optional import never used</a:t>
            </a:r>
            <a:endParaRPr lang="en-US" sz="1400" dirty="0"/>
          </a:p>
          <a:p>
            <a:pPr marL="342900" indent="-342900">
              <a:spcAft>
                <a:spcPts val="600"/>
              </a:spcAft>
              <a:buSzPct val="100000"/>
              <a:buChar char="•"/>
            </a:pPr>
            <a:r>
              <a:rPr lang="en-US" sz="1400" dirty="0">
                <a:solidFill>
                  <a:srgbClr val="1B2A41"/>
                </a:solidFill>
              </a:rPr>
              <a:t>SMOTE [7]: future work</a:t>
            </a:r>
            <a:endParaRPr lang="en-US" sz="1400" dirty="0"/>
          </a:p>
          <a:p>
            <a:pPr marL="342900" indent="-342900">
              <a:spcAft>
                <a:spcPts val="600"/>
              </a:spcAft>
              <a:buSzPct val="100000"/>
              <a:buChar char="•"/>
            </a:pPr>
            <a:r>
              <a:rPr lang="en-US" sz="1400" dirty="0">
                <a:solidFill>
                  <a:srgbClr val="1B2A41"/>
                </a:solidFill>
              </a:rPr>
              <a:t>ROC / AUC curve [8]: not our headline metric</a:t>
            </a:r>
            <a:endParaRPr lang="en-US" sz="1400" dirty="0"/>
          </a:p>
          <a:p>
            <a:pPr marL="342900" indent="-342900">
              <a:spcAft>
                <a:spcPts val="600"/>
              </a:spcAft>
              <a:buSzPct val="100000"/>
              <a:buChar char="•"/>
            </a:pPr>
            <a:r>
              <a:rPr lang="en-US" sz="1400" dirty="0">
                <a:solidFill>
                  <a:srgbClr val="1B2A41"/>
                </a:solidFill>
              </a:rPr>
              <a:t>Behavioural scoring and drift monitoring [9]: retraining is manual</a:t>
            </a:r>
            <a:endParaRPr lang="en-US" sz="1400" dirty="0"/>
          </a:p>
        </p:txBody>
      </p:sp>
      <p:sp>
        <p:nvSpPr>
          <p:cNvPr id="9" name="col-Motivation only"/>
          <p:cNvSpPr/>
          <p:nvPr/>
        </p:nvSpPr>
        <p:spPr>
          <a:xfrm>
            <a:off x="8046720" y="1234440"/>
            <a:ext cx="3566160" cy="4663440"/>
          </a:xfrm>
          <a:prstGeom prst="roundRect">
            <a:avLst>
              <a:gd name="adj" fmla="val 3077"/>
            </a:avLst>
          </a:prstGeom>
          <a:solidFill>
            <a:srgbClr val="EEF3F7"/>
          </a:solidFill>
          <a:ln w="12700">
            <a:solidFill>
              <a:srgbClr val="EEF3F7"/>
            </a:solidFill>
            <a:prstDash val="solid"/>
          </a:ln>
        </p:spPr>
      </p:sp>
      <p:sp>
        <p:nvSpPr>
          <p:cNvPr id="10" name="Text 8"/>
          <p:cNvSpPr txBox="1"/>
          <p:nvPr/>
        </p:nvSpPr>
        <p:spPr>
          <a:xfrm>
            <a:off x="8275320" y="1371600"/>
            <a:ext cx="3108960" cy="411480"/>
          </a:xfrm>
          <a:prstGeom prst="rect">
            <a:avLst/>
          </a:prstGeom>
          <a:noFill/>
          <a:ln/>
        </p:spPr>
        <p:txBody>
          <a:bodyPr wrap="square" lIns="0" tIns="0" rIns="0" bIns="0" rtlCol="0" anchor="ctr"/>
          <a:lstStyle/>
          <a:p>
            <a:pPr indent="0" marL="0">
              <a:buNone/>
            </a:pPr>
            <a:r>
              <a:rPr lang="en-US" sz="1800" b="1" dirty="0">
                <a:solidFill>
                  <a:srgbClr val="2A9D8F"/>
                </a:solidFill>
              </a:rPr>
              <a:t>Motivation only</a:t>
            </a:r>
            <a:endParaRPr lang="en-US" sz="1800" dirty="0"/>
          </a:p>
        </p:txBody>
      </p:sp>
      <p:sp>
        <p:nvSpPr>
          <p:cNvPr id="11" name="Text 9"/>
          <p:cNvSpPr txBox="1"/>
          <p:nvPr/>
        </p:nvSpPr>
        <p:spPr>
          <a:xfrm>
            <a:off x="8275320" y="1874520"/>
            <a:ext cx="3154680" cy="3840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41"/>
                </a:solidFill>
              </a:rPr>
              <a:t>Khandani et al. [4]: ML helps on real bank data</a:t>
            </a:r>
            <a:endParaRPr lang="en-US" sz="1400" dirty="0"/>
          </a:p>
          <a:p>
            <a:pPr marL="342900" indent="-342900">
              <a:spcAft>
                <a:spcPts val="600"/>
              </a:spcAft>
              <a:buSzPct val="100000"/>
              <a:buChar char="•"/>
            </a:pPr>
            <a:r>
              <a:rPr lang="en-US" sz="1400" dirty="0">
                <a:solidFill>
                  <a:srgbClr val="1B2A41"/>
                </a:solidFill>
              </a:rPr>
              <a:t>Lessmann et al. [5]: ensembles rank among the best</a:t>
            </a:r>
            <a:endParaRPr lang="en-US" sz="1400" dirty="0"/>
          </a:p>
          <a:p>
            <a:pPr marL="342900" indent="-342900">
              <a:spcAft>
                <a:spcPts val="600"/>
              </a:spcAft>
              <a:buSzPct val="100000"/>
              <a:buChar char="•"/>
            </a:pPr>
            <a:r>
              <a:rPr lang="en-US" sz="1400" dirty="0">
                <a:solidFill>
                  <a:srgbClr val="1B2A41"/>
                </a:solidFill>
              </a:rPr>
              <a:t>Our data is synthetic, so we do not claim real-world gains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0972800" cy="640080"/>
          </a:xfrm>
          <a:prstGeom prst="rect">
            <a:avLst/>
          </a:prstGeom>
          <a:noFill/>
          <a:ln/>
        </p:spPr>
        <p:txBody>
          <a:bodyPr wrap="square" lIns="0" tIns="0" rIns="0" bIns="0" rtlCol="0" anchor="ctr"/>
          <a:lstStyle/>
          <a:p>
            <a:pPr indent="0" marL="0">
              <a:buNone/>
            </a:pPr>
            <a:r>
              <a:rPr lang="en-US" sz="3400" b="1" dirty="0">
                <a:solidFill>
                  <a:srgbClr val="1B2A41"/>
                </a:solidFill>
                <a:latin typeface="Cambria" pitchFamily="34" charset="0"/>
                <a:ea typeface="Cambria" pitchFamily="34" charset="-122"/>
                <a:cs typeface="Cambria" pitchFamily="34" charset="-120"/>
              </a:rPr>
              <a:t>Quick answers if the panel asks</a:t>
            </a:r>
            <a:endParaRPr lang="en-US" sz="3400" dirty="0"/>
          </a:p>
        </p:txBody>
      </p:sp>
      <p:sp>
        <p:nvSpPr>
          <p:cNvPr id="3" name="qa0"/>
          <p:cNvSpPr/>
          <p:nvPr/>
        </p:nvSpPr>
        <p:spPr>
          <a:xfrm>
            <a:off x="548640" y="1188720"/>
            <a:ext cx="11109960" cy="713232"/>
          </a:xfrm>
          <a:prstGeom prst="roundRect">
            <a:avLst>
              <a:gd name="adj" fmla="val 12821"/>
            </a:avLst>
          </a:prstGeom>
          <a:solidFill>
            <a:srgbClr val="EEF3F7"/>
          </a:solidFill>
          <a:ln w="9525">
            <a:solidFill>
              <a:srgbClr val="D5DEE6"/>
            </a:solidFill>
            <a:prstDash val="solid"/>
          </a:ln>
        </p:spPr>
      </p:sp>
      <p:sp>
        <p:nvSpPr>
          <p:cNvPr id="4" name="Text 2"/>
          <p:cNvSpPr txBox="1"/>
          <p:nvPr/>
        </p:nvSpPr>
        <p:spPr>
          <a:xfrm>
            <a:off x="731520" y="1188720"/>
            <a:ext cx="4023360" cy="713232"/>
          </a:xfrm>
          <a:prstGeom prst="rect">
            <a:avLst/>
          </a:prstGeom>
          <a:noFill/>
          <a:ln/>
        </p:spPr>
        <p:txBody>
          <a:bodyPr wrap="square" lIns="0" tIns="0" rIns="0" bIns="0" rtlCol="0" anchor="ctr"/>
          <a:lstStyle/>
          <a:p>
            <a:pPr indent="0" marL="0">
              <a:buNone/>
            </a:pPr>
            <a:r>
              <a:rPr lang="en-US" sz="1500" b="1" dirty="0">
                <a:solidFill>
                  <a:srgbClr val="1B2A41"/>
                </a:solidFill>
              </a:rPr>
              <a:t>Which paper is the main basis?</a:t>
            </a:r>
            <a:endParaRPr lang="en-US" sz="1500" dirty="0"/>
          </a:p>
        </p:txBody>
      </p:sp>
      <p:sp>
        <p:nvSpPr>
          <p:cNvPr id="5" name="Text 3"/>
          <p:cNvSpPr txBox="1"/>
          <p:nvPr/>
        </p:nvSpPr>
        <p:spPr>
          <a:xfrm>
            <a:off x="4846320" y="1188720"/>
            <a:ext cx="6675120" cy="713232"/>
          </a:xfrm>
          <a:prstGeom prst="rect">
            <a:avLst/>
          </a:prstGeom>
          <a:noFill/>
          <a:ln/>
        </p:spPr>
        <p:txBody>
          <a:bodyPr wrap="square" lIns="0" tIns="0" rIns="0" bIns="0" rtlCol="0" anchor="ctr"/>
          <a:lstStyle/>
          <a:p>
            <a:pPr indent="0" marL="0">
              <a:buNone/>
            </a:pPr>
            <a:r>
              <a:rPr lang="en-US" sz="1400" dirty="0">
                <a:solidFill>
                  <a:srgbClr val="1B2A41"/>
                </a:solidFill>
              </a:rPr>
              <a:t>Breiman (2001): our final model is a Random Forest.</a:t>
            </a:r>
            <a:endParaRPr lang="en-US" sz="1400" dirty="0"/>
          </a:p>
        </p:txBody>
      </p:sp>
      <p:sp>
        <p:nvSpPr>
          <p:cNvPr id="6" name="qa1"/>
          <p:cNvSpPr/>
          <p:nvPr/>
        </p:nvSpPr>
        <p:spPr>
          <a:xfrm>
            <a:off x="548640" y="2011680"/>
            <a:ext cx="11109960" cy="713232"/>
          </a:xfrm>
          <a:prstGeom prst="roundRect">
            <a:avLst>
              <a:gd name="adj" fmla="val 12821"/>
            </a:avLst>
          </a:prstGeom>
          <a:solidFill>
            <a:srgbClr val="FFFFFF"/>
          </a:solidFill>
          <a:ln w="9525">
            <a:solidFill>
              <a:srgbClr val="D5DEE6"/>
            </a:solidFill>
            <a:prstDash val="solid"/>
          </a:ln>
        </p:spPr>
      </p:sp>
      <p:sp>
        <p:nvSpPr>
          <p:cNvPr id="7" name="Text 5"/>
          <p:cNvSpPr txBox="1"/>
          <p:nvPr/>
        </p:nvSpPr>
        <p:spPr>
          <a:xfrm>
            <a:off x="731520" y="2011680"/>
            <a:ext cx="4023360" cy="713232"/>
          </a:xfrm>
          <a:prstGeom prst="rect">
            <a:avLst/>
          </a:prstGeom>
          <a:noFill/>
          <a:ln/>
        </p:spPr>
        <p:txBody>
          <a:bodyPr wrap="square" lIns="0" tIns="0" rIns="0" bIns="0" rtlCol="0" anchor="ctr"/>
          <a:lstStyle/>
          <a:p>
            <a:pPr indent="0" marL="0">
              <a:buNone/>
            </a:pPr>
            <a:r>
              <a:rPr lang="en-US" sz="1500" b="1" dirty="0">
                <a:solidFill>
                  <a:srgbClr val="1B2A41"/>
                </a:solidFill>
              </a:rPr>
              <a:t>Which paper is the baseline from?</a:t>
            </a:r>
            <a:endParaRPr lang="en-US" sz="1500" dirty="0"/>
          </a:p>
        </p:txBody>
      </p:sp>
      <p:sp>
        <p:nvSpPr>
          <p:cNvPr id="8" name="Text 6"/>
          <p:cNvSpPr txBox="1"/>
          <p:nvPr/>
        </p:nvSpPr>
        <p:spPr>
          <a:xfrm>
            <a:off x="4846320" y="2011680"/>
            <a:ext cx="6675120" cy="713232"/>
          </a:xfrm>
          <a:prstGeom prst="rect">
            <a:avLst/>
          </a:prstGeom>
          <a:noFill/>
          <a:ln/>
        </p:spPr>
        <p:txBody>
          <a:bodyPr wrap="square" lIns="0" tIns="0" rIns="0" bIns="0" rtlCol="0" anchor="ctr"/>
          <a:lstStyle/>
          <a:p>
            <a:pPr indent="0" marL="0">
              <a:buNone/>
            </a:pPr>
            <a:r>
              <a:rPr lang="en-US" sz="1400" dirty="0">
                <a:solidFill>
                  <a:srgbClr val="1B2A41"/>
                </a:solidFill>
              </a:rPr>
              <a:t>Hand &amp; Henley (1997): logistic regression is the standard credit-scoring method.</a:t>
            </a:r>
            <a:endParaRPr lang="en-US" sz="1400" dirty="0"/>
          </a:p>
        </p:txBody>
      </p:sp>
      <p:sp>
        <p:nvSpPr>
          <p:cNvPr id="9" name="qa2"/>
          <p:cNvSpPr/>
          <p:nvPr/>
        </p:nvSpPr>
        <p:spPr>
          <a:xfrm>
            <a:off x="548640" y="2834640"/>
            <a:ext cx="11109960" cy="713232"/>
          </a:xfrm>
          <a:prstGeom prst="roundRect">
            <a:avLst>
              <a:gd name="adj" fmla="val 12821"/>
            </a:avLst>
          </a:prstGeom>
          <a:solidFill>
            <a:srgbClr val="EEF3F7"/>
          </a:solidFill>
          <a:ln w="9525">
            <a:solidFill>
              <a:srgbClr val="D5DEE6"/>
            </a:solidFill>
            <a:prstDash val="solid"/>
          </a:ln>
        </p:spPr>
      </p:sp>
      <p:sp>
        <p:nvSpPr>
          <p:cNvPr id="10" name="Text 8"/>
          <p:cNvSpPr txBox="1"/>
          <p:nvPr/>
        </p:nvSpPr>
        <p:spPr>
          <a:xfrm>
            <a:off x="731520" y="2834640"/>
            <a:ext cx="4023360" cy="713232"/>
          </a:xfrm>
          <a:prstGeom prst="rect">
            <a:avLst/>
          </a:prstGeom>
          <a:noFill/>
          <a:ln/>
        </p:spPr>
        <p:txBody>
          <a:bodyPr wrap="square" lIns="0" tIns="0" rIns="0" bIns="0" rtlCol="0" anchor="ctr"/>
          <a:lstStyle/>
          <a:p>
            <a:pPr indent="0" marL="0">
              <a:buNone/>
            </a:pPr>
            <a:r>
              <a:rPr lang="en-US" sz="1500" b="1" dirty="0">
                <a:solidFill>
                  <a:srgbClr val="1B2A41"/>
                </a:solidFill>
              </a:rPr>
              <a:t>Is there proof ML works in lending?</a:t>
            </a:r>
            <a:endParaRPr lang="en-US" sz="1500" dirty="0"/>
          </a:p>
        </p:txBody>
      </p:sp>
      <p:sp>
        <p:nvSpPr>
          <p:cNvPr id="11" name="Text 9"/>
          <p:cNvSpPr txBox="1"/>
          <p:nvPr/>
        </p:nvSpPr>
        <p:spPr>
          <a:xfrm>
            <a:off x="4846320" y="2834640"/>
            <a:ext cx="6675120" cy="713232"/>
          </a:xfrm>
          <a:prstGeom prst="rect">
            <a:avLst/>
          </a:prstGeom>
          <a:noFill/>
          <a:ln/>
        </p:spPr>
        <p:txBody>
          <a:bodyPr wrap="square" lIns="0" tIns="0" rIns="0" bIns="0" rtlCol="0" anchor="ctr"/>
          <a:lstStyle/>
          <a:p>
            <a:pPr indent="0" marL="0">
              <a:buNone/>
            </a:pPr>
            <a:r>
              <a:rPr lang="en-US" sz="1400" dirty="0">
                <a:solidFill>
                  <a:srgbClr val="1B2A41"/>
                </a:solidFill>
              </a:rPr>
              <a:t>Khandani et al. (2010) and Lessmann et al. (2015), both on real credit data.</a:t>
            </a:r>
            <a:endParaRPr lang="en-US" sz="1400" dirty="0"/>
          </a:p>
        </p:txBody>
      </p:sp>
      <p:sp>
        <p:nvSpPr>
          <p:cNvPr id="12" name="qa3"/>
          <p:cNvSpPr/>
          <p:nvPr/>
        </p:nvSpPr>
        <p:spPr>
          <a:xfrm>
            <a:off x="548640" y="3657600"/>
            <a:ext cx="11109960" cy="713232"/>
          </a:xfrm>
          <a:prstGeom prst="roundRect">
            <a:avLst>
              <a:gd name="adj" fmla="val 12821"/>
            </a:avLst>
          </a:prstGeom>
          <a:solidFill>
            <a:srgbClr val="FFFFFF"/>
          </a:solidFill>
          <a:ln w="9525">
            <a:solidFill>
              <a:srgbClr val="D5DEE6"/>
            </a:solidFill>
            <a:prstDash val="solid"/>
          </a:ln>
        </p:spPr>
      </p:sp>
      <p:sp>
        <p:nvSpPr>
          <p:cNvPr id="13" name="Text 11"/>
          <p:cNvSpPr txBox="1"/>
          <p:nvPr/>
        </p:nvSpPr>
        <p:spPr>
          <a:xfrm>
            <a:off x="731520" y="3657600"/>
            <a:ext cx="4023360" cy="713232"/>
          </a:xfrm>
          <a:prstGeom prst="rect">
            <a:avLst/>
          </a:prstGeom>
          <a:noFill/>
          <a:ln/>
        </p:spPr>
        <p:txBody>
          <a:bodyPr wrap="square" lIns="0" tIns="0" rIns="0" bIns="0" rtlCol="0" anchor="ctr"/>
          <a:lstStyle/>
          <a:p>
            <a:pPr indent="0" marL="0">
              <a:buNone/>
            </a:pPr>
            <a:r>
              <a:rPr lang="en-US" sz="1500" b="1" dirty="0">
                <a:solidFill>
                  <a:srgbClr val="1B2A41"/>
                </a:solidFill>
              </a:rPr>
              <a:t>Why no XGBoost or SMOTE?</a:t>
            </a:r>
            <a:endParaRPr lang="en-US" sz="1500" dirty="0"/>
          </a:p>
        </p:txBody>
      </p:sp>
      <p:sp>
        <p:nvSpPr>
          <p:cNvPr id="14" name="Text 12"/>
          <p:cNvSpPr txBox="1"/>
          <p:nvPr/>
        </p:nvSpPr>
        <p:spPr>
          <a:xfrm>
            <a:off x="4846320" y="3657600"/>
            <a:ext cx="6675120" cy="713232"/>
          </a:xfrm>
          <a:prstGeom prst="rect">
            <a:avLst/>
          </a:prstGeom>
          <a:noFill/>
          <a:ln/>
        </p:spPr>
        <p:txBody>
          <a:bodyPr wrap="square" lIns="0" tIns="0" rIns="0" bIns="0" rtlCol="0" anchor="ctr"/>
          <a:lstStyle/>
          <a:p>
            <a:pPr indent="0" marL="0">
              <a:buNone/>
            </a:pPr>
            <a:r>
              <a:rPr lang="en-US" sz="1400" dirty="0">
                <a:solidFill>
                  <a:srgbClr val="1B2A41"/>
                </a:solidFill>
              </a:rPr>
              <a:t>Kept the scope small: Random Forest with class weights handled the 75:25 imbalance. Both are listed as future work.</a:t>
            </a:r>
            <a:endParaRPr lang="en-US" sz="1400" dirty="0"/>
          </a:p>
        </p:txBody>
      </p:sp>
      <p:sp>
        <p:nvSpPr>
          <p:cNvPr id="15" name="qa4"/>
          <p:cNvSpPr/>
          <p:nvPr/>
        </p:nvSpPr>
        <p:spPr>
          <a:xfrm>
            <a:off x="548640" y="4480560"/>
            <a:ext cx="11109960" cy="713232"/>
          </a:xfrm>
          <a:prstGeom prst="roundRect">
            <a:avLst>
              <a:gd name="adj" fmla="val 12821"/>
            </a:avLst>
          </a:prstGeom>
          <a:solidFill>
            <a:srgbClr val="EEF3F7"/>
          </a:solidFill>
          <a:ln w="9525">
            <a:solidFill>
              <a:srgbClr val="D5DEE6"/>
            </a:solidFill>
            <a:prstDash val="solid"/>
          </a:ln>
        </p:spPr>
      </p:sp>
      <p:sp>
        <p:nvSpPr>
          <p:cNvPr id="16" name="Text 14"/>
          <p:cNvSpPr txBox="1"/>
          <p:nvPr/>
        </p:nvSpPr>
        <p:spPr>
          <a:xfrm>
            <a:off x="731520" y="4480560"/>
            <a:ext cx="4023360" cy="713232"/>
          </a:xfrm>
          <a:prstGeom prst="rect">
            <a:avLst/>
          </a:prstGeom>
          <a:noFill/>
          <a:ln/>
        </p:spPr>
        <p:txBody>
          <a:bodyPr wrap="square" lIns="0" tIns="0" rIns="0" bIns="0" rtlCol="0" anchor="ctr"/>
          <a:lstStyle/>
          <a:p>
            <a:pPr indent="0" marL="0">
              <a:buNone/>
            </a:pPr>
            <a:r>
              <a:rPr lang="en-US" sz="1500" b="1" dirty="0">
                <a:solidFill>
                  <a:srgbClr val="1B2A41"/>
                </a:solidFill>
              </a:rPr>
              <a:t>Why F1 and recall, not accuracy?</a:t>
            </a:r>
            <a:endParaRPr lang="en-US" sz="1500" dirty="0"/>
          </a:p>
        </p:txBody>
      </p:sp>
      <p:sp>
        <p:nvSpPr>
          <p:cNvPr id="17" name="Text 15"/>
          <p:cNvSpPr txBox="1"/>
          <p:nvPr/>
        </p:nvSpPr>
        <p:spPr>
          <a:xfrm>
            <a:off x="4846320" y="4480560"/>
            <a:ext cx="6675120" cy="713232"/>
          </a:xfrm>
          <a:prstGeom prst="rect">
            <a:avLst/>
          </a:prstGeom>
          <a:noFill/>
          <a:ln/>
        </p:spPr>
        <p:txBody>
          <a:bodyPr wrap="square" lIns="0" tIns="0" rIns="0" bIns="0" rtlCol="0" anchor="ctr"/>
          <a:lstStyle/>
          <a:p>
            <a:pPr indent="0" marL="0">
              <a:buNone/>
            </a:pPr>
            <a:r>
              <a:rPr lang="en-US" sz="1400" dirty="0">
                <a:solidFill>
                  <a:srgbClr val="1B2A41"/>
                </a:solidFill>
              </a:rPr>
              <a:t>Classes are imbalanced and a wrong approval is costly (Fawcett, Hand &amp; Henley).</a:t>
            </a:r>
            <a:endParaRPr lang="en-US" sz="1400" dirty="0"/>
          </a:p>
        </p:txBody>
      </p:sp>
      <p:sp>
        <p:nvSpPr>
          <p:cNvPr id="18" name="qa5"/>
          <p:cNvSpPr/>
          <p:nvPr/>
        </p:nvSpPr>
        <p:spPr>
          <a:xfrm>
            <a:off x="548640" y="5303520"/>
            <a:ext cx="11109960" cy="713232"/>
          </a:xfrm>
          <a:prstGeom prst="roundRect">
            <a:avLst>
              <a:gd name="adj" fmla="val 12821"/>
            </a:avLst>
          </a:prstGeom>
          <a:solidFill>
            <a:srgbClr val="FFFFFF"/>
          </a:solidFill>
          <a:ln w="9525">
            <a:solidFill>
              <a:srgbClr val="D5DEE6"/>
            </a:solidFill>
            <a:prstDash val="solid"/>
          </a:ln>
        </p:spPr>
      </p:sp>
      <p:sp>
        <p:nvSpPr>
          <p:cNvPr id="19" name="Text 17"/>
          <p:cNvSpPr txBox="1"/>
          <p:nvPr/>
        </p:nvSpPr>
        <p:spPr>
          <a:xfrm>
            <a:off x="731520" y="5303520"/>
            <a:ext cx="4023360" cy="713232"/>
          </a:xfrm>
          <a:prstGeom prst="rect">
            <a:avLst/>
          </a:prstGeom>
          <a:noFill/>
          <a:ln/>
        </p:spPr>
        <p:txBody>
          <a:bodyPr wrap="square" lIns="0" tIns="0" rIns="0" bIns="0" rtlCol="0" anchor="ctr"/>
          <a:lstStyle/>
          <a:p>
            <a:pPr indent="0" marL="0">
              <a:buNone/>
            </a:pPr>
            <a:r>
              <a:rPr lang="en-US" sz="1500" b="1" dirty="0">
                <a:solidFill>
                  <a:srgbClr val="1B2A41"/>
                </a:solidFill>
              </a:rPr>
              <a:t>Why a hybrid rule layer?</a:t>
            </a:r>
            <a:endParaRPr lang="en-US" sz="1500" dirty="0"/>
          </a:p>
        </p:txBody>
      </p:sp>
      <p:sp>
        <p:nvSpPr>
          <p:cNvPr id="20" name="Text 18"/>
          <p:cNvSpPr txBox="1"/>
          <p:nvPr/>
        </p:nvSpPr>
        <p:spPr>
          <a:xfrm>
            <a:off x="4846320" y="5303520"/>
            <a:ext cx="6675120" cy="713232"/>
          </a:xfrm>
          <a:prstGeom prst="rect">
            <a:avLst/>
          </a:prstGeom>
          <a:noFill/>
          <a:ln/>
        </p:spPr>
        <p:txBody>
          <a:bodyPr wrap="square" lIns="0" tIns="0" rIns="0" bIns="0" rtlCol="0" anchor="ctr"/>
          <a:lstStyle/>
          <a:p>
            <a:pPr indent="0" marL="0">
              <a:buNone/>
            </a:pPr>
            <a:r>
              <a:rPr lang="en-US" sz="1400" dirty="0">
                <a:solidFill>
                  <a:srgbClr val="1B2A41"/>
                </a:solidFill>
              </a:rPr>
              <a:t>Credit-history and DTI/FOIR limits mirror real lending policy that a model alone could miss.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References</a:t>
            </a:r>
            <a:endParaRPr lang="en-US" sz="3400" dirty="0"/>
          </a:p>
        </p:txBody>
      </p:sp>
      <p:sp>
        <p:nvSpPr>
          <p:cNvPr id="3" name="Text 1"/>
          <p:cNvSpPr txBox="1"/>
          <p:nvPr/>
        </p:nvSpPr>
        <p:spPr>
          <a:xfrm>
            <a:off x="548640" y="1097280"/>
            <a:ext cx="11064240" cy="5120640"/>
          </a:xfrm>
          <a:prstGeom prst="rect">
            <a:avLst/>
          </a:prstGeom>
          <a:noFill/>
          <a:ln/>
        </p:spPr>
        <p:txBody>
          <a:bodyPr wrap="square" lIns="0" tIns="0" rIns="0" bIns="0" rtlCol="0" anchor="t"/>
          <a:lstStyle/>
          <a:p>
            <a:pPr indent="0" marL="0">
              <a:spcAft>
                <a:spcPts val="400"/>
              </a:spcAft>
              <a:buNone/>
            </a:pPr>
            <a:r>
              <a:rPr lang="en-US" sz="1400" dirty="0">
                <a:solidFill>
                  <a:srgbClr val="E5ECF3"/>
                </a:solidFill>
              </a:rPr>
              <a:t>[1] L. Breiman, “Random Forests,” Machine Learning, vol. 45, no. 1, pp. 5–32, 2001.</a:t>
            </a:r>
            <a:endParaRPr lang="en-US" sz="1400" dirty="0"/>
          </a:p>
          <a:p>
            <a:pPr indent="0" marL="0">
              <a:spcAft>
                <a:spcPts val="400"/>
              </a:spcAft>
              <a:buNone/>
            </a:pPr>
            <a:r>
              <a:rPr lang="en-US" sz="1400" dirty="0">
                <a:solidFill>
                  <a:srgbClr val="E5ECF3"/>
                </a:solidFill>
              </a:rPr>
              <a:t>[2] F. Pedregosa et al., “Scikit-learn: Machine Learning in Python,” JMLR, vol. 12, pp. 2825–2830, 2011.</a:t>
            </a:r>
            <a:endParaRPr lang="en-US" sz="1400" dirty="0"/>
          </a:p>
          <a:p>
            <a:pPr indent="0" marL="0">
              <a:spcAft>
                <a:spcPts val="400"/>
              </a:spcAft>
              <a:buNone/>
            </a:pPr>
            <a:r>
              <a:rPr lang="en-US" sz="1400" dirty="0">
                <a:solidFill>
                  <a:srgbClr val="E5ECF3"/>
                </a:solidFill>
              </a:rPr>
              <a:t>[3] D. J. Hand and W. E. Henley, “Statistical Classification Methods in Consumer Credit Scoring: A Review,” J. Royal Statistical Society A, vol. 160, no. 3, pp. 523–541, 1997.</a:t>
            </a:r>
            <a:endParaRPr lang="en-US" sz="1400" dirty="0"/>
          </a:p>
          <a:p>
            <a:pPr indent="0" marL="0">
              <a:spcAft>
                <a:spcPts val="400"/>
              </a:spcAft>
              <a:buNone/>
            </a:pPr>
            <a:r>
              <a:rPr lang="en-US" sz="1400" dirty="0">
                <a:solidFill>
                  <a:srgbClr val="E5ECF3"/>
                </a:solidFill>
              </a:rPr>
              <a:t>[4] A. E. Khandani, A. J. Kim and A. W. Lo, “Consumer Credit-Risk Models via Machine-Learning Algorithms,” J. Banking &amp; Finance, vol. 34, no. 11, pp. 2767–2787, 2010.</a:t>
            </a:r>
            <a:endParaRPr lang="en-US" sz="1400" dirty="0"/>
          </a:p>
          <a:p>
            <a:pPr indent="0" marL="0">
              <a:spcAft>
                <a:spcPts val="400"/>
              </a:spcAft>
              <a:buNone/>
            </a:pPr>
            <a:r>
              <a:rPr lang="en-US" sz="1400" dirty="0">
                <a:solidFill>
                  <a:srgbClr val="E5ECF3"/>
                </a:solidFill>
              </a:rPr>
              <a:t>[5] S. Lessmann, B. Baesens, H.-V. Seow and L. C. Thomas, “Benchmarking State-of-the-Art Classification Algorithms for Credit Scoring,” European J. Operational Research, vol. 247, no. 1, pp. 124–136, 2015.</a:t>
            </a:r>
            <a:endParaRPr lang="en-US" sz="1400" dirty="0"/>
          </a:p>
          <a:p>
            <a:pPr indent="0" marL="0">
              <a:spcAft>
                <a:spcPts val="400"/>
              </a:spcAft>
              <a:buNone/>
            </a:pPr>
            <a:r>
              <a:rPr lang="en-US" sz="1400" dirty="0">
                <a:solidFill>
                  <a:srgbClr val="E5ECF3"/>
                </a:solidFill>
              </a:rPr>
              <a:t>[6] T. Chen and C. Guestrin, “XGBoost: A Scalable Tree Boosting System,” Proc. ACM KDD, pp. 785–794, 2016.</a:t>
            </a:r>
            <a:endParaRPr lang="en-US" sz="1400" dirty="0"/>
          </a:p>
          <a:p>
            <a:pPr indent="0" marL="0">
              <a:spcAft>
                <a:spcPts val="400"/>
              </a:spcAft>
              <a:buNone/>
            </a:pPr>
            <a:r>
              <a:rPr lang="en-US" sz="1400" dirty="0">
                <a:solidFill>
                  <a:srgbClr val="E5ECF3"/>
                </a:solidFill>
              </a:rPr>
              <a:t>[7] N. V. Chawla et al., “SMOTE: Synthetic Minority Over-sampling Technique,” JAIR, vol. 16, pp. 321–357, 2002.</a:t>
            </a:r>
            <a:endParaRPr lang="en-US" sz="1400" dirty="0"/>
          </a:p>
          <a:p>
            <a:pPr indent="0" marL="0">
              <a:spcAft>
                <a:spcPts val="400"/>
              </a:spcAft>
              <a:buNone/>
            </a:pPr>
            <a:r>
              <a:rPr lang="en-US" sz="1400" dirty="0">
                <a:solidFill>
                  <a:srgbClr val="E5ECF3"/>
                </a:solidFill>
              </a:rPr>
              <a:t>[8] T. Fawcett, “An Introduction to ROC Analysis,” Pattern Recognition Letters, vol. 27, no. 8, pp. 861–874, 2006.</a:t>
            </a:r>
            <a:endParaRPr lang="en-US" sz="1400" dirty="0"/>
          </a:p>
          <a:p>
            <a:pPr indent="0" marL="0">
              <a:spcAft>
                <a:spcPts val="400"/>
              </a:spcAft>
              <a:buNone/>
            </a:pPr>
            <a:r>
              <a:rPr lang="en-US" sz="1400" dirty="0">
                <a:solidFill>
                  <a:srgbClr val="E5ECF3"/>
                </a:solidFill>
              </a:rPr>
              <a:t>[9] L. C. Thomas, “A Survey of Credit and Behavioural Scoring,” Int. J. Forecasting, vol. 16, no. 2, pp. 149–172, 2000.</a:t>
            </a:r>
            <a:endParaRPr lang="en-US" sz="1400" dirty="0"/>
          </a:p>
          <a:p>
            <a:pPr indent="0" marL="0">
              <a:spcAft>
                <a:spcPts val="400"/>
              </a:spcAft>
              <a:buNone/>
            </a:pPr>
            <a:r>
              <a:rPr lang="en-US" sz="1400" dirty="0">
                <a:solidFill>
                  <a:srgbClr val="E5ECF3"/>
                </a:solidFill>
              </a:rPr>
              <a:t>[10] T. Hastie, R. Tibshirani and J. Friedman, “The Elements of Statistical Learning,” Springer, 2nd ed., 2009.</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B"/>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Paper Briefing">
  <a:themeElements>
    <a:clrScheme name="Paper Briefing">
      <a:dk1>
        <a:srgbClr val="1B2A41"/>
      </a:dk1>
      <a:lt1>
        <a:srgbClr val="FFFFFF"/>
      </a:lt1>
      <a:dk2>
        <a:srgbClr val="324A5F"/>
      </a:dk2>
      <a:lt2>
        <a:srgbClr val="EEF3F7"/>
      </a:lt2>
      <a:accent1>
        <a:srgbClr val="2A9D8F"/>
      </a:accent1>
      <a:accent2>
        <a:srgbClr val="E4572E"/>
      </a:accent2>
      <a:accent3>
        <a:srgbClr val="F2B134"/>
      </a:accent3>
      <a:accent4>
        <a:srgbClr val="4F6D8F"/>
      </a:accent4>
      <a:accent5>
        <a:srgbClr val="7FB7BE"/>
      </a:accent5>
      <a:accent6>
        <a:srgbClr val="8D99AE"/>
      </a:accent6>
      <a:hlink>
        <a:srgbClr val="2A9D8F"/>
      </a:hlink>
      <a:folHlink>
        <a:srgbClr val="4F6D8F"/>
      </a:folHlink>
    </a:clrScheme>
    <a:fontScheme name="Paper Brief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Papers Briefing - Loan Processing and Risk Assessment</dc:title>
  <dc:subject>PptxGenJS Presentation</dc:subject>
  <dc:creator>PptxGenJS</dc:creator>
  <cp:lastModifiedBy>PptxGenJS</cp:lastModifiedBy>
  <cp:revision>1</cp:revision>
  <dcterms:created xsi:type="dcterms:W3CDTF">2026-10-11T18:21:54Z</dcterms:created>
  <dcterms:modified xsi:type="dcterms:W3CDTF">2026-10-11T18:21:54Z</dcterms:modified>
</cp:coreProperties>
</file>